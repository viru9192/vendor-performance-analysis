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67"/>
    <p:restoredTop sz="96018"/>
  </p:normalViewPr>
  <p:slideViewPr>
    <p:cSldViewPr snapToGrid="0" snapToObjects="1">
      <p:cViewPr varScale="1">
        <p:scale>
          <a:sx n="158" d="100"/>
          <a:sy n="158" d="100"/>
        </p:scale>
        <p:origin x="2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FFFFFF"/>
                </a:solidFill>
                <a:latin typeface="Arial"/>
              </a:defRPr>
            </a:pPr>
            <a:r>
              <a:rPr lang="en-US" sz="1200" b="0" i="0" u="none" strike="noStrike">
                <a:solidFill>
                  <a:srgbClr val="FFFFFF"/>
                </a:solidFill>
                <a:latin typeface="Arial"/>
              </a:rPr>
              <a:t>Top 5 Vendors by Sales ($M)</a:t>
            </a:r>
          </a:p>
        </c:rich>
      </c:tx>
      <c:overlay val="0"/>
    </c:title>
    <c:autoTitleDeleted val="0"/>
    <c:plotArea>
      <c:layout/>
      <c:barChart>
        <c:barDir val="col"/>
        <c:grouping val="clustered"/>
        <c:varyColors val="0"/>
        <c:ser>
          <c:idx val="0"/>
          <c:order val="0"/>
          <c:tx>
            <c:strRef>
              <c:f>Sheet1!$B$1</c:f>
              <c:strCache>
                <c:ptCount val="1"/>
                <c:pt idx="0">
                  <c:v>Sales ($M)</c:v>
                </c:pt>
              </c:strCache>
            </c:strRef>
          </c:tx>
          <c:spPr>
            <a:solidFill>
              <a:srgbClr val="4CAF7D"/>
            </a:solidFill>
            <a:effectLst/>
          </c:spPr>
          <c:invertIfNegative val="0"/>
          <c:dPt>
            <c:idx val="0"/>
            <c:invertIfNegative val="0"/>
            <c:bubble3D val="0"/>
            <c:extLst>
              <c:ext xmlns:c16="http://schemas.microsoft.com/office/drawing/2014/chart" uri="{C3380CC4-5D6E-409C-BE32-E72D297353CC}">
                <c16:uniqueId val="{00000001-4170-B44A-BC02-CC47F377E01B}"/>
              </c:ext>
            </c:extLst>
          </c:dPt>
          <c:dPt>
            <c:idx val="1"/>
            <c:invertIfNegative val="0"/>
            <c:bubble3D val="0"/>
            <c:extLst>
              <c:ext xmlns:c16="http://schemas.microsoft.com/office/drawing/2014/chart" uri="{C3380CC4-5D6E-409C-BE32-E72D297353CC}">
                <c16:uniqueId val="{00000003-4170-B44A-BC02-CC47F377E01B}"/>
              </c:ext>
            </c:extLst>
          </c:dPt>
          <c:dPt>
            <c:idx val="2"/>
            <c:invertIfNegative val="0"/>
            <c:bubble3D val="0"/>
            <c:spPr>
              <a:solidFill>
                <a:srgbClr val="3D9B6A"/>
              </a:solidFill>
              <a:effectLst/>
            </c:spPr>
            <c:extLst>
              <c:ext xmlns:c16="http://schemas.microsoft.com/office/drawing/2014/chart" uri="{C3380CC4-5D6E-409C-BE32-E72D297353CC}">
                <c16:uniqueId val="{00000005-4170-B44A-BC02-CC47F377E01B}"/>
              </c:ext>
            </c:extLst>
          </c:dPt>
          <c:dPt>
            <c:idx val="3"/>
            <c:invertIfNegative val="0"/>
            <c:bubble3D val="0"/>
            <c:spPr>
              <a:solidFill>
                <a:srgbClr val="2E7A52"/>
              </a:solidFill>
              <a:effectLst/>
            </c:spPr>
            <c:extLst>
              <c:ext xmlns:c16="http://schemas.microsoft.com/office/drawing/2014/chart" uri="{C3380CC4-5D6E-409C-BE32-E72D297353CC}">
                <c16:uniqueId val="{00000007-4170-B44A-BC02-CC47F377E01B}"/>
              </c:ext>
            </c:extLst>
          </c:dPt>
          <c:dPt>
            <c:idx val="4"/>
            <c:invertIfNegative val="0"/>
            <c:bubble3D val="0"/>
            <c:spPr>
              <a:solidFill>
                <a:srgbClr val="1E5A3A"/>
              </a:solidFill>
              <a:effectLst/>
            </c:spPr>
            <c:extLst>
              <c:ext xmlns:c16="http://schemas.microsoft.com/office/drawing/2014/chart" uri="{C3380CC4-5D6E-409C-BE32-E72D297353CC}">
                <c16:uniqueId val="{00000009-4170-B44A-BC02-CC47F377E01B}"/>
              </c:ext>
            </c:extLst>
          </c:dPt>
          <c:dLbls>
            <c:numFmt formatCode="#,##0" sourceLinked="0"/>
            <c:spPr>
              <a:noFill/>
              <a:ln>
                <a:noFill/>
              </a:ln>
              <a:effectLst/>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Bacardi USA</c:v>
                </c:pt>
                <c:pt idx="1">
                  <c:v>Jim Beam</c:v>
                </c:pt>
                <c:pt idx="2">
                  <c:v>Pernod Ricard</c:v>
                </c:pt>
                <c:pt idx="3">
                  <c:v>Martignetti</c:v>
                </c:pt>
                <c:pt idx="4">
                  <c:v>Diageo NA</c:v>
                </c:pt>
              </c:strCache>
            </c:strRef>
          </c:cat>
          <c:val>
            <c:numRef>
              <c:f>Sheet1!$B$2:$B$6</c:f>
              <c:numCache>
                <c:formatCode>General</c:formatCode>
                <c:ptCount val="5"/>
                <c:pt idx="0">
                  <c:v>25</c:v>
                </c:pt>
                <c:pt idx="1">
                  <c:v>31</c:v>
                </c:pt>
                <c:pt idx="2">
                  <c:v>32</c:v>
                </c:pt>
                <c:pt idx="3">
                  <c:v>39</c:v>
                </c:pt>
                <c:pt idx="4">
                  <c:v>68</c:v>
                </c:pt>
              </c:numCache>
            </c:numRef>
          </c:val>
          <c:extLst>
            <c:ext xmlns:c16="http://schemas.microsoft.com/office/drawing/2014/chart" uri="{C3380CC4-5D6E-409C-BE32-E72D297353CC}">
              <c16:uniqueId val="{0000000A-4170-B44A-BC02-CC47F377E01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DBFB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E504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DBFB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E3A30"/>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FFFFFF"/>
                </a:solidFill>
                <a:latin typeface="Arial"/>
              </a:defRPr>
            </a:pPr>
            <a:r>
              <a:rPr lang="en-US" sz="1200" b="0" i="0" u="none" strike="noStrike">
                <a:solidFill>
                  <a:srgbClr val="FFFFFF"/>
                </a:solidFill>
                <a:latin typeface="Arial"/>
              </a:rPr>
              <a:t>Purchase Contribution – Top 3</a:t>
            </a:r>
          </a:p>
        </c:rich>
      </c:tx>
      <c:overlay val="0"/>
    </c:title>
    <c:autoTitleDeleted val="0"/>
    <c:plotArea>
      <c:layout/>
      <c:pieChart>
        <c:varyColors val="1"/>
        <c:ser>
          <c:idx val="0"/>
          <c:order val="0"/>
          <c:tx>
            <c:strRef>
              <c:f>Sheet1!$B$1</c:f>
              <c:strCache>
                <c:ptCount val="1"/>
                <c:pt idx="0">
                  <c:v>Purchase %</c:v>
                </c:pt>
              </c:strCache>
            </c:strRef>
          </c:tx>
          <c:spPr>
            <a:solidFill>
              <a:schemeClr val="accent1"/>
            </a:solidFill>
            <a:ln w="9525" cap="flat">
              <a:solidFill>
                <a:srgbClr val="F9F9F9"/>
              </a:solidFill>
              <a:prstDash val="solid"/>
              <a:round/>
            </a:ln>
            <a:effectLst/>
          </c:spPr>
          <c:dPt>
            <c:idx val="0"/>
            <c:bubble3D val="0"/>
            <c:spPr>
              <a:solidFill>
                <a:srgbClr val="4CAF7D"/>
              </a:solidFill>
              <a:effectLst/>
            </c:spPr>
            <c:extLst>
              <c:ext xmlns:c16="http://schemas.microsoft.com/office/drawing/2014/chart" uri="{C3380CC4-5D6E-409C-BE32-E72D297353CC}">
                <c16:uniqueId val="{00000001-2B3A-EF42-A2B9-7B241E10FB67}"/>
              </c:ext>
            </c:extLst>
          </c:dPt>
          <c:dPt>
            <c:idx val="1"/>
            <c:bubble3D val="0"/>
            <c:spPr>
              <a:solidFill>
                <a:srgbClr val="3D9B6A"/>
              </a:solidFill>
              <a:effectLst/>
            </c:spPr>
            <c:extLst>
              <c:ext xmlns:c16="http://schemas.microsoft.com/office/drawing/2014/chart" uri="{C3380CC4-5D6E-409C-BE32-E72D297353CC}">
                <c16:uniqueId val="{00000003-2B3A-EF42-A2B9-7B241E10FB67}"/>
              </c:ext>
            </c:extLst>
          </c:dPt>
          <c:dPt>
            <c:idx val="2"/>
            <c:bubble3D val="0"/>
            <c:spPr>
              <a:solidFill>
                <a:srgbClr val="1E5A3A"/>
              </a:solidFill>
              <a:effectLst/>
            </c:spPr>
            <c:extLst>
              <c:ext xmlns:c16="http://schemas.microsoft.com/office/drawing/2014/chart" uri="{C3380CC4-5D6E-409C-BE32-E72D297353CC}">
                <c16:uniqueId val="{00000005-2B3A-EF42-A2B9-7B241E10FB67}"/>
              </c:ext>
            </c:extLst>
          </c:dPt>
          <c:dPt>
            <c:idx val="3"/>
            <c:bubble3D val="0"/>
            <c:spPr>
              <a:solidFill>
                <a:srgbClr val="2E3B35"/>
              </a:solidFill>
              <a:effectLst/>
            </c:spPr>
            <c:extLst>
              <c:ext xmlns:c16="http://schemas.microsoft.com/office/drawing/2014/chart" uri="{C3380CC4-5D6E-409C-BE32-E72D297353CC}">
                <c16:uniqueId val="{00000007-2B3A-EF42-A2B9-7B241E10FB67}"/>
              </c:ext>
            </c:extLst>
          </c:dPt>
          <c:dLbls>
            <c:dLbl>
              <c:idx val="0"/>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B3A-EF42-A2B9-7B241E10FB67}"/>
                </c:ext>
              </c:extLst>
            </c:dLbl>
            <c:dLbl>
              <c:idx val="1"/>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B3A-EF42-A2B9-7B241E10FB67}"/>
                </c:ext>
              </c:extLst>
            </c:dLbl>
            <c:dLbl>
              <c:idx val="2"/>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2B3A-EF42-A2B9-7B241E10FB67}"/>
                </c:ext>
              </c:extLst>
            </c:dLbl>
            <c:dLbl>
              <c:idx val="3"/>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2B3A-EF42-A2B9-7B241E10FB67}"/>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Diageo NA (24.8%)</c:v>
                </c:pt>
                <c:pt idx="1">
                  <c:v>Martignetti (12.6%)</c:v>
                </c:pt>
                <c:pt idx="2">
                  <c:v>Pernod Ricard (11.8%)</c:v>
                </c:pt>
                <c:pt idx="3">
                  <c:v>Others</c:v>
                </c:pt>
              </c:strCache>
            </c:strRef>
          </c:cat>
          <c:val>
            <c:numRef>
              <c:f>Sheet1!$B$2:$B$5</c:f>
              <c:numCache>
                <c:formatCode>General</c:formatCode>
                <c:ptCount val="4"/>
                <c:pt idx="0">
                  <c:v>24.8</c:v>
                </c:pt>
                <c:pt idx="1">
                  <c:v>12.6</c:v>
                </c:pt>
                <c:pt idx="2">
                  <c:v>11.8</c:v>
                </c:pt>
                <c:pt idx="3">
                  <c:v>50.8</c:v>
                </c:pt>
              </c:numCache>
            </c:numRef>
          </c:val>
          <c:extLst>
            <c:ext xmlns:c16="http://schemas.microsoft.com/office/drawing/2014/chart" uri="{C3380CC4-5D6E-409C-BE32-E72D297353CC}">
              <c16:uniqueId val="{00000008-2B3A-EF42-A2B9-7B241E10FB67}"/>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000">
              <a:solidFill>
                <a:srgbClr val="FFFFFF"/>
              </a:solidFill>
            </a:defRPr>
          </a:pPr>
          <a:endParaRPr lang="en-US"/>
        </a:p>
      </c:txPr>
    </c:legend>
    <c:plotVisOnly val="1"/>
    <c:dispBlanksAs val="span"/>
    <c:showDLblsOverMax val="1"/>
  </c:chart>
  <c:spPr>
    <a:solidFill>
      <a:srgbClr val="1E3A30"/>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4573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Professor, My name is Viranchi More and today I'll walk you through my Vendor Performance Analysis project, a complete, end-to-end business intelligence solution I built from raw transactional data all the way to an interactive Power BI dashboard. I'll then share what I'm currently working on, and where I plan to go next. Let's get into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 here's the structure of the PPT. We'll move through the project problem, data, findings, and the dashboard. then I'll share what I'm actively learning right now, and my plans for the upcoming semester. The main idea to present, what I did, what I'm doing, and what will be the next.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business problem is straightforward: Most of companies are sitting on rich transaction data but don't have the tools to act on it. Without vendor analysis, we will get dead inventory, over-dependence on a few suppliers, and also missed margin opportunities. I structured the project around five concrete business questions and each one maps directly to a decision a manager or CFO would need to make. </a:t>
            </a:r>
          </a:p>
          <a:p>
            <a:endParaRPr lang="en-US" dirty="0"/>
          </a:p>
          <a:p>
            <a:r>
              <a:rPr lang="en-US" dirty="0"/>
              <a:t>About the dataset: I started with 10,692 raw records, and after cleaning invalid entries, worked with 8,564 quality records across 119 vendors.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quick representation of the numbers where I'm showing 8,564 because that's the count after data cleaning, which is the final dataset I actually ran my analysis on. The raw data had 10,692 rows, but removing negative profits, zero-sale records, and undefined margins brought it to 8,564 reliable records. 18 columns includes both original fields and the KPIs I have created, like Stock Turnover and Unsold Inventory Value. And 119 is the exact number of unique vendors in the cleaned dataset.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As this is the real-world data the data wan not clean. The most important task was to identify the cleaning criteria: I removed records with zero sales (inventory that was never sold), negative profit (loss transactions), and undefined margins. That took us from 10,692 to 8,564 rows. </a:t>
            </a:r>
          </a:p>
          <a:p>
            <a:r>
              <a:rPr lang="en-US" dirty="0"/>
              <a:t>Feature engineering was equally important, the KPIs I created don't exist in the raw data, they were derived. For example, Unsold Inventory Value is calculated as: (Purchase Qty minus Sales Qty) multiplied by Purchase Price. </a:t>
            </a:r>
          </a:p>
          <a:p>
            <a:r>
              <a:rPr lang="en-US" dirty="0"/>
              <a:t>The statistical test at the end is what elevates this from a descriptive dashboard to validated analytical findings.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numbers set the stage. We're analyzing nearly half a billion dollars in sales across 119 vendors. The 38.7% gross margin is healthy, but the $2.71M in unsold inventory is a red flag as we can say that's capital locked in slow-moving stock. The bar chart shows the top 5 vendors by sales value, and the pie shows how concentrated purchasing is: just three vendors account for about half of all purchase dollars. That concentration is a supply chain risk we'll see in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headline findings. Each one is directly actionable. The 198 high-margin brands are a growth lever and they're profitable but invisible. </a:t>
            </a:r>
          </a:p>
          <a:p>
            <a:r>
              <a:rPr lang="en-US" dirty="0"/>
              <a:t>The 65.69% vendor concentration is a strategic risk flagged for leadership. </a:t>
            </a:r>
          </a:p>
          <a:p>
            <a:r>
              <a:rPr lang="en-US" dirty="0"/>
              <a:t>The 72% cost reduction from bulk buying is proven from data and not estimated. </a:t>
            </a:r>
          </a:p>
          <a:p>
            <a:r>
              <a:rPr lang="en-US" dirty="0"/>
              <a:t>And the $2.71M in unsold capital is sitting idle when it could be reinvested. </a:t>
            </a:r>
          </a:p>
          <a:p>
            <a:r>
              <a:rPr lang="en-US" dirty="0"/>
              <a:t>I want to emphasize that these aren't just observations and the recommendations section of the report maps each finding to a specific business action.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counter-intuitive findings in the project. We would expect that biggest vendors, i.e. the ones generating the most revenue to also be the most profitable. But the data says otherwise. Low-volume vendors average 41.57% margin versus 31.18% for top vendors i.e. a gap of over 10 percentage points. This is statistically confirmed with a T-statistic of -17.67 and p-value essentially zero. The 95% confidence intervals don't overlap at all, meaning this difference is real, not noise. The implication for business strategy is clear: there's an opportunity to selectively grow low-volume, high-margin vendors with targeted investment.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the deliverable that a business user would actually see this. I designed it with a manager in mind, someone who needs answers fast without writing a single line of code. At the top you get a snapshot of the six most important KPIs. Below that, the vendor contribution donut chart immediately surfaces concentration risk. The bar charts rank vendors and brands by sales. And the scatter plot in the bottom right maps profit margin against total sales, low-margin, high-volume clusters stand out instantly. Every element is interactive: we can filter by vendor, brand, or category.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'so what?' question. Every finding maps to a real business outcome. Better vendor selection saves procurement cost. Unlocking the $2.71M in unsold inventory frees working capital that can be reinvested. The 72% cost reduction is a validated argument for renegotiating purchase contracts. And addressing the vendor concentration risk protects the business against supply chain risks. </a:t>
            </a:r>
          </a:p>
          <a:p>
            <a:endParaRPr lang="en-US" dirty="0"/>
          </a:p>
          <a:p>
            <a:r>
              <a:rPr lang="en-US" dirty="0"/>
              <a:t>This is the difference between a data project that sits in a report and one that changes how a company operates.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transparent about what was hard. The data quality issues took more time than any single analysis step, every cleaning decision is a judgment call that affects results downstream. The large dataset pushed me to write better code and vectorized operations instead of row-by-row loops. </a:t>
            </a:r>
          </a:p>
          <a:p>
            <a:r>
              <a:rPr lang="en-US" dirty="0"/>
              <a:t>But the most lasting learning was the third one: the gap between producing a correct statistical result and communicating it in a way that drives a business decision. That's a skill I'm actively developing through this project and through the DataCamp track.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finishing the vendor analysis project, I've been investing in two parallel learning tracks. The DataCamp Associate Data Scientist program builds exactly the skills I saw gaps in during this project and learning, particularly predictive modeling and ML pipelines. I'm currently completed module three. </a:t>
            </a:r>
          </a:p>
          <a:p>
            <a:r>
              <a:rPr lang="en-US" dirty="0"/>
              <a:t>Also the Deloitte Forage simulation was valuable for a different reason: it put me in a real consulting scenario with real business constraints and a real deliverable. Both will be feeding directly into my next set of projects.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roadmap is deliberate. In the near term I want to extend this project with a machine learning layer, turning the descriptive vendor analysis into a predictive one, forecasting which products are at risk of becoming slow-moving inventory before it happens. By mid-year I want a valuable projects for my personal portfolio that shows both breadth and depth. </a:t>
            </a:r>
          </a:p>
          <a:p>
            <a:r>
              <a:rPr lang="en-US" dirty="0"/>
              <a:t>My career target is Data Analyst or Data Scientist roles, with a preference for organizations where I can make the impact with data which directly drives business decisions, not just reporting.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this project started with a real business problem and ends with a fully deployed BI solution backed by statistical validation and clear recommendations. I'm proud of what I built, and equally excited about what comes next. Thank you for your </a:t>
            </a:r>
            <a:r>
              <a:rPr lang="en-US"/>
              <a:t>time — </a:t>
            </a:r>
            <a:r>
              <a:rPr lang="en-US" dirty="0"/>
              <a:t>I'm happy to take any questions on the methodology, the findings, or anything I've shared today.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26"/>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5A43"/>
          </a:solidFill>
          <a:ln/>
        </p:spPr>
        <p:txBody>
          <a:bodyPr/>
          <a:lstStyle/>
          <a:p>
            <a:endParaRPr lang="en-US"/>
          </a:p>
        </p:txBody>
      </p:sp>
      <p:sp>
        <p:nvSpPr>
          <p:cNvPr id="3" name="Shape 1"/>
          <p:cNvSpPr/>
          <p:nvPr/>
        </p:nvSpPr>
        <p:spPr>
          <a:xfrm>
            <a:off x="6766560" y="-1097280"/>
            <a:ext cx="4114800" cy="4114800"/>
          </a:xfrm>
          <a:prstGeom prst="ellipse">
            <a:avLst/>
          </a:prstGeom>
          <a:solidFill>
            <a:srgbClr val="0D7A5F">
              <a:alpha val="40000"/>
            </a:srgbClr>
          </a:solidFill>
          <a:ln w="12700">
            <a:solidFill>
              <a:srgbClr val="0D7A5F">
                <a:alpha val="40000"/>
              </a:srgbClr>
            </a:solidFill>
            <a:prstDash val="solid"/>
          </a:ln>
        </p:spPr>
        <p:txBody>
          <a:bodyPr/>
          <a:lstStyle/>
          <a:p>
            <a:endParaRPr lang="en-US"/>
          </a:p>
        </p:txBody>
      </p:sp>
      <p:sp>
        <p:nvSpPr>
          <p:cNvPr id="4" name="Shape 2"/>
          <p:cNvSpPr/>
          <p:nvPr/>
        </p:nvSpPr>
        <p:spPr>
          <a:xfrm>
            <a:off x="7498080" y="1645920"/>
            <a:ext cx="2926080" cy="2926080"/>
          </a:xfrm>
          <a:prstGeom prst="ellipse">
            <a:avLst/>
          </a:prstGeom>
          <a:solidFill>
            <a:srgbClr val="0D7A5F">
              <a:alpha val="50000"/>
            </a:srgbClr>
          </a:solidFill>
          <a:ln w="12700">
            <a:solidFill>
              <a:srgbClr val="0D7A5F">
                <a:alpha val="50000"/>
              </a:srgbClr>
            </a:solidFill>
            <a:prstDash val="solid"/>
          </a:ln>
        </p:spPr>
        <p:txBody>
          <a:bodyPr/>
          <a:lstStyle/>
          <a:p>
            <a:endParaRPr lang="en-US"/>
          </a:p>
        </p:txBody>
      </p:sp>
      <p:sp>
        <p:nvSpPr>
          <p:cNvPr id="5" name="Text 3"/>
          <p:cNvSpPr/>
          <p:nvPr/>
        </p:nvSpPr>
        <p:spPr>
          <a:xfrm>
            <a:off x="411480" y="228600"/>
            <a:ext cx="7772400" cy="320040"/>
          </a:xfrm>
          <a:prstGeom prst="rect">
            <a:avLst/>
          </a:prstGeom>
          <a:noFill/>
          <a:ln/>
        </p:spPr>
        <p:txBody>
          <a:bodyPr wrap="square" lIns="0" tIns="0" rIns="0" bIns="0" rtlCol="0" anchor="ctr"/>
          <a:lstStyle/>
          <a:p>
            <a:pPr marL="0" indent="0" algn="l">
              <a:buNone/>
            </a:pPr>
            <a:r>
              <a:rPr lang="en-US" sz="900" b="1" kern="0" spc="200" dirty="0">
                <a:solidFill>
                  <a:srgbClr val="9DBFB5"/>
                </a:solidFill>
              </a:rPr>
              <a:t>BINGHAMTON UNIVERSITY  |  DEPARTMENT OF INFORMATION SYSTEMS</a:t>
            </a:r>
            <a:endParaRPr lang="en-US" sz="900" dirty="0"/>
          </a:p>
        </p:txBody>
      </p:sp>
      <p:sp>
        <p:nvSpPr>
          <p:cNvPr id="6" name="Text 4"/>
          <p:cNvSpPr/>
          <p:nvPr/>
        </p:nvSpPr>
        <p:spPr>
          <a:xfrm>
            <a:off x="411480" y="640080"/>
            <a:ext cx="6583680" cy="2011680"/>
          </a:xfrm>
          <a:prstGeom prst="rect">
            <a:avLst/>
          </a:prstGeom>
          <a:noFill/>
          <a:ln/>
        </p:spPr>
        <p:txBody>
          <a:bodyPr wrap="square" lIns="0" tIns="0" rIns="0" bIns="0" rtlCol="0" anchor="ctr"/>
          <a:lstStyle/>
          <a:p>
            <a:pPr marL="0" indent="0" algn="l">
              <a:lnSpc>
                <a:spcPct val="110000"/>
              </a:lnSpc>
              <a:buNone/>
            </a:pPr>
            <a:r>
              <a:rPr lang="en-US" sz="4400" b="1" dirty="0">
                <a:solidFill>
                  <a:srgbClr val="FFFFFF"/>
                </a:solidFill>
              </a:rPr>
              <a:t>Vendor Performance</a:t>
            </a:r>
            <a:endParaRPr lang="en-US" sz="4400" dirty="0"/>
          </a:p>
          <a:p>
            <a:pPr marL="0" indent="0" algn="l">
              <a:lnSpc>
                <a:spcPct val="110000"/>
              </a:lnSpc>
              <a:buNone/>
            </a:pPr>
            <a:r>
              <a:rPr lang="en-US" sz="4400" b="1" dirty="0">
                <a:solidFill>
                  <a:srgbClr val="FFFFFF"/>
                </a:solidFill>
              </a:rPr>
              <a:t>Analysis</a:t>
            </a:r>
            <a:endParaRPr lang="en-US" sz="4400" dirty="0"/>
          </a:p>
        </p:txBody>
      </p:sp>
      <p:sp>
        <p:nvSpPr>
          <p:cNvPr id="7" name="Text 5"/>
          <p:cNvSpPr/>
          <p:nvPr/>
        </p:nvSpPr>
        <p:spPr>
          <a:xfrm>
            <a:off x="411480" y="2606040"/>
            <a:ext cx="6400800" cy="365760"/>
          </a:xfrm>
          <a:prstGeom prst="rect">
            <a:avLst/>
          </a:prstGeom>
          <a:noFill/>
          <a:ln/>
        </p:spPr>
        <p:txBody>
          <a:bodyPr wrap="square" lIns="0" tIns="0" rIns="0" bIns="0" rtlCol="0" anchor="ctr"/>
          <a:lstStyle/>
          <a:p>
            <a:pPr marL="0" indent="0" algn="l">
              <a:buNone/>
            </a:pPr>
            <a:r>
              <a:rPr lang="en-US" sz="1500" i="1" dirty="0">
                <a:solidFill>
                  <a:srgbClr val="4CAF7D"/>
                </a:solidFill>
              </a:rPr>
              <a:t>An End-to-End Business Intelligence Project</a:t>
            </a:r>
            <a:endParaRPr lang="en-US" sz="1500" dirty="0"/>
          </a:p>
        </p:txBody>
      </p:sp>
      <p:sp>
        <p:nvSpPr>
          <p:cNvPr id="8" name="Shape 6"/>
          <p:cNvSpPr/>
          <p:nvPr/>
        </p:nvSpPr>
        <p:spPr>
          <a:xfrm>
            <a:off x="411480" y="3063240"/>
            <a:ext cx="3200400" cy="45720"/>
          </a:xfrm>
          <a:prstGeom prst="rect">
            <a:avLst/>
          </a:prstGeom>
          <a:solidFill>
            <a:srgbClr val="C9A84C"/>
          </a:solidFill>
          <a:ln/>
        </p:spPr>
        <p:txBody>
          <a:bodyPr/>
          <a:lstStyle/>
          <a:p>
            <a:endParaRPr lang="en-US"/>
          </a:p>
        </p:txBody>
      </p:sp>
      <p:sp>
        <p:nvSpPr>
          <p:cNvPr id="9" name="Text 7"/>
          <p:cNvSpPr/>
          <p:nvPr/>
        </p:nvSpPr>
        <p:spPr>
          <a:xfrm>
            <a:off x="411480" y="3246120"/>
            <a:ext cx="6400800" cy="347472"/>
          </a:xfrm>
          <a:prstGeom prst="rect">
            <a:avLst/>
          </a:prstGeom>
          <a:noFill/>
          <a:ln/>
        </p:spPr>
        <p:txBody>
          <a:bodyPr wrap="square" lIns="0" tIns="0" rIns="0" bIns="0" rtlCol="0" anchor="ctr"/>
          <a:lstStyle/>
          <a:p>
            <a:pPr marL="0" indent="0" algn="l">
              <a:buNone/>
            </a:pPr>
            <a:r>
              <a:rPr lang="en-US" sz="1500" b="1" dirty="0">
                <a:solidFill>
                  <a:srgbClr val="FFFFFF"/>
                </a:solidFill>
              </a:rPr>
              <a:t>Viranchi Ravindra More</a:t>
            </a:r>
            <a:endParaRPr lang="en-US" sz="1500" dirty="0"/>
          </a:p>
        </p:txBody>
      </p:sp>
      <p:sp>
        <p:nvSpPr>
          <p:cNvPr id="10" name="Text 8"/>
          <p:cNvSpPr/>
          <p:nvPr/>
        </p:nvSpPr>
        <p:spPr>
          <a:xfrm>
            <a:off x="411480" y="3611880"/>
            <a:ext cx="6400800" cy="274320"/>
          </a:xfrm>
          <a:prstGeom prst="rect">
            <a:avLst/>
          </a:prstGeom>
          <a:noFill/>
          <a:ln/>
        </p:spPr>
        <p:txBody>
          <a:bodyPr wrap="square" lIns="0" tIns="0" rIns="0" bIns="0" rtlCol="0" anchor="ctr"/>
          <a:lstStyle/>
          <a:p>
            <a:pPr marL="0" indent="0" algn="l">
              <a:buNone/>
            </a:pPr>
            <a:r>
              <a:rPr lang="en-US" sz="1200" dirty="0">
                <a:solidFill>
                  <a:srgbClr val="C8D5D0"/>
                </a:solidFill>
              </a:rPr>
              <a:t>Master's in Information Systems  |  Binghamton University  |  Spring 2026</a:t>
            </a:r>
            <a:endParaRPr lang="en-US" sz="1200" dirty="0"/>
          </a:p>
        </p:txBody>
      </p:sp>
      <p:sp>
        <p:nvSpPr>
          <p:cNvPr id="11" name="Text 9"/>
          <p:cNvSpPr/>
          <p:nvPr/>
        </p:nvSpPr>
        <p:spPr>
          <a:xfrm>
            <a:off x="411480" y="3977640"/>
            <a:ext cx="6400800" cy="274320"/>
          </a:xfrm>
          <a:prstGeom prst="rect">
            <a:avLst/>
          </a:prstGeom>
          <a:noFill/>
          <a:ln/>
        </p:spPr>
        <p:txBody>
          <a:bodyPr wrap="square" lIns="0" tIns="0" rIns="0" bIns="0" rtlCol="0" anchor="ctr"/>
          <a:lstStyle/>
          <a:p>
            <a:pPr marL="0" indent="0" algn="l">
              <a:buNone/>
            </a:pPr>
            <a:r>
              <a:rPr lang="en-US" sz="1100" dirty="0">
                <a:solidFill>
                  <a:srgbClr val="4CAF7D"/>
                </a:solidFill>
              </a:rPr>
              <a:t>github.com/viru9192/Vendor-Performance-Analysis</a:t>
            </a:r>
            <a:endParaRPr lang="en-US" sz="1100" dirty="0"/>
          </a:p>
        </p:txBody>
      </p:sp>
      <p:sp>
        <p:nvSpPr>
          <p:cNvPr id="12" name="Shape 10"/>
          <p:cNvSpPr/>
          <p:nvPr/>
        </p:nvSpPr>
        <p:spPr>
          <a:xfrm>
            <a:off x="411480" y="4480560"/>
            <a:ext cx="2377440" cy="457200"/>
          </a:xfrm>
          <a:prstGeom prst="roundRect">
            <a:avLst>
              <a:gd name="adj" fmla="val 16000"/>
            </a:avLst>
          </a:prstGeom>
          <a:solidFill>
            <a:srgbClr val="005A43"/>
          </a:solidFill>
          <a:ln/>
        </p:spPr>
        <p:txBody>
          <a:bodyPr/>
          <a:lstStyle/>
          <a:p>
            <a:endParaRPr lang="en-US"/>
          </a:p>
        </p:txBody>
      </p:sp>
      <p:sp>
        <p:nvSpPr>
          <p:cNvPr id="13" name="Text 11"/>
          <p:cNvSpPr/>
          <p:nvPr/>
        </p:nvSpPr>
        <p:spPr>
          <a:xfrm>
            <a:off x="411480" y="4480560"/>
            <a:ext cx="2377440" cy="457200"/>
          </a:xfrm>
          <a:prstGeom prst="rect">
            <a:avLst/>
          </a:prstGeom>
          <a:noFill/>
          <a:ln/>
        </p:spPr>
        <p:txBody>
          <a:bodyPr wrap="square" lIns="0" tIns="0" rIns="0" bIns="0" rtlCol="0" anchor="ctr"/>
          <a:lstStyle/>
          <a:p>
            <a:pPr marL="0" indent="0" algn="ctr">
              <a:buNone/>
            </a:pPr>
            <a:r>
              <a:rPr lang="en-US" sz="1000" b="1" dirty="0">
                <a:solidFill>
                  <a:srgbClr val="FFFFFF"/>
                </a:solidFill>
              </a:rPr>
              <a:t>Project Progress Review</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5A43"/>
          </a:solidFill>
          <a:ln/>
        </p:spPr>
        <p:txBody>
          <a:bodyPr/>
          <a:lstStyle/>
          <a:p>
            <a:endParaRPr lang="en-US"/>
          </a:p>
        </p:txBody>
      </p:sp>
      <p:sp>
        <p:nvSpPr>
          <p:cNvPr id="3" name="Text 1"/>
          <p:cNvSpPr/>
          <p:nvPr/>
        </p:nvSpPr>
        <p:spPr>
          <a:xfrm>
            <a:off x="411480" y="0"/>
            <a:ext cx="6858000" cy="749808"/>
          </a:xfrm>
          <a:prstGeom prst="rect">
            <a:avLst/>
          </a:prstGeom>
          <a:noFill/>
          <a:ln/>
        </p:spPr>
        <p:txBody>
          <a:bodyPr wrap="square" lIns="0" tIns="0" rIns="0" bIns="0" rtlCol="0" anchor="ctr"/>
          <a:lstStyle/>
          <a:p>
            <a:pPr marL="0" indent="0" algn="l">
              <a:buNone/>
            </a:pPr>
            <a:r>
              <a:rPr lang="en-US" sz="2500" b="1" dirty="0">
                <a:solidFill>
                  <a:srgbClr val="FFFFFF"/>
                </a:solidFill>
              </a:rPr>
              <a:t>Today's Roadmap</a:t>
            </a:r>
            <a:endParaRPr lang="en-US" sz="2500" dirty="0"/>
          </a:p>
        </p:txBody>
      </p:sp>
      <p:sp>
        <p:nvSpPr>
          <p:cNvPr id="4" name="Shape 2"/>
          <p:cNvSpPr/>
          <p:nvPr/>
        </p:nvSpPr>
        <p:spPr>
          <a:xfrm>
            <a:off x="411480" y="1051560"/>
            <a:ext cx="502920" cy="502920"/>
          </a:xfrm>
          <a:prstGeom prst="ellipse">
            <a:avLst/>
          </a:prstGeom>
          <a:solidFill>
            <a:srgbClr val="005A43"/>
          </a:solidFill>
          <a:ln/>
        </p:spPr>
        <p:txBody>
          <a:bodyPr/>
          <a:lstStyle/>
          <a:p>
            <a:endParaRPr lang="en-US"/>
          </a:p>
        </p:txBody>
      </p:sp>
      <p:sp>
        <p:nvSpPr>
          <p:cNvPr id="5" name="Text 3"/>
          <p:cNvSpPr/>
          <p:nvPr/>
        </p:nvSpPr>
        <p:spPr>
          <a:xfrm>
            <a:off x="411480" y="105156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pic>
        <p:nvPicPr>
          <p:cNvPr id="6" name="Image 0" descr="preencoded.png"/>
          <p:cNvPicPr>
            <a:picLocks noChangeAspect="1"/>
          </p:cNvPicPr>
          <p:nvPr/>
        </p:nvPicPr>
        <p:blipFill>
          <a:blip r:embed="rId3"/>
          <a:stretch>
            <a:fillRect/>
          </a:stretch>
        </p:blipFill>
        <p:spPr>
          <a:xfrm>
            <a:off x="1078992" y="1069848"/>
            <a:ext cx="347472" cy="347472"/>
          </a:xfrm>
          <a:prstGeom prst="rect">
            <a:avLst/>
          </a:prstGeom>
        </p:spPr>
      </p:pic>
      <p:sp>
        <p:nvSpPr>
          <p:cNvPr id="7" name="Text 4"/>
          <p:cNvSpPr/>
          <p:nvPr/>
        </p:nvSpPr>
        <p:spPr>
          <a:xfrm>
            <a:off x="1554480" y="1033272"/>
            <a:ext cx="6949440" cy="274320"/>
          </a:xfrm>
          <a:prstGeom prst="rect">
            <a:avLst/>
          </a:prstGeom>
          <a:noFill/>
          <a:ln/>
        </p:spPr>
        <p:txBody>
          <a:bodyPr wrap="square" lIns="0" tIns="0" rIns="0" bIns="0" rtlCol="0" anchor="ctr"/>
          <a:lstStyle/>
          <a:p>
            <a:pPr marL="0" indent="0" algn="l">
              <a:buNone/>
            </a:pPr>
            <a:r>
              <a:rPr lang="en-US" sz="1300" b="1" dirty="0">
                <a:solidFill>
                  <a:srgbClr val="005A43"/>
                </a:solidFill>
              </a:rPr>
              <a:t>What I Built</a:t>
            </a:r>
            <a:endParaRPr lang="en-US" sz="1300" dirty="0"/>
          </a:p>
        </p:txBody>
      </p:sp>
      <p:sp>
        <p:nvSpPr>
          <p:cNvPr id="8" name="Text 5"/>
          <p:cNvSpPr/>
          <p:nvPr/>
        </p:nvSpPr>
        <p:spPr>
          <a:xfrm>
            <a:off x="1554480" y="1307592"/>
            <a:ext cx="6949440" cy="256032"/>
          </a:xfrm>
          <a:prstGeom prst="rect">
            <a:avLst/>
          </a:prstGeom>
          <a:noFill/>
          <a:ln/>
        </p:spPr>
        <p:txBody>
          <a:bodyPr wrap="square" lIns="0" tIns="0" rIns="0" bIns="0" rtlCol="0" anchor="ctr"/>
          <a:lstStyle/>
          <a:p>
            <a:pPr marL="0" indent="0" algn="l">
              <a:buNone/>
            </a:pPr>
            <a:r>
              <a:rPr lang="en-US" sz="1150" dirty="0">
                <a:solidFill>
                  <a:srgbClr val="6B7B74"/>
                </a:solidFill>
              </a:rPr>
              <a:t>Vendor Performance Analysis | the end-to-end BI project</a:t>
            </a:r>
            <a:endParaRPr lang="en-US" sz="1150" dirty="0"/>
          </a:p>
        </p:txBody>
      </p:sp>
      <p:sp>
        <p:nvSpPr>
          <p:cNvPr id="9" name="Shape 6"/>
          <p:cNvSpPr/>
          <p:nvPr/>
        </p:nvSpPr>
        <p:spPr>
          <a:xfrm>
            <a:off x="411480" y="1764792"/>
            <a:ext cx="8321040" cy="18288"/>
          </a:xfrm>
          <a:prstGeom prst="rect">
            <a:avLst/>
          </a:prstGeom>
          <a:solidFill>
            <a:srgbClr val="E0E8E4"/>
          </a:solidFill>
          <a:ln/>
        </p:spPr>
        <p:txBody>
          <a:bodyPr/>
          <a:lstStyle/>
          <a:p>
            <a:endParaRPr lang="en-US"/>
          </a:p>
        </p:txBody>
      </p:sp>
      <p:sp>
        <p:nvSpPr>
          <p:cNvPr id="10" name="Shape 7"/>
          <p:cNvSpPr/>
          <p:nvPr/>
        </p:nvSpPr>
        <p:spPr>
          <a:xfrm>
            <a:off x="411480" y="1856232"/>
            <a:ext cx="502920" cy="502920"/>
          </a:xfrm>
          <a:prstGeom prst="ellipse">
            <a:avLst/>
          </a:prstGeom>
          <a:solidFill>
            <a:srgbClr val="005A43"/>
          </a:solidFill>
          <a:ln/>
        </p:spPr>
        <p:txBody>
          <a:bodyPr/>
          <a:lstStyle/>
          <a:p>
            <a:endParaRPr lang="en-US"/>
          </a:p>
        </p:txBody>
      </p:sp>
      <p:sp>
        <p:nvSpPr>
          <p:cNvPr id="11" name="Text 8"/>
          <p:cNvSpPr/>
          <p:nvPr/>
        </p:nvSpPr>
        <p:spPr>
          <a:xfrm>
            <a:off x="411480" y="185623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pic>
        <p:nvPicPr>
          <p:cNvPr id="12" name="Image 1" descr="preencoded.png"/>
          <p:cNvPicPr>
            <a:picLocks noChangeAspect="1"/>
          </p:cNvPicPr>
          <p:nvPr/>
        </p:nvPicPr>
        <p:blipFill>
          <a:blip r:embed="rId4"/>
          <a:stretch>
            <a:fillRect/>
          </a:stretch>
        </p:blipFill>
        <p:spPr>
          <a:xfrm>
            <a:off x="1078992" y="1874520"/>
            <a:ext cx="347472" cy="347472"/>
          </a:xfrm>
          <a:prstGeom prst="rect">
            <a:avLst/>
          </a:prstGeom>
        </p:spPr>
      </p:pic>
      <p:sp>
        <p:nvSpPr>
          <p:cNvPr id="13" name="Text 9"/>
          <p:cNvSpPr/>
          <p:nvPr/>
        </p:nvSpPr>
        <p:spPr>
          <a:xfrm>
            <a:off x="1554480" y="1837944"/>
            <a:ext cx="6949440" cy="274320"/>
          </a:xfrm>
          <a:prstGeom prst="rect">
            <a:avLst/>
          </a:prstGeom>
          <a:noFill/>
          <a:ln/>
        </p:spPr>
        <p:txBody>
          <a:bodyPr wrap="square" lIns="0" tIns="0" rIns="0" bIns="0" rtlCol="0" anchor="ctr"/>
          <a:lstStyle/>
          <a:p>
            <a:pPr marL="0" indent="0" algn="l">
              <a:buNone/>
            </a:pPr>
            <a:r>
              <a:rPr lang="en-US" sz="1300" b="1" dirty="0">
                <a:solidFill>
                  <a:srgbClr val="005A43"/>
                </a:solidFill>
              </a:rPr>
              <a:t>Key Findings</a:t>
            </a:r>
            <a:endParaRPr lang="en-US" sz="1300" dirty="0"/>
          </a:p>
        </p:txBody>
      </p:sp>
      <p:sp>
        <p:nvSpPr>
          <p:cNvPr id="14" name="Text 10"/>
          <p:cNvSpPr/>
          <p:nvPr/>
        </p:nvSpPr>
        <p:spPr>
          <a:xfrm>
            <a:off x="1554480" y="2112264"/>
            <a:ext cx="6949440" cy="256032"/>
          </a:xfrm>
          <a:prstGeom prst="rect">
            <a:avLst/>
          </a:prstGeom>
          <a:noFill/>
          <a:ln/>
        </p:spPr>
        <p:txBody>
          <a:bodyPr wrap="square" lIns="0" tIns="0" rIns="0" bIns="0" rtlCol="0" anchor="ctr"/>
          <a:lstStyle/>
          <a:p>
            <a:pPr marL="0" indent="0" algn="l">
              <a:buNone/>
            </a:pPr>
            <a:r>
              <a:rPr lang="en-US" sz="1150" dirty="0">
                <a:solidFill>
                  <a:srgbClr val="6B7B74"/>
                </a:solidFill>
              </a:rPr>
              <a:t>EDA, correlations, profitability analysis &amp; bulk purchasing</a:t>
            </a:r>
            <a:endParaRPr lang="en-US" sz="1150" dirty="0"/>
          </a:p>
        </p:txBody>
      </p:sp>
      <p:sp>
        <p:nvSpPr>
          <p:cNvPr id="15" name="Shape 11"/>
          <p:cNvSpPr/>
          <p:nvPr/>
        </p:nvSpPr>
        <p:spPr>
          <a:xfrm>
            <a:off x="411480" y="2569464"/>
            <a:ext cx="8321040" cy="18288"/>
          </a:xfrm>
          <a:prstGeom prst="rect">
            <a:avLst/>
          </a:prstGeom>
          <a:solidFill>
            <a:srgbClr val="E0E8E4"/>
          </a:solidFill>
          <a:ln/>
        </p:spPr>
        <p:txBody>
          <a:bodyPr/>
          <a:lstStyle/>
          <a:p>
            <a:endParaRPr lang="en-US"/>
          </a:p>
        </p:txBody>
      </p:sp>
      <p:sp>
        <p:nvSpPr>
          <p:cNvPr id="16" name="Shape 12"/>
          <p:cNvSpPr/>
          <p:nvPr/>
        </p:nvSpPr>
        <p:spPr>
          <a:xfrm>
            <a:off x="411480" y="2660904"/>
            <a:ext cx="502920" cy="502920"/>
          </a:xfrm>
          <a:prstGeom prst="ellipse">
            <a:avLst/>
          </a:prstGeom>
          <a:solidFill>
            <a:srgbClr val="005A43"/>
          </a:solidFill>
          <a:ln/>
        </p:spPr>
        <p:txBody>
          <a:bodyPr/>
          <a:lstStyle/>
          <a:p>
            <a:endParaRPr lang="en-US"/>
          </a:p>
        </p:txBody>
      </p:sp>
      <p:sp>
        <p:nvSpPr>
          <p:cNvPr id="17" name="Text 13"/>
          <p:cNvSpPr/>
          <p:nvPr/>
        </p:nvSpPr>
        <p:spPr>
          <a:xfrm>
            <a:off x="411480" y="2660904"/>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pic>
        <p:nvPicPr>
          <p:cNvPr id="18" name="Image 2" descr="preencoded.png"/>
          <p:cNvPicPr>
            <a:picLocks noChangeAspect="1"/>
          </p:cNvPicPr>
          <p:nvPr/>
        </p:nvPicPr>
        <p:blipFill>
          <a:blip r:embed="rId5"/>
          <a:stretch>
            <a:fillRect/>
          </a:stretch>
        </p:blipFill>
        <p:spPr>
          <a:xfrm>
            <a:off x="1078992" y="2679192"/>
            <a:ext cx="347472" cy="347472"/>
          </a:xfrm>
          <a:prstGeom prst="rect">
            <a:avLst/>
          </a:prstGeom>
        </p:spPr>
      </p:pic>
      <p:sp>
        <p:nvSpPr>
          <p:cNvPr id="19" name="Text 14"/>
          <p:cNvSpPr/>
          <p:nvPr/>
        </p:nvSpPr>
        <p:spPr>
          <a:xfrm>
            <a:off x="1554480" y="2642616"/>
            <a:ext cx="6949440" cy="274320"/>
          </a:xfrm>
          <a:prstGeom prst="rect">
            <a:avLst/>
          </a:prstGeom>
          <a:noFill/>
          <a:ln/>
        </p:spPr>
        <p:txBody>
          <a:bodyPr wrap="square" lIns="0" tIns="0" rIns="0" bIns="0" rtlCol="0" anchor="ctr"/>
          <a:lstStyle/>
          <a:p>
            <a:pPr marL="0" indent="0" algn="l">
              <a:buNone/>
            </a:pPr>
            <a:r>
              <a:rPr lang="en-US" sz="1300" b="1" dirty="0">
                <a:solidFill>
                  <a:srgbClr val="005A43"/>
                </a:solidFill>
              </a:rPr>
              <a:t>Dashboard</a:t>
            </a:r>
            <a:endParaRPr lang="en-US" sz="1300" dirty="0"/>
          </a:p>
        </p:txBody>
      </p:sp>
      <p:sp>
        <p:nvSpPr>
          <p:cNvPr id="20" name="Text 15"/>
          <p:cNvSpPr/>
          <p:nvPr/>
        </p:nvSpPr>
        <p:spPr>
          <a:xfrm>
            <a:off x="1554480" y="2916936"/>
            <a:ext cx="6949440" cy="256032"/>
          </a:xfrm>
          <a:prstGeom prst="rect">
            <a:avLst/>
          </a:prstGeom>
          <a:noFill/>
          <a:ln/>
        </p:spPr>
        <p:txBody>
          <a:bodyPr wrap="square" lIns="0" tIns="0" rIns="0" bIns="0" rtlCol="0" anchor="ctr"/>
          <a:lstStyle/>
          <a:p>
            <a:pPr marL="0" indent="0" algn="l">
              <a:buNone/>
            </a:pPr>
            <a:r>
              <a:rPr lang="en-US" sz="1150" dirty="0">
                <a:solidFill>
                  <a:srgbClr val="6B7B74"/>
                </a:solidFill>
              </a:rPr>
              <a:t>Interactive Power BI dashboard built for business decision-makers</a:t>
            </a:r>
            <a:endParaRPr lang="en-US" sz="1150" dirty="0"/>
          </a:p>
        </p:txBody>
      </p:sp>
      <p:sp>
        <p:nvSpPr>
          <p:cNvPr id="21" name="Shape 16"/>
          <p:cNvSpPr/>
          <p:nvPr/>
        </p:nvSpPr>
        <p:spPr>
          <a:xfrm>
            <a:off x="411480" y="3374136"/>
            <a:ext cx="8321040" cy="18288"/>
          </a:xfrm>
          <a:prstGeom prst="rect">
            <a:avLst/>
          </a:prstGeom>
          <a:solidFill>
            <a:srgbClr val="E0E8E4"/>
          </a:solidFill>
          <a:ln/>
        </p:spPr>
        <p:txBody>
          <a:bodyPr/>
          <a:lstStyle/>
          <a:p>
            <a:endParaRPr lang="en-US"/>
          </a:p>
        </p:txBody>
      </p:sp>
      <p:sp>
        <p:nvSpPr>
          <p:cNvPr id="22" name="Shape 17"/>
          <p:cNvSpPr/>
          <p:nvPr/>
        </p:nvSpPr>
        <p:spPr>
          <a:xfrm>
            <a:off x="411480" y="3465576"/>
            <a:ext cx="502920" cy="502920"/>
          </a:xfrm>
          <a:prstGeom prst="ellipse">
            <a:avLst/>
          </a:prstGeom>
          <a:solidFill>
            <a:srgbClr val="005A43"/>
          </a:solidFill>
          <a:ln/>
        </p:spPr>
        <p:txBody>
          <a:bodyPr/>
          <a:lstStyle/>
          <a:p>
            <a:endParaRPr lang="en-US"/>
          </a:p>
        </p:txBody>
      </p:sp>
      <p:sp>
        <p:nvSpPr>
          <p:cNvPr id="23" name="Text 18"/>
          <p:cNvSpPr/>
          <p:nvPr/>
        </p:nvSpPr>
        <p:spPr>
          <a:xfrm>
            <a:off x="411480" y="3465576"/>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pic>
        <p:nvPicPr>
          <p:cNvPr id="24" name="Image 3" descr="preencoded.png"/>
          <p:cNvPicPr>
            <a:picLocks noChangeAspect="1"/>
          </p:cNvPicPr>
          <p:nvPr/>
        </p:nvPicPr>
        <p:blipFill>
          <a:blip r:embed="rId6"/>
          <a:stretch>
            <a:fillRect/>
          </a:stretch>
        </p:blipFill>
        <p:spPr>
          <a:xfrm>
            <a:off x="1078992" y="3483864"/>
            <a:ext cx="347472" cy="347472"/>
          </a:xfrm>
          <a:prstGeom prst="rect">
            <a:avLst/>
          </a:prstGeom>
        </p:spPr>
      </p:pic>
      <p:sp>
        <p:nvSpPr>
          <p:cNvPr id="25" name="Text 19"/>
          <p:cNvSpPr/>
          <p:nvPr/>
        </p:nvSpPr>
        <p:spPr>
          <a:xfrm>
            <a:off x="1554480" y="3447288"/>
            <a:ext cx="6949440" cy="274320"/>
          </a:xfrm>
          <a:prstGeom prst="rect">
            <a:avLst/>
          </a:prstGeom>
          <a:noFill/>
          <a:ln/>
        </p:spPr>
        <p:txBody>
          <a:bodyPr wrap="square" lIns="0" tIns="0" rIns="0" bIns="0" rtlCol="0" anchor="ctr"/>
          <a:lstStyle/>
          <a:p>
            <a:pPr marL="0" indent="0" algn="l">
              <a:buNone/>
            </a:pPr>
            <a:r>
              <a:rPr lang="en-US" sz="1300" b="1" dirty="0">
                <a:solidFill>
                  <a:srgbClr val="005A43"/>
                </a:solidFill>
              </a:rPr>
              <a:t>What I'm Learning Now</a:t>
            </a:r>
            <a:endParaRPr lang="en-US" sz="1300" dirty="0"/>
          </a:p>
        </p:txBody>
      </p:sp>
      <p:sp>
        <p:nvSpPr>
          <p:cNvPr id="26" name="Text 20"/>
          <p:cNvSpPr/>
          <p:nvPr/>
        </p:nvSpPr>
        <p:spPr>
          <a:xfrm>
            <a:off x="1554480" y="3721608"/>
            <a:ext cx="6949440" cy="256032"/>
          </a:xfrm>
          <a:prstGeom prst="rect">
            <a:avLst/>
          </a:prstGeom>
          <a:noFill/>
          <a:ln/>
        </p:spPr>
        <p:txBody>
          <a:bodyPr wrap="square" lIns="0" tIns="0" rIns="0" bIns="0" rtlCol="0" anchor="ctr"/>
          <a:lstStyle/>
          <a:p>
            <a:pPr marL="0" indent="0" algn="l">
              <a:buNone/>
            </a:pPr>
            <a:r>
              <a:rPr lang="en-US" sz="1150" dirty="0">
                <a:solidFill>
                  <a:srgbClr val="6B7B74"/>
                </a:solidFill>
              </a:rPr>
              <a:t>DataCamp Data Science track + Deloitte Forage certification</a:t>
            </a:r>
            <a:endParaRPr lang="en-US" sz="1150" dirty="0"/>
          </a:p>
        </p:txBody>
      </p:sp>
      <p:sp>
        <p:nvSpPr>
          <p:cNvPr id="27" name="Shape 21"/>
          <p:cNvSpPr/>
          <p:nvPr/>
        </p:nvSpPr>
        <p:spPr>
          <a:xfrm>
            <a:off x="411480" y="4178808"/>
            <a:ext cx="8321040" cy="18288"/>
          </a:xfrm>
          <a:prstGeom prst="rect">
            <a:avLst/>
          </a:prstGeom>
          <a:solidFill>
            <a:srgbClr val="E0E8E4"/>
          </a:solidFill>
          <a:ln/>
        </p:spPr>
        <p:txBody>
          <a:bodyPr/>
          <a:lstStyle/>
          <a:p>
            <a:endParaRPr lang="en-US"/>
          </a:p>
        </p:txBody>
      </p:sp>
      <p:sp>
        <p:nvSpPr>
          <p:cNvPr id="28" name="Shape 22"/>
          <p:cNvSpPr/>
          <p:nvPr/>
        </p:nvSpPr>
        <p:spPr>
          <a:xfrm>
            <a:off x="411480" y="4270248"/>
            <a:ext cx="502920" cy="502920"/>
          </a:xfrm>
          <a:prstGeom prst="ellipse">
            <a:avLst/>
          </a:prstGeom>
          <a:solidFill>
            <a:srgbClr val="005A43"/>
          </a:solidFill>
          <a:ln/>
        </p:spPr>
        <p:txBody>
          <a:bodyPr/>
          <a:lstStyle/>
          <a:p>
            <a:endParaRPr lang="en-US"/>
          </a:p>
        </p:txBody>
      </p:sp>
      <p:sp>
        <p:nvSpPr>
          <p:cNvPr id="29" name="Text 23"/>
          <p:cNvSpPr/>
          <p:nvPr/>
        </p:nvSpPr>
        <p:spPr>
          <a:xfrm>
            <a:off x="411480" y="427024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05</a:t>
            </a:r>
            <a:endParaRPr lang="en-US" sz="1300" dirty="0"/>
          </a:p>
        </p:txBody>
      </p:sp>
      <p:pic>
        <p:nvPicPr>
          <p:cNvPr id="30" name="Image 4" descr="preencoded.png"/>
          <p:cNvPicPr>
            <a:picLocks noChangeAspect="1"/>
          </p:cNvPicPr>
          <p:nvPr/>
        </p:nvPicPr>
        <p:blipFill>
          <a:blip r:embed="rId7"/>
          <a:stretch>
            <a:fillRect/>
          </a:stretch>
        </p:blipFill>
        <p:spPr>
          <a:xfrm>
            <a:off x="1078992" y="4288536"/>
            <a:ext cx="347472" cy="347472"/>
          </a:xfrm>
          <a:prstGeom prst="rect">
            <a:avLst/>
          </a:prstGeom>
        </p:spPr>
      </p:pic>
      <p:sp>
        <p:nvSpPr>
          <p:cNvPr id="31" name="Text 24"/>
          <p:cNvSpPr/>
          <p:nvPr/>
        </p:nvSpPr>
        <p:spPr>
          <a:xfrm>
            <a:off x="1554480" y="4251960"/>
            <a:ext cx="6949440" cy="274320"/>
          </a:xfrm>
          <a:prstGeom prst="rect">
            <a:avLst/>
          </a:prstGeom>
          <a:noFill/>
          <a:ln/>
        </p:spPr>
        <p:txBody>
          <a:bodyPr wrap="square" lIns="0" tIns="0" rIns="0" bIns="0" rtlCol="0" anchor="ctr"/>
          <a:lstStyle/>
          <a:p>
            <a:pPr marL="0" indent="0" algn="l">
              <a:buNone/>
            </a:pPr>
            <a:r>
              <a:rPr lang="en-US" sz="1300" b="1" dirty="0">
                <a:solidFill>
                  <a:srgbClr val="005A43"/>
                </a:solidFill>
              </a:rPr>
              <a:t>Future Plans</a:t>
            </a:r>
            <a:endParaRPr lang="en-US" sz="1300" dirty="0"/>
          </a:p>
        </p:txBody>
      </p:sp>
      <p:sp>
        <p:nvSpPr>
          <p:cNvPr id="32" name="Text 25"/>
          <p:cNvSpPr/>
          <p:nvPr/>
        </p:nvSpPr>
        <p:spPr>
          <a:xfrm>
            <a:off x="1554480" y="4526280"/>
            <a:ext cx="6949440" cy="256032"/>
          </a:xfrm>
          <a:prstGeom prst="rect">
            <a:avLst/>
          </a:prstGeom>
          <a:noFill/>
          <a:ln/>
        </p:spPr>
        <p:txBody>
          <a:bodyPr wrap="square" lIns="0" tIns="0" rIns="0" bIns="0" rtlCol="0" anchor="ctr"/>
          <a:lstStyle/>
          <a:p>
            <a:pPr marL="0" indent="0" algn="l">
              <a:buNone/>
            </a:pPr>
            <a:r>
              <a:rPr lang="en-US" sz="1150" dirty="0">
                <a:solidFill>
                  <a:srgbClr val="6B7B74"/>
                </a:solidFill>
              </a:rPr>
              <a:t>Advanced ML projects, portfolio, and career targets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5A43"/>
          </a:solidFill>
          <a:ln/>
        </p:spPr>
        <p:txBody>
          <a:bodyPr/>
          <a:lstStyle/>
          <a:p>
            <a:endParaRPr lang="en-US"/>
          </a:p>
        </p:txBody>
      </p:sp>
      <p:sp>
        <p:nvSpPr>
          <p:cNvPr id="3" name="Text 1"/>
          <p:cNvSpPr/>
          <p:nvPr/>
        </p:nvSpPr>
        <p:spPr>
          <a:xfrm>
            <a:off x="411480" y="0"/>
            <a:ext cx="6858000" cy="749808"/>
          </a:xfrm>
          <a:prstGeom prst="rect">
            <a:avLst/>
          </a:prstGeom>
          <a:noFill/>
          <a:ln/>
        </p:spPr>
        <p:txBody>
          <a:bodyPr wrap="square" lIns="0" tIns="0" rIns="0" bIns="0" rtlCol="0" anchor="ctr"/>
          <a:lstStyle/>
          <a:p>
            <a:pPr marL="0" indent="0" algn="l">
              <a:buNone/>
            </a:pPr>
            <a:r>
              <a:rPr lang="en-US" sz="2500" b="1" dirty="0">
                <a:solidFill>
                  <a:srgbClr val="FFFFFF"/>
                </a:solidFill>
              </a:rPr>
              <a:t>The Business Problem</a:t>
            </a:r>
            <a:endParaRPr lang="en-US" sz="2500" dirty="0"/>
          </a:p>
        </p:txBody>
      </p:sp>
      <p:sp>
        <p:nvSpPr>
          <p:cNvPr id="4" name="Text 2"/>
          <p:cNvSpPr/>
          <p:nvPr/>
        </p:nvSpPr>
        <p:spPr>
          <a:xfrm>
            <a:off x="6583680" y="0"/>
            <a:ext cx="2423160" cy="749808"/>
          </a:xfrm>
          <a:prstGeom prst="rect">
            <a:avLst/>
          </a:prstGeom>
          <a:noFill/>
          <a:ln/>
        </p:spPr>
        <p:txBody>
          <a:bodyPr wrap="square" lIns="0" tIns="0" rIns="0" bIns="0" rtlCol="0" anchor="ctr"/>
          <a:lstStyle/>
          <a:p>
            <a:pPr marL="0" indent="0" algn="r">
              <a:buNone/>
            </a:pPr>
            <a:r>
              <a:rPr lang="en-US" sz="800" kern="0" spc="150" dirty="0">
                <a:solidFill>
                  <a:srgbClr val="C8E6D0"/>
                </a:solidFill>
              </a:rPr>
              <a:t>W H A T  I  B U I L T</a:t>
            </a:r>
            <a:endParaRPr lang="en-US" sz="800" dirty="0"/>
          </a:p>
        </p:txBody>
      </p:sp>
      <p:sp>
        <p:nvSpPr>
          <p:cNvPr id="5" name="Text 3"/>
          <p:cNvSpPr/>
          <p:nvPr/>
        </p:nvSpPr>
        <p:spPr>
          <a:xfrm>
            <a:off x="411480" y="960120"/>
            <a:ext cx="3931920" cy="347472"/>
          </a:xfrm>
          <a:prstGeom prst="rect">
            <a:avLst/>
          </a:prstGeom>
          <a:noFill/>
          <a:ln/>
        </p:spPr>
        <p:txBody>
          <a:bodyPr wrap="square" lIns="0" tIns="0" rIns="0" bIns="0" rtlCol="0" anchor="ctr"/>
          <a:lstStyle/>
          <a:p>
            <a:pPr marL="0" indent="0" algn="l">
              <a:buNone/>
            </a:pPr>
            <a:r>
              <a:rPr lang="en-US" sz="1500" b="1" dirty="0">
                <a:solidFill>
                  <a:srgbClr val="1A2E26"/>
                </a:solidFill>
              </a:rPr>
              <a:t>Why This Project?</a:t>
            </a:r>
            <a:endParaRPr lang="en-US" sz="1500" dirty="0"/>
          </a:p>
        </p:txBody>
      </p:sp>
      <p:sp>
        <p:nvSpPr>
          <p:cNvPr id="6" name="Text 4"/>
          <p:cNvSpPr/>
          <p:nvPr/>
        </p:nvSpPr>
        <p:spPr>
          <a:xfrm>
            <a:off x="411480" y="1371600"/>
            <a:ext cx="3931920" cy="2011680"/>
          </a:xfrm>
          <a:prstGeom prst="rect">
            <a:avLst/>
          </a:prstGeom>
          <a:noFill/>
          <a:ln/>
        </p:spPr>
        <p:txBody>
          <a:bodyPr wrap="square" lIns="0" tIns="0" rIns="0" bIns="0" rtlCol="0" anchor="t"/>
          <a:lstStyle/>
          <a:p>
            <a:pPr marL="0" indent="0" algn="l">
              <a:lnSpc>
                <a:spcPct val="145000"/>
              </a:lnSpc>
              <a:buNone/>
            </a:pPr>
            <a:r>
              <a:rPr lang="en-US" sz="1250" dirty="0">
                <a:solidFill>
                  <a:srgbClr val="6B7B74"/>
                </a:solidFill>
              </a:rPr>
              <a:t>Retail and wholesale businesses lose profitability through inefficient pricing, poor inventory turnover, and over-reliance on a small set of vendors.</a:t>
            </a:r>
            <a:endParaRPr lang="en-US" sz="1250" dirty="0"/>
          </a:p>
          <a:p>
            <a:pPr marL="0" indent="0" algn="l">
              <a:lnSpc>
                <a:spcPct val="145000"/>
              </a:lnSpc>
              <a:buNone/>
            </a:pPr>
            <a:endParaRPr lang="en-US" sz="1250" dirty="0"/>
          </a:p>
          <a:p>
            <a:pPr marL="0" indent="0" algn="l">
              <a:lnSpc>
                <a:spcPct val="145000"/>
              </a:lnSpc>
              <a:buNone/>
            </a:pPr>
            <a:r>
              <a:rPr lang="en-US" sz="1250" dirty="0">
                <a:solidFill>
                  <a:srgbClr val="6B7B74"/>
                </a:solidFill>
              </a:rPr>
              <a:t>The goal was to build a data-driven intelligence system to surface these risks and give decision-makers clear, actionable guidance.</a:t>
            </a:r>
            <a:endParaRPr lang="en-US" sz="1250" dirty="0"/>
          </a:p>
        </p:txBody>
      </p:sp>
      <p:sp>
        <p:nvSpPr>
          <p:cNvPr id="7" name="Shape 5"/>
          <p:cNvSpPr/>
          <p:nvPr/>
        </p:nvSpPr>
        <p:spPr>
          <a:xfrm>
            <a:off x="4663440" y="960120"/>
            <a:ext cx="4114800" cy="658368"/>
          </a:xfrm>
          <a:prstGeom prst="rect">
            <a:avLst/>
          </a:prstGeom>
          <a:solidFill>
            <a:srgbClr val="F4F6F4"/>
          </a:solidFill>
          <a:ln/>
          <a:effectLst>
            <a:outerShdw blurRad="101600" dist="38100" dir="8100000" algn="bl" rotWithShape="0">
              <a:srgbClr val="000000">
                <a:alpha val="10000"/>
              </a:srgbClr>
            </a:outerShdw>
          </a:effectLst>
        </p:spPr>
        <p:txBody>
          <a:bodyPr/>
          <a:lstStyle/>
          <a:p>
            <a:endParaRPr lang="en-US"/>
          </a:p>
        </p:txBody>
      </p:sp>
      <p:sp>
        <p:nvSpPr>
          <p:cNvPr id="8" name="Shape 6"/>
          <p:cNvSpPr/>
          <p:nvPr/>
        </p:nvSpPr>
        <p:spPr>
          <a:xfrm>
            <a:off x="4663440" y="960120"/>
            <a:ext cx="91440" cy="658368"/>
          </a:xfrm>
          <a:prstGeom prst="rect">
            <a:avLst/>
          </a:prstGeom>
          <a:solidFill>
            <a:srgbClr val="005A43"/>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4828032" y="1106424"/>
            <a:ext cx="347472" cy="347472"/>
          </a:xfrm>
          <a:prstGeom prst="rect">
            <a:avLst/>
          </a:prstGeom>
        </p:spPr>
      </p:pic>
      <p:sp>
        <p:nvSpPr>
          <p:cNvPr id="10" name="Text 7"/>
          <p:cNvSpPr/>
          <p:nvPr/>
        </p:nvSpPr>
        <p:spPr>
          <a:xfrm>
            <a:off x="5285232" y="1124712"/>
            <a:ext cx="3383280" cy="329184"/>
          </a:xfrm>
          <a:prstGeom prst="rect">
            <a:avLst/>
          </a:prstGeom>
          <a:noFill/>
          <a:ln/>
        </p:spPr>
        <p:txBody>
          <a:bodyPr wrap="square" lIns="0" tIns="0" rIns="0" bIns="0" rtlCol="0" anchor="ctr"/>
          <a:lstStyle/>
          <a:p>
            <a:pPr marL="0" indent="0" algn="l">
              <a:buNone/>
            </a:pPr>
            <a:r>
              <a:rPr lang="en-US" sz="1200" dirty="0">
                <a:solidFill>
                  <a:srgbClr val="1A2E26"/>
                </a:solidFill>
              </a:rPr>
              <a:t>Identify underperforming brands</a:t>
            </a:r>
            <a:endParaRPr lang="en-US" sz="1200" dirty="0"/>
          </a:p>
        </p:txBody>
      </p:sp>
      <p:sp>
        <p:nvSpPr>
          <p:cNvPr id="11" name="Shape 8"/>
          <p:cNvSpPr/>
          <p:nvPr/>
        </p:nvSpPr>
        <p:spPr>
          <a:xfrm>
            <a:off x="4663440" y="1764792"/>
            <a:ext cx="4114800" cy="658368"/>
          </a:xfrm>
          <a:prstGeom prst="rect">
            <a:avLst/>
          </a:prstGeom>
          <a:solidFill>
            <a:srgbClr val="EBF5EF"/>
          </a:solidFill>
          <a:ln/>
          <a:effectLst>
            <a:outerShdw blurRad="101600" dist="38100" dir="8100000" algn="bl" rotWithShape="0">
              <a:srgbClr val="000000">
                <a:alpha val="10000"/>
              </a:srgbClr>
            </a:outerShdw>
          </a:effectLst>
        </p:spPr>
        <p:txBody>
          <a:bodyPr/>
          <a:lstStyle/>
          <a:p>
            <a:endParaRPr lang="en-US"/>
          </a:p>
        </p:txBody>
      </p:sp>
      <p:sp>
        <p:nvSpPr>
          <p:cNvPr id="12" name="Shape 9"/>
          <p:cNvSpPr/>
          <p:nvPr/>
        </p:nvSpPr>
        <p:spPr>
          <a:xfrm>
            <a:off x="4663440" y="1764792"/>
            <a:ext cx="91440" cy="658368"/>
          </a:xfrm>
          <a:prstGeom prst="rect">
            <a:avLst/>
          </a:prstGeom>
          <a:solidFill>
            <a:srgbClr val="005A43"/>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828032" y="1911096"/>
            <a:ext cx="347472" cy="347472"/>
          </a:xfrm>
          <a:prstGeom prst="rect">
            <a:avLst/>
          </a:prstGeom>
        </p:spPr>
      </p:pic>
      <p:sp>
        <p:nvSpPr>
          <p:cNvPr id="14" name="Text 10"/>
          <p:cNvSpPr/>
          <p:nvPr/>
        </p:nvSpPr>
        <p:spPr>
          <a:xfrm>
            <a:off x="5285232" y="1929384"/>
            <a:ext cx="3383280" cy="329184"/>
          </a:xfrm>
          <a:prstGeom prst="rect">
            <a:avLst/>
          </a:prstGeom>
          <a:noFill/>
          <a:ln/>
        </p:spPr>
        <p:txBody>
          <a:bodyPr wrap="square" lIns="0" tIns="0" rIns="0" bIns="0" rtlCol="0" anchor="ctr"/>
          <a:lstStyle/>
          <a:p>
            <a:pPr marL="0" indent="0" algn="l">
              <a:buNone/>
            </a:pPr>
            <a:r>
              <a:rPr lang="en-US" sz="1200" dirty="0">
                <a:solidFill>
                  <a:srgbClr val="1A2E26"/>
                </a:solidFill>
              </a:rPr>
              <a:t>Determine top vendor contributions</a:t>
            </a:r>
            <a:endParaRPr lang="en-US" sz="1200" dirty="0"/>
          </a:p>
        </p:txBody>
      </p:sp>
      <p:sp>
        <p:nvSpPr>
          <p:cNvPr id="15" name="Shape 11"/>
          <p:cNvSpPr/>
          <p:nvPr/>
        </p:nvSpPr>
        <p:spPr>
          <a:xfrm>
            <a:off x="4663440" y="2569464"/>
            <a:ext cx="4114800" cy="658368"/>
          </a:xfrm>
          <a:prstGeom prst="rect">
            <a:avLst/>
          </a:prstGeom>
          <a:solidFill>
            <a:srgbClr val="F4F6F4"/>
          </a:solidFill>
          <a:ln/>
          <a:effectLst>
            <a:outerShdw blurRad="101600" dist="38100" dir="8100000" algn="bl" rotWithShape="0">
              <a:srgbClr val="000000">
                <a:alpha val="10000"/>
              </a:srgbClr>
            </a:outerShdw>
          </a:effectLst>
        </p:spPr>
        <p:txBody>
          <a:bodyPr/>
          <a:lstStyle/>
          <a:p>
            <a:endParaRPr lang="en-US"/>
          </a:p>
        </p:txBody>
      </p:sp>
      <p:sp>
        <p:nvSpPr>
          <p:cNvPr id="16" name="Shape 12"/>
          <p:cNvSpPr/>
          <p:nvPr/>
        </p:nvSpPr>
        <p:spPr>
          <a:xfrm>
            <a:off x="4663440" y="2569464"/>
            <a:ext cx="91440" cy="658368"/>
          </a:xfrm>
          <a:prstGeom prst="rect">
            <a:avLst/>
          </a:prstGeom>
          <a:solidFill>
            <a:srgbClr val="005A43"/>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4828032" y="2715768"/>
            <a:ext cx="347472" cy="347472"/>
          </a:xfrm>
          <a:prstGeom prst="rect">
            <a:avLst/>
          </a:prstGeom>
        </p:spPr>
      </p:pic>
      <p:sp>
        <p:nvSpPr>
          <p:cNvPr id="18" name="Text 13"/>
          <p:cNvSpPr/>
          <p:nvPr/>
        </p:nvSpPr>
        <p:spPr>
          <a:xfrm>
            <a:off x="5285232" y="2734056"/>
            <a:ext cx="3383280" cy="329184"/>
          </a:xfrm>
          <a:prstGeom prst="rect">
            <a:avLst/>
          </a:prstGeom>
          <a:noFill/>
          <a:ln/>
        </p:spPr>
        <p:txBody>
          <a:bodyPr wrap="square" lIns="0" tIns="0" rIns="0" bIns="0" rtlCol="0" anchor="ctr"/>
          <a:lstStyle/>
          <a:p>
            <a:pPr marL="0" indent="0" algn="l">
              <a:buNone/>
            </a:pPr>
            <a:r>
              <a:rPr lang="en-US" sz="1200" dirty="0">
                <a:solidFill>
                  <a:srgbClr val="1A2E26"/>
                </a:solidFill>
              </a:rPr>
              <a:t>Analyze bulk purchasing impact</a:t>
            </a:r>
            <a:endParaRPr lang="en-US" sz="1200" dirty="0"/>
          </a:p>
        </p:txBody>
      </p:sp>
      <p:sp>
        <p:nvSpPr>
          <p:cNvPr id="19" name="Shape 14"/>
          <p:cNvSpPr/>
          <p:nvPr/>
        </p:nvSpPr>
        <p:spPr>
          <a:xfrm>
            <a:off x="4663440" y="3374136"/>
            <a:ext cx="4114800" cy="658368"/>
          </a:xfrm>
          <a:prstGeom prst="rect">
            <a:avLst/>
          </a:prstGeom>
          <a:solidFill>
            <a:srgbClr val="EBF5EF"/>
          </a:solidFill>
          <a:ln/>
          <a:effectLst>
            <a:outerShdw blurRad="101600" dist="38100" dir="8100000" algn="bl" rotWithShape="0">
              <a:srgbClr val="000000">
                <a:alpha val="10000"/>
              </a:srgbClr>
            </a:outerShdw>
          </a:effectLst>
        </p:spPr>
        <p:txBody>
          <a:bodyPr/>
          <a:lstStyle/>
          <a:p>
            <a:endParaRPr lang="en-US"/>
          </a:p>
        </p:txBody>
      </p:sp>
      <p:sp>
        <p:nvSpPr>
          <p:cNvPr id="20" name="Shape 15"/>
          <p:cNvSpPr/>
          <p:nvPr/>
        </p:nvSpPr>
        <p:spPr>
          <a:xfrm>
            <a:off x="4663440" y="3374136"/>
            <a:ext cx="91440" cy="658368"/>
          </a:xfrm>
          <a:prstGeom prst="rect">
            <a:avLst/>
          </a:prstGeom>
          <a:solidFill>
            <a:srgbClr val="005A43"/>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4828032" y="3520440"/>
            <a:ext cx="347472" cy="347472"/>
          </a:xfrm>
          <a:prstGeom prst="rect">
            <a:avLst/>
          </a:prstGeom>
        </p:spPr>
      </p:pic>
      <p:sp>
        <p:nvSpPr>
          <p:cNvPr id="22" name="Text 16"/>
          <p:cNvSpPr/>
          <p:nvPr/>
        </p:nvSpPr>
        <p:spPr>
          <a:xfrm>
            <a:off x="5285232" y="3538728"/>
            <a:ext cx="3383280" cy="329184"/>
          </a:xfrm>
          <a:prstGeom prst="rect">
            <a:avLst/>
          </a:prstGeom>
          <a:noFill/>
          <a:ln/>
        </p:spPr>
        <p:txBody>
          <a:bodyPr wrap="square" lIns="0" tIns="0" rIns="0" bIns="0" rtlCol="0" anchor="ctr"/>
          <a:lstStyle/>
          <a:p>
            <a:pPr marL="0" indent="0" algn="l">
              <a:buNone/>
            </a:pPr>
            <a:r>
              <a:rPr lang="en-US" sz="1200" dirty="0">
                <a:solidFill>
                  <a:srgbClr val="1A2E26"/>
                </a:solidFill>
              </a:rPr>
              <a:t>Assess inventory turnover efficiency</a:t>
            </a:r>
            <a:endParaRPr lang="en-US" sz="1200" dirty="0"/>
          </a:p>
        </p:txBody>
      </p:sp>
      <p:sp>
        <p:nvSpPr>
          <p:cNvPr id="23" name="Shape 17"/>
          <p:cNvSpPr/>
          <p:nvPr/>
        </p:nvSpPr>
        <p:spPr>
          <a:xfrm>
            <a:off x="4663440" y="4178808"/>
            <a:ext cx="4114800" cy="658368"/>
          </a:xfrm>
          <a:prstGeom prst="rect">
            <a:avLst/>
          </a:prstGeom>
          <a:solidFill>
            <a:srgbClr val="F4F6F4"/>
          </a:solidFill>
          <a:ln/>
          <a:effectLst>
            <a:outerShdw blurRad="101600" dist="38100" dir="8100000" algn="bl" rotWithShape="0">
              <a:srgbClr val="000000">
                <a:alpha val="10000"/>
              </a:srgbClr>
            </a:outerShdw>
          </a:effectLst>
        </p:spPr>
        <p:txBody>
          <a:bodyPr/>
          <a:lstStyle/>
          <a:p>
            <a:endParaRPr lang="en-US"/>
          </a:p>
        </p:txBody>
      </p:sp>
      <p:sp>
        <p:nvSpPr>
          <p:cNvPr id="24" name="Shape 18"/>
          <p:cNvSpPr/>
          <p:nvPr/>
        </p:nvSpPr>
        <p:spPr>
          <a:xfrm>
            <a:off x="4663440" y="4178808"/>
            <a:ext cx="91440" cy="658368"/>
          </a:xfrm>
          <a:prstGeom prst="rect">
            <a:avLst/>
          </a:prstGeom>
          <a:solidFill>
            <a:srgbClr val="005A43"/>
          </a:solidFill>
          <a:ln/>
        </p:spPr>
        <p:txBody>
          <a:bodyPr/>
          <a:lstStyle/>
          <a:p>
            <a:endParaRPr lang="en-US"/>
          </a:p>
        </p:txBody>
      </p:sp>
      <p:pic>
        <p:nvPicPr>
          <p:cNvPr id="25" name="Image 4" descr="preencoded.png"/>
          <p:cNvPicPr>
            <a:picLocks noChangeAspect="1"/>
          </p:cNvPicPr>
          <p:nvPr/>
        </p:nvPicPr>
        <p:blipFill>
          <a:blip r:embed="rId7"/>
          <a:stretch>
            <a:fillRect/>
          </a:stretch>
        </p:blipFill>
        <p:spPr>
          <a:xfrm>
            <a:off x="4828032" y="4325112"/>
            <a:ext cx="347472" cy="347472"/>
          </a:xfrm>
          <a:prstGeom prst="rect">
            <a:avLst/>
          </a:prstGeom>
        </p:spPr>
      </p:pic>
      <p:sp>
        <p:nvSpPr>
          <p:cNvPr id="26" name="Text 19"/>
          <p:cNvSpPr/>
          <p:nvPr/>
        </p:nvSpPr>
        <p:spPr>
          <a:xfrm>
            <a:off x="5285232" y="4343400"/>
            <a:ext cx="3383280" cy="329184"/>
          </a:xfrm>
          <a:prstGeom prst="rect">
            <a:avLst/>
          </a:prstGeom>
          <a:noFill/>
          <a:ln/>
        </p:spPr>
        <p:txBody>
          <a:bodyPr wrap="square" lIns="0" tIns="0" rIns="0" bIns="0" rtlCol="0" anchor="ctr"/>
          <a:lstStyle/>
          <a:p>
            <a:pPr marL="0" indent="0" algn="l">
              <a:buNone/>
            </a:pPr>
            <a:r>
              <a:rPr lang="en-US" sz="1200" dirty="0">
                <a:solidFill>
                  <a:srgbClr val="1A2E26"/>
                </a:solidFill>
              </a:rPr>
              <a:t>Compare high vs low vendor profitability</a:t>
            </a:r>
            <a:endParaRPr lang="en-US" sz="1200" dirty="0"/>
          </a:p>
        </p:txBody>
      </p:sp>
      <p:sp>
        <p:nvSpPr>
          <p:cNvPr id="27" name="Shape 20"/>
          <p:cNvSpPr/>
          <p:nvPr/>
        </p:nvSpPr>
        <p:spPr>
          <a:xfrm>
            <a:off x="0" y="4754880"/>
            <a:ext cx="9144000" cy="384048"/>
          </a:xfrm>
          <a:prstGeom prst="rect">
            <a:avLst/>
          </a:prstGeom>
          <a:solidFill>
            <a:srgbClr val="1A2E26"/>
          </a:solidFill>
          <a:ln/>
        </p:spPr>
        <p:txBody>
          <a:bodyPr/>
          <a:lstStyle/>
          <a:p>
            <a:endParaRPr lang="en-US"/>
          </a:p>
        </p:txBody>
      </p:sp>
      <p:sp>
        <p:nvSpPr>
          <p:cNvPr id="28" name="Text 21"/>
          <p:cNvSpPr/>
          <p:nvPr/>
        </p:nvSpPr>
        <p:spPr>
          <a:xfrm>
            <a:off x="411480" y="4754880"/>
            <a:ext cx="8321040" cy="384048"/>
          </a:xfrm>
          <a:prstGeom prst="rect">
            <a:avLst/>
          </a:prstGeom>
          <a:noFill/>
          <a:ln/>
        </p:spPr>
        <p:txBody>
          <a:bodyPr wrap="square" lIns="0" tIns="0" rIns="0" bIns="0" rtlCol="0" anchor="ctr"/>
          <a:lstStyle/>
          <a:p>
            <a:pPr marL="0" indent="0" algn="l">
              <a:buNone/>
            </a:pPr>
            <a:r>
              <a:rPr lang="en-US" sz="1100" b="1" dirty="0">
                <a:solidFill>
                  <a:srgbClr val="4CAF7D"/>
                </a:solidFill>
              </a:rPr>
              <a:t>Dataset: 10,692 raw records  →  8,564 after cleaning  |  Tools: Python · SQL · Power BI</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5A43"/>
          </a:solidFill>
          <a:ln/>
        </p:spPr>
        <p:txBody>
          <a:bodyPr/>
          <a:lstStyle/>
          <a:p>
            <a:endParaRPr lang="en-US"/>
          </a:p>
        </p:txBody>
      </p:sp>
      <p:sp>
        <p:nvSpPr>
          <p:cNvPr id="3" name="Text 1"/>
          <p:cNvSpPr/>
          <p:nvPr/>
        </p:nvSpPr>
        <p:spPr>
          <a:xfrm>
            <a:off x="411480" y="0"/>
            <a:ext cx="6858000" cy="749808"/>
          </a:xfrm>
          <a:prstGeom prst="rect">
            <a:avLst/>
          </a:prstGeom>
          <a:noFill/>
          <a:ln/>
        </p:spPr>
        <p:txBody>
          <a:bodyPr wrap="square" lIns="0" tIns="0" rIns="0" bIns="0" rtlCol="0" anchor="ctr"/>
          <a:lstStyle/>
          <a:p>
            <a:pPr marL="0" indent="0" algn="l">
              <a:buNone/>
            </a:pPr>
            <a:r>
              <a:rPr lang="en-US" sz="2500" b="1" dirty="0">
                <a:solidFill>
                  <a:srgbClr val="FFFFFF"/>
                </a:solidFill>
              </a:rPr>
              <a:t>Dataset &amp; Tools</a:t>
            </a:r>
            <a:endParaRPr lang="en-US" sz="2500" dirty="0"/>
          </a:p>
        </p:txBody>
      </p:sp>
      <p:sp>
        <p:nvSpPr>
          <p:cNvPr id="4" name="Text 2"/>
          <p:cNvSpPr/>
          <p:nvPr/>
        </p:nvSpPr>
        <p:spPr>
          <a:xfrm>
            <a:off x="6583680" y="0"/>
            <a:ext cx="2423160" cy="749808"/>
          </a:xfrm>
          <a:prstGeom prst="rect">
            <a:avLst/>
          </a:prstGeom>
          <a:noFill/>
          <a:ln/>
        </p:spPr>
        <p:txBody>
          <a:bodyPr wrap="square" lIns="0" tIns="0" rIns="0" bIns="0" rtlCol="0" anchor="ctr"/>
          <a:lstStyle/>
          <a:p>
            <a:pPr marL="0" indent="0" algn="r">
              <a:buNone/>
            </a:pPr>
            <a:r>
              <a:rPr lang="en-US" sz="800" kern="0" spc="150" dirty="0">
                <a:solidFill>
                  <a:srgbClr val="C8E6D0"/>
                </a:solidFill>
              </a:rPr>
              <a:t>W H A T  I  B U I L T</a:t>
            </a:r>
            <a:endParaRPr lang="en-US" sz="800" dirty="0"/>
          </a:p>
        </p:txBody>
      </p:sp>
      <p:sp>
        <p:nvSpPr>
          <p:cNvPr id="5" name="Shape 3"/>
          <p:cNvSpPr/>
          <p:nvPr/>
        </p:nvSpPr>
        <p:spPr>
          <a:xfrm>
            <a:off x="347472" y="960120"/>
            <a:ext cx="2697480" cy="1417320"/>
          </a:xfrm>
          <a:prstGeom prst="rect">
            <a:avLst/>
          </a:prstGeom>
          <a:solidFill>
            <a:srgbClr val="005A43"/>
          </a:solidFill>
          <a:ln/>
          <a:effectLst>
            <a:outerShdw blurRad="101600" dist="38100" dir="8100000" algn="bl" rotWithShape="0">
              <a:srgbClr val="000000">
                <a:alpha val="10000"/>
              </a:srgbClr>
            </a:outerShdw>
          </a:effectLst>
        </p:spPr>
        <p:txBody>
          <a:bodyPr/>
          <a:lstStyle/>
          <a:p>
            <a:endParaRPr lang="en-US"/>
          </a:p>
        </p:txBody>
      </p:sp>
      <p:sp>
        <p:nvSpPr>
          <p:cNvPr id="6" name="Text 4"/>
          <p:cNvSpPr/>
          <p:nvPr/>
        </p:nvSpPr>
        <p:spPr>
          <a:xfrm>
            <a:off x="347472" y="987552"/>
            <a:ext cx="2697480" cy="749808"/>
          </a:xfrm>
          <a:prstGeom prst="rect">
            <a:avLst/>
          </a:prstGeom>
          <a:noFill/>
          <a:ln/>
        </p:spPr>
        <p:txBody>
          <a:bodyPr wrap="square" lIns="0" tIns="0" rIns="0" bIns="0" rtlCol="0" anchor="ctr"/>
          <a:lstStyle/>
          <a:p>
            <a:pPr marL="0" indent="0" algn="ctr">
              <a:buNone/>
            </a:pPr>
            <a:r>
              <a:rPr lang="en-US" sz="3400" b="1" dirty="0">
                <a:solidFill>
                  <a:srgbClr val="FFFFFF"/>
                </a:solidFill>
              </a:rPr>
              <a:t>8,564</a:t>
            </a:r>
            <a:endParaRPr lang="en-US" sz="3400" dirty="0"/>
          </a:p>
        </p:txBody>
      </p:sp>
      <p:sp>
        <p:nvSpPr>
          <p:cNvPr id="7" name="Text 5"/>
          <p:cNvSpPr/>
          <p:nvPr/>
        </p:nvSpPr>
        <p:spPr>
          <a:xfrm>
            <a:off x="347472" y="1719072"/>
            <a:ext cx="2697480" cy="274320"/>
          </a:xfrm>
          <a:prstGeom prst="rect">
            <a:avLst/>
          </a:prstGeom>
          <a:noFill/>
          <a:ln/>
        </p:spPr>
        <p:txBody>
          <a:bodyPr wrap="square" lIns="0" tIns="0" rIns="0" bIns="0" rtlCol="0" anchor="ctr"/>
          <a:lstStyle/>
          <a:p>
            <a:pPr marL="0" indent="0" algn="ctr">
              <a:buNone/>
            </a:pPr>
            <a:r>
              <a:rPr lang="en-US" sz="1100" b="1" dirty="0">
                <a:solidFill>
                  <a:srgbClr val="FFFFFF"/>
                </a:solidFill>
              </a:rPr>
              <a:t>Records Analyzed</a:t>
            </a:r>
            <a:endParaRPr lang="en-US" sz="1100" dirty="0"/>
          </a:p>
        </p:txBody>
      </p:sp>
      <p:sp>
        <p:nvSpPr>
          <p:cNvPr id="8" name="Text 6"/>
          <p:cNvSpPr/>
          <p:nvPr/>
        </p:nvSpPr>
        <p:spPr>
          <a:xfrm>
            <a:off x="347472" y="1993392"/>
            <a:ext cx="2697480" cy="256032"/>
          </a:xfrm>
          <a:prstGeom prst="rect">
            <a:avLst/>
          </a:prstGeom>
          <a:noFill/>
          <a:ln/>
        </p:spPr>
        <p:txBody>
          <a:bodyPr wrap="square" lIns="0" tIns="0" rIns="0" bIns="0" rtlCol="0" anchor="ctr"/>
          <a:lstStyle/>
          <a:p>
            <a:pPr marL="0" indent="0" algn="ctr">
              <a:buNone/>
            </a:pPr>
            <a:r>
              <a:rPr lang="en-US" sz="950" dirty="0">
                <a:solidFill>
                  <a:srgbClr val="FFFFFF">
                    <a:alpha val="75000"/>
                  </a:srgbClr>
                </a:solidFill>
              </a:rPr>
              <a:t>10,692 raw → cleaned</a:t>
            </a:r>
            <a:endParaRPr lang="en-US" sz="950" dirty="0"/>
          </a:p>
        </p:txBody>
      </p:sp>
      <p:sp>
        <p:nvSpPr>
          <p:cNvPr id="9" name="Shape 7"/>
          <p:cNvSpPr/>
          <p:nvPr/>
        </p:nvSpPr>
        <p:spPr>
          <a:xfrm>
            <a:off x="3273552" y="960120"/>
            <a:ext cx="2697480" cy="1417320"/>
          </a:xfrm>
          <a:prstGeom prst="rect">
            <a:avLst/>
          </a:prstGeom>
          <a:solidFill>
            <a:srgbClr val="F4F6F4"/>
          </a:solidFill>
          <a:ln/>
          <a:effectLst>
            <a:outerShdw blurRad="101600" dist="38100" dir="8100000" algn="bl" rotWithShape="0">
              <a:srgbClr val="000000">
                <a:alpha val="10000"/>
              </a:srgbClr>
            </a:outerShdw>
          </a:effectLst>
        </p:spPr>
        <p:txBody>
          <a:bodyPr/>
          <a:lstStyle/>
          <a:p>
            <a:endParaRPr lang="en-US"/>
          </a:p>
        </p:txBody>
      </p:sp>
      <p:sp>
        <p:nvSpPr>
          <p:cNvPr id="10" name="Text 8"/>
          <p:cNvSpPr/>
          <p:nvPr/>
        </p:nvSpPr>
        <p:spPr>
          <a:xfrm>
            <a:off x="3273552" y="987552"/>
            <a:ext cx="2697480" cy="749808"/>
          </a:xfrm>
          <a:prstGeom prst="rect">
            <a:avLst/>
          </a:prstGeom>
          <a:noFill/>
          <a:ln/>
        </p:spPr>
        <p:txBody>
          <a:bodyPr wrap="square" lIns="0" tIns="0" rIns="0" bIns="0" rtlCol="0" anchor="ctr"/>
          <a:lstStyle/>
          <a:p>
            <a:pPr marL="0" indent="0" algn="ctr">
              <a:buNone/>
            </a:pPr>
            <a:r>
              <a:rPr lang="en-US" sz="3400" b="1" dirty="0">
                <a:solidFill>
                  <a:srgbClr val="1A2E26"/>
                </a:solidFill>
              </a:rPr>
              <a:t>18</a:t>
            </a:r>
            <a:endParaRPr lang="en-US" sz="3400" dirty="0"/>
          </a:p>
        </p:txBody>
      </p:sp>
      <p:sp>
        <p:nvSpPr>
          <p:cNvPr id="11" name="Text 9"/>
          <p:cNvSpPr/>
          <p:nvPr/>
        </p:nvSpPr>
        <p:spPr>
          <a:xfrm>
            <a:off x="3273552" y="1719072"/>
            <a:ext cx="2697480" cy="274320"/>
          </a:xfrm>
          <a:prstGeom prst="rect">
            <a:avLst/>
          </a:prstGeom>
          <a:noFill/>
          <a:ln/>
        </p:spPr>
        <p:txBody>
          <a:bodyPr wrap="square" lIns="0" tIns="0" rIns="0" bIns="0" rtlCol="0" anchor="ctr"/>
          <a:lstStyle/>
          <a:p>
            <a:pPr marL="0" indent="0" algn="ctr">
              <a:buNone/>
            </a:pPr>
            <a:r>
              <a:rPr lang="en-US" sz="1100" b="1" dirty="0">
                <a:solidFill>
                  <a:srgbClr val="1A2E26"/>
                </a:solidFill>
              </a:rPr>
              <a:t>Feature Columns</a:t>
            </a:r>
            <a:endParaRPr lang="en-US" sz="1100" dirty="0"/>
          </a:p>
        </p:txBody>
      </p:sp>
      <p:sp>
        <p:nvSpPr>
          <p:cNvPr id="12" name="Text 10"/>
          <p:cNvSpPr/>
          <p:nvPr/>
        </p:nvSpPr>
        <p:spPr>
          <a:xfrm>
            <a:off x="3273552" y="1993392"/>
            <a:ext cx="2697480" cy="256032"/>
          </a:xfrm>
          <a:prstGeom prst="rect">
            <a:avLst/>
          </a:prstGeom>
          <a:noFill/>
          <a:ln/>
        </p:spPr>
        <p:txBody>
          <a:bodyPr wrap="square" lIns="0" tIns="0" rIns="0" bIns="0" rtlCol="0" anchor="ctr"/>
          <a:lstStyle/>
          <a:p>
            <a:pPr marL="0" indent="0" algn="ctr">
              <a:buNone/>
            </a:pPr>
            <a:r>
              <a:rPr lang="en-US" sz="950" dirty="0">
                <a:solidFill>
                  <a:srgbClr val="1A2E26">
                    <a:alpha val="75000"/>
                  </a:srgbClr>
                </a:solidFill>
              </a:rPr>
              <a:t>incl. derived KPIs</a:t>
            </a:r>
            <a:endParaRPr lang="en-US" sz="950" dirty="0"/>
          </a:p>
        </p:txBody>
      </p:sp>
      <p:sp>
        <p:nvSpPr>
          <p:cNvPr id="13" name="Shape 11"/>
          <p:cNvSpPr/>
          <p:nvPr/>
        </p:nvSpPr>
        <p:spPr>
          <a:xfrm>
            <a:off x="6199632" y="960120"/>
            <a:ext cx="2697480" cy="1417320"/>
          </a:xfrm>
          <a:prstGeom prst="rect">
            <a:avLst/>
          </a:prstGeom>
          <a:solidFill>
            <a:srgbClr val="C9A84C"/>
          </a:solidFill>
          <a:ln/>
          <a:effectLst>
            <a:outerShdw blurRad="101600" dist="38100" dir="8100000" algn="bl" rotWithShape="0">
              <a:srgbClr val="000000">
                <a:alpha val="10000"/>
              </a:srgbClr>
            </a:outerShdw>
          </a:effectLst>
        </p:spPr>
        <p:txBody>
          <a:bodyPr/>
          <a:lstStyle/>
          <a:p>
            <a:endParaRPr lang="en-US"/>
          </a:p>
        </p:txBody>
      </p:sp>
      <p:sp>
        <p:nvSpPr>
          <p:cNvPr id="14" name="Text 12"/>
          <p:cNvSpPr/>
          <p:nvPr/>
        </p:nvSpPr>
        <p:spPr>
          <a:xfrm>
            <a:off x="6199632" y="987552"/>
            <a:ext cx="2697480" cy="749808"/>
          </a:xfrm>
          <a:prstGeom prst="rect">
            <a:avLst/>
          </a:prstGeom>
          <a:noFill/>
          <a:ln/>
        </p:spPr>
        <p:txBody>
          <a:bodyPr wrap="square" lIns="0" tIns="0" rIns="0" bIns="0" rtlCol="0" anchor="ctr"/>
          <a:lstStyle/>
          <a:p>
            <a:pPr marL="0" indent="0" algn="ctr">
              <a:buNone/>
            </a:pPr>
            <a:r>
              <a:rPr lang="en-US" sz="3400" b="1" dirty="0">
                <a:solidFill>
                  <a:srgbClr val="1A2E26"/>
                </a:solidFill>
              </a:rPr>
              <a:t>119</a:t>
            </a:r>
            <a:endParaRPr lang="en-US" sz="3400" dirty="0"/>
          </a:p>
        </p:txBody>
      </p:sp>
      <p:sp>
        <p:nvSpPr>
          <p:cNvPr id="15" name="Text 13"/>
          <p:cNvSpPr/>
          <p:nvPr/>
        </p:nvSpPr>
        <p:spPr>
          <a:xfrm>
            <a:off x="6199632" y="1719072"/>
            <a:ext cx="2697480" cy="274320"/>
          </a:xfrm>
          <a:prstGeom prst="rect">
            <a:avLst/>
          </a:prstGeom>
          <a:noFill/>
          <a:ln/>
        </p:spPr>
        <p:txBody>
          <a:bodyPr wrap="square" lIns="0" tIns="0" rIns="0" bIns="0" rtlCol="0" anchor="ctr"/>
          <a:lstStyle/>
          <a:p>
            <a:pPr marL="0" indent="0" algn="ctr">
              <a:buNone/>
            </a:pPr>
            <a:r>
              <a:rPr lang="en-US" sz="1100" b="1" dirty="0">
                <a:solidFill>
                  <a:srgbClr val="1A2E26"/>
                </a:solidFill>
              </a:rPr>
              <a:t>Vendors Evaluated</a:t>
            </a:r>
            <a:endParaRPr lang="en-US" sz="1100" dirty="0"/>
          </a:p>
        </p:txBody>
      </p:sp>
      <p:sp>
        <p:nvSpPr>
          <p:cNvPr id="16" name="Text 14"/>
          <p:cNvSpPr/>
          <p:nvPr/>
        </p:nvSpPr>
        <p:spPr>
          <a:xfrm>
            <a:off x="6199632" y="1993392"/>
            <a:ext cx="2697480" cy="256032"/>
          </a:xfrm>
          <a:prstGeom prst="rect">
            <a:avLst/>
          </a:prstGeom>
          <a:noFill/>
          <a:ln/>
        </p:spPr>
        <p:txBody>
          <a:bodyPr wrap="square" lIns="0" tIns="0" rIns="0" bIns="0" rtlCol="0" anchor="ctr"/>
          <a:lstStyle/>
          <a:p>
            <a:pPr marL="0" indent="0" algn="ctr">
              <a:buNone/>
            </a:pPr>
            <a:r>
              <a:rPr lang="en-US" sz="950" dirty="0">
                <a:solidFill>
                  <a:srgbClr val="1A2E26">
                    <a:alpha val="75000"/>
                  </a:srgbClr>
                </a:solidFill>
              </a:rPr>
              <a:t>unique vendors in data</a:t>
            </a:r>
            <a:endParaRPr lang="en-US" sz="950" dirty="0"/>
          </a:p>
        </p:txBody>
      </p:sp>
      <p:sp>
        <p:nvSpPr>
          <p:cNvPr id="17" name="Text 15"/>
          <p:cNvSpPr/>
          <p:nvPr/>
        </p:nvSpPr>
        <p:spPr>
          <a:xfrm>
            <a:off x="411480" y="2606040"/>
            <a:ext cx="8229600" cy="347472"/>
          </a:xfrm>
          <a:prstGeom prst="rect">
            <a:avLst/>
          </a:prstGeom>
          <a:noFill/>
          <a:ln/>
        </p:spPr>
        <p:txBody>
          <a:bodyPr wrap="square" lIns="0" tIns="0" rIns="0" bIns="0" rtlCol="0" anchor="ctr"/>
          <a:lstStyle/>
          <a:p>
            <a:pPr marL="0" indent="0" algn="l">
              <a:buNone/>
            </a:pPr>
            <a:r>
              <a:rPr lang="en-US" sz="1500" b="1" dirty="0">
                <a:solidFill>
                  <a:srgbClr val="1A2E26"/>
                </a:solidFill>
              </a:rPr>
              <a:t>Tech Stack</a:t>
            </a:r>
            <a:endParaRPr lang="en-US" sz="1500" dirty="0"/>
          </a:p>
        </p:txBody>
      </p:sp>
      <p:sp>
        <p:nvSpPr>
          <p:cNvPr id="18" name="Shape 16"/>
          <p:cNvSpPr/>
          <p:nvPr/>
        </p:nvSpPr>
        <p:spPr>
          <a:xfrm>
            <a:off x="347472" y="3035808"/>
            <a:ext cx="2697480" cy="1874520"/>
          </a:xfrm>
          <a:prstGeom prst="rect">
            <a:avLst/>
          </a:prstGeom>
          <a:solidFill>
            <a:srgbClr val="F4F6F4"/>
          </a:solidFill>
          <a:ln/>
          <a:effectLst>
            <a:outerShdw blurRad="101600" dist="38100" dir="8100000" algn="bl" rotWithShape="0">
              <a:srgbClr val="000000">
                <a:alpha val="10000"/>
              </a:srgbClr>
            </a:outerShdw>
          </a:effectLst>
        </p:spPr>
        <p:txBody>
          <a:bodyPr/>
          <a:lstStyle/>
          <a:p>
            <a:endParaRPr lang="en-US"/>
          </a:p>
        </p:txBody>
      </p:sp>
      <p:sp>
        <p:nvSpPr>
          <p:cNvPr id="19" name="Shape 17"/>
          <p:cNvSpPr/>
          <p:nvPr/>
        </p:nvSpPr>
        <p:spPr>
          <a:xfrm>
            <a:off x="347472" y="3035808"/>
            <a:ext cx="2697480" cy="54864"/>
          </a:xfrm>
          <a:prstGeom prst="rect">
            <a:avLst/>
          </a:prstGeom>
          <a:solidFill>
            <a:srgbClr val="005A43"/>
          </a:solidFill>
          <a:ln/>
        </p:spPr>
        <p:txBody>
          <a:bodyPr/>
          <a:lstStyle/>
          <a:p>
            <a:endParaRPr lang="en-US"/>
          </a:p>
        </p:txBody>
      </p:sp>
      <p:sp>
        <p:nvSpPr>
          <p:cNvPr id="20" name="Text 18"/>
          <p:cNvSpPr/>
          <p:nvPr/>
        </p:nvSpPr>
        <p:spPr>
          <a:xfrm>
            <a:off x="347472" y="3127248"/>
            <a:ext cx="2697480" cy="347472"/>
          </a:xfrm>
          <a:prstGeom prst="rect">
            <a:avLst/>
          </a:prstGeom>
          <a:noFill/>
          <a:ln/>
        </p:spPr>
        <p:txBody>
          <a:bodyPr wrap="square" lIns="0" tIns="0" rIns="0" bIns="0" rtlCol="0" anchor="ctr"/>
          <a:lstStyle/>
          <a:p>
            <a:pPr marL="0" indent="0" algn="ctr">
              <a:buNone/>
            </a:pPr>
            <a:r>
              <a:rPr lang="en-US" sz="1400" b="1" dirty="0">
                <a:solidFill>
                  <a:srgbClr val="005A43"/>
                </a:solidFill>
              </a:rPr>
              <a:t>Python</a:t>
            </a:r>
            <a:endParaRPr lang="en-US" sz="1400" dirty="0"/>
          </a:p>
        </p:txBody>
      </p:sp>
      <p:sp>
        <p:nvSpPr>
          <p:cNvPr id="21" name="Shape 19"/>
          <p:cNvSpPr/>
          <p:nvPr/>
        </p:nvSpPr>
        <p:spPr>
          <a:xfrm>
            <a:off x="713232" y="3493008"/>
            <a:ext cx="1965960" cy="27432"/>
          </a:xfrm>
          <a:prstGeom prst="rect">
            <a:avLst/>
          </a:prstGeom>
          <a:solidFill>
            <a:srgbClr val="4CAF7D"/>
          </a:solidFill>
          <a:ln/>
        </p:spPr>
        <p:txBody>
          <a:bodyPr/>
          <a:lstStyle/>
          <a:p>
            <a:endParaRPr lang="en-US"/>
          </a:p>
        </p:txBody>
      </p:sp>
      <p:sp>
        <p:nvSpPr>
          <p:cNvPr id="22" name="Text 20"/>
          <p:cNvSpPr/>
          <p:nvPr/>
        </p:nvSpPr>
        <p:spPr>
          <a:xfrm>
            <a:off x="347472" y="3547872"/>
            <a:ext cx="2697480" cy="502920"/>
          </a:xfrm>
          <a:prstGeom prst="rect">
            <a:avLst/>
          </a:prstGeom>
          <a:noFill/>
          <a:ln/>
        </p:spPr>
        <p:txBody>
          <a:bodyPr wrap="square" lIns="38100" tIns="38100" rIns="38100" bIns="38100" rtlCol="0" anchor="ctr"/>
          <a:lstStyle/>
          <a:p>
            <a:pPr marL="0" indent="0" algn="ctr">
              <a:lnSpc>
                <a:spcPct val="135000"/>
              </a:lnSpc>
              <a:buNone/>
            </a:pPr>
            <a:r>
              <a:rPr lang="en-US" sz="1100" dirty="0">
                <a:solidFill>
                  <a:srgbClr val="1A2E26"/>
                </a:solidFill>
              </a:rPr>
              <a:t>Pandas · NumPy · Scipy</a:t>
            </a:r>
            <a:endParaRPr lang="en-US" sz="1100" dirty="0"/>
          </a:p>
          <a:p>
            <a:pPr marL="0" indent="0" algn="ctr">
              <a:lnSpc>
                <a:spcPct val="135000"/>
              </a:lnSpc>
              <a:buNone/>
            </a:pPr>
            <a:r>
              <a:rPr lang="en-US" sz="1100" dirty="0">
                <a:solidFill>
                  <a:srgbClr val="1A2E26"/>
                </a:solidFill>
              </a:rPr>
              <a:t>Matplotlib · Seaborn</a:t>
            </a:r>
            <a:endParaRPr lang="en-US" sz="1100" dirty="0"/>
          </a:p>
        </p:txBody>
      </p:sp>
      <p:sp>
        <p:nvSpPr>
          <p:cNvPr id="23" name="Text 21"/>
          <p:cNvSpPr/>
          <p:nvPr/>
        </p:nvSpPr>
        <p:spPr>
          <a:xfrm>
            <a:off x="347472" y="4078224"/>
            <a:ext cx="2697480" cy="713232"/>
          </a:xfrm>
          <a:prstGeom prst="rect">
            <a:avLst/>
          </a:prstGeom>
          <a:noFill/>
          <a:ln/>
        </p:spPr>
        <p:txBody>
          <a:bodyPr wrap="square" lIns="38100" tIns="38100" rIns="38100" bIns="38100" rtlCol="0" anchor="ctr"/>
          <a:lstStyle/>
          <a:p>
            <a:pPr marL="0" indent="0" algn="ctr">
              <a:lnSpc>
                <a:spcPct val="130000"/>
              </a:lnSpc>
              <a:buNone/>
            </a:pPr>
            <a:r>
              <a:rPr lang="en-US" sz="1050" dirty="0">
                <a:solidFill>
                  <a:srgbClr val="6B7B74"/>
                </a:solidFill>
              </a:rPr>
              <a:t>Data cleaning, EDA, KPI engineering, statistical testing</a:t>
            </a:r>
            <a:endParaRPr lang="en-US" sz="1050" dirty="0"/>
          </a:p>
        </p:txBody>
      </p:sp>
      <p:sp>
        <p:nvSpPr>
          <p:cNvPr id="24" name="Shape 22"/>
          <p:cNvSpPr/>
          <p:nvPr/>
        </p:nvSpPr>
        <p:spPr>
          <a:xfrm>
            <a:off x="3273552" y="3035808"/>
            <a:ext cx="2697480" cy="1874520"/>
          </a:xfrm>
          <a:prstGeom prst="rect">
            <a:avLst/>
          </a:prstGeom>
          <a:solidFill>
            <a:srgbClr val="F4F6F4"/>
          </a:solidFill>
          <a:ln/>
          <a:effectLst>
            <a:outerShdw blurRad="101600" dist="38100" dir="8100000" algn="bl" rotWithShape="0">
              <a:srgbClr val="000000">
                <a:alpha val="10000"/>
              </a:srgbClr>
            </a:outerShdw>
          </a:effectLst>
        </p:spPr>
        <p:txBody>
          <a:bodyPr/>
          <a:lstStyle/>
          <a:p>
            <a:endParaRPr lang="en-US"/>
          </a:p>
        </p:txBody>
      </p:sp>
      <p:sp>
        <p:nvSpPr>
          <p:cNvPr id="25" name="Shape 23"/>
          <p:cNvSpPr/>
          <p:nvPr/>
        </p:nvSpPr>
        <p:spPr>
          <a:xfrm>
            <a:off x="3273552" y="3035808"/>
            <a:ext cx="2697480" cy="54864"/>
          </a:xfrm>
          <a:prstGeom prst="rect">
            <a:avLst/>
          </a:prstGeom>
          <a:solidFill>
            <a:srgbClr val="005A43"/>
          </a:solidFill>
          <a:ln/>
        </p:spPr>
        <p:txBody>
          <a:bodyPr/>
          <a:lstStyle/>
          <a:p>
            <a:endParaRPr lang="en-US"/>
          </a:p>
        </p:txBody>
      </p:sp>
      <p:sp>
        <p:nvSpPr>
          <p:cNvPr id="26" name="Text 24"/>
          <p:cNvSpPr/>
          <p:nvPr/>
        </p:nvSpPr>
        <p:spPr>
          <a:xfrm>
            <a:off x="3273552" y="3127248"/>
            <a:ext cx="2697480" cy="347472"/>
          </a:xfrm>
          <a:prstGeom prst="rect">
            <a:avLst/>
          </a:prstGeom>
          <a:noFill/>
          <a:ln/>
        </p:spPr>
        <p:txBody>
          <a:bodyPr wrap="square" lIns="0" tIns="0" rIns="0" bIns="0" rtlCol="0" anchor="ctr"/>
          <a:lstStyle/>
          <a:p>
            <a:pPr marL="0" indent="0" algn="ctr">
              <a:buNone/>
            </a:pPr>
            <a:r>
              <a:rPr lang="en-US" sz="1400" b="1" dirty="0">
                <a:solidFill>
                  <a:srgbClr val="005A43"/>
                </a:solidFill>
              </a:rPr>
              <a:t>SQL</a:t>
            </a:r>
            <a:endParaRPr lang="en-US" sz="1400" dirty="0"/>
          </a:p>
        </p:txBody>
      </p:sp>
      <p:sp>
        <p:nvSpPr>
          <p:cNvPr id="27" name="Shape 25"/>
          <p:cNvSpPr/>
          <p:nvPr/>
        </p:nvSpPr>
        <p:spPr>
          <a:xfrm>
            <a:off x="3639312" y="3493008"/>
            <a:ext cx="1965960" cy="27432"/>
          </a:xfrm>
          <a:prstGeom prst="rect">
            <a:avLst/>
          </a:prstGeom>
          <a:solidFill>
            <a:srgbClr val="4CAF7D"/>
          </a:solidFill>
          <a:ln/>
        </p:spPr>
        <p:txBody>
          <a:bodyPr/>
          <a:lstStyle/>
          <a:p>
            <a:endParaRPr lang="en-US"/>
          </a:p>
        </p:txBody>
      </p:sp>
      <p:sp>
        <p:nvSpPr>
          <p:cNvPr id="28" name="Text 26"/>
          <p:cNvSpPr/>
          <p:nvPr/>
        </p:nvSpPr>
        <p:spPr>
          <a:xfrm>
            <a:off x="3273552" y="3547872"/>
            <a:ext cx="2697480" cy="502920"/>
          </a:xfrm>
          <a:prstGeom prst="rect">
            <a:avLst/>
          </a:prstGeom>
          <a:noFill/>
          <a:ln/>
        </p:spPr>
        <p:txBody>
          <a:bodyPr wrap="square" lIns="38100" tIns="38100" rIns="38100" bIns="38100" rtlCol="0" anchor="ctr"/>
          <a:lstStyle/>
          <a:p>
            <a:pPr marL="0" indent="0" algn="ctr">
              <a:lnSpc>
                <a:spcPct val="135000"/>
              </a:lnSpc>
              <a:buNone/>
            </a:pPr>
            <a:r>
              <a:rPr lang="en-US" sz="1100" dirty="0">
                <a:solidFill>
                  <a:srgbClr val="1A2E26"/>
                </a:solidFill>
              </a:rPr>
              <a:t>SQLite via Python</a:t>
            </a:r>
            <a:endParaRPr lang="en-US" sz="1100" dirty="0"/>
          </a:p>
        </p:txBody>
      </p:sp>
      <p:sp>
        <p:nvSpPr>
          <p:cNvPr id="29" name="Text 27"/>
          <p:cNvSpPr/>
          <p:nvPr/>
        </p:nvSpPr>
        <p:spPr>
          <a:xfrm>
            <a:off x="3273552" y="4078224"/>
            <a:ext cx="2697480" cy="713232"/>
          </a:xfrm>
          <a:prstGeom prst="rect">
            <a:avLst/>
          </a:prstGeom>
          <a:noFill/>
          <a:ln/>
        </p:spPr>
        <p:txBody>
          <a:bodyPr wrap="square" lIns="38100" tIns="38100" rIns="38100" bIns="38100" rtlCol="0" anchor="ctr"/>
          <a:lstStyle/>
          <a:p>
            <a:pPr marL="0" indent="0" algn="ctr">
              <a:lnSpc>
                <a:spcPct val="130000"/>
              </a:lnSpc>
              <a:buNone/>
            </a:pPr>
            <a:r>
              <a:rPr lang="en-US" sz="1050" dirty="0">
                <a:solidFill>
                  <a:srgbClr val="6B7B74"/>
                </a:solidFill>
              </a:rPr>
              <a:t>Data extraction, aggregation, and complex groupings</a:t>
            </a:r>
            <a:endParaRPr lang="en-US" sz="1050" dirty="0"/>
          </a:p>
        </p:txBody>
      </p:sp>
      <p:sp>
        <p:nvSpPr>
          <p:cNvPr id="30" name="Shape 28"/>
          <p:cNvSpPr/>
          <p:nvPr/>
        </p:nvSpPr>
        <p:spPr>
          <a:xfrm>
            <a:off x="6199632" y="3035808"/>
            <a:ext cx="2697480" cy="1874520"/>
          </a:xfrm>
          <a:prstGeom prst="rect">
            <a:avLst/>
          </a:prstGeom>
          <a:solidFill>
            <a:srgbClr val="F4F6F4"/>
          </a:solidFill>
          <a:ln/>
          <a:effectLst>
            <a:outerShdw blurRad="101600" dist="38100" dir="8100000" algn="bl" rotWithShape="0">
              <a:srgbClr val="000000">
                <a:alpha val="10000"/>
              </a:srgbClr>
            </a:outerShdw>
          </a:effectLst>
        </p:spPr>
        <p:txBody>
          <a:bodyPr/>
          <a:lstStyle/>
          <a:p>
            <a:endParaRPr lang="en-US"/>
          </a:p>
        </p:txBody>
      </p:sp>
      <p:sp>
        <p:nvSpPr>
          <p:cNvPr id="31" name="Shape 29"/>
          <p:cNvSpPr/>
          <p:nvPr/>
        </p:nvSpPr>
        <p:spPr>
          <a:xfrm>
            <a:off x="6199632" y="3035808"/>
            <a:ext cx="2697480" cy="54864"/>
          </a:xfrm>
          <a:prstGeom prst="rect">
            <a:avLst/>
          </a:prstGeom>
          <a:solidFill>
            <a:srgbClr val="005A43"/>
          </a:solidFill>
          <a:ln/>
        </p:spPr>
        <p:txBody>
          <a:bodyPr/>
          <a:lstStyle/>
          <a:p>
            <a:endParaRPr lang="en-US"/>
          </a:p>
        </p:txBody>
      </p:sp>
      <p:sp>
        <p:nvSpPr>
          <p:cNvPr id="32" name="Text 30"/>
          <p:cNvSpPr/>
          <p:nvPr/>
        </p:nvSpPr>
        <p:spPr>
          <a:xfrm>
            <a:off x="6199632" y="3127248"/>
            <a:ext cx="2697480" cy="347472"/>
          </a:xfrm>
          <a:prstGeom prst="rect">
            <a:avLst/>
          </a:prstGeom>
          <a:noFill/>
          <a:ln/>
        </p:spPr>
        <p:txBody>
          <a:bodyPr wrap="square" lIns="0" tIns="0" rIns="0" bIns="0" rtlCol="0" anchor="ctr"/>
          <a:lstStyle/>
          <a:p>
            <a:pPr marL="0" indent="0" algn="ctr">
              <a:buNone/>
            </a:pPr>
            <a:r>
              <a:rPr lang="en-US" sz="1400" b="1" dirty="0">
                <a:solidFill>
                  <a:srgbClr val="005A43"/>
                </a:solidFill>
              </a:rPr>
              <a:t>Power BI</a:t>
            </a:r>
            <a:endParaRPr lang="en-US" sz="1400" dirty="0"/>
          </a:p>
        </p:txBody>
      </p:sp>
      <p:sp>
        <p:nvSpPr>
          <p:cNvPr id="33" name="Shape 31"/>
          <p:cNvSpPr/>
          <p:nvPr/>
        </p:nvSpPr>
        <p:spPr>
          <a:xfrm>
            <a:off x="6565392" y="3493008"/>
            <a:ext cx="1965960" cy="27432"/>
          </a:xfrm>
          <a:prstGeom prst="rect">
            <a:avLst/>
          </a:prstGeom>
          <a:solidFill>
            <a:srgbClr val="4CAF7D"/>
          </a:solidFill>
          <a:ln/>
        </p:spPr>
        <p:txBody>
          <a:bodyPr/>
          <a:lstStyle/>
          <a:p>
            <a:endParaRPr lang="en-US"/>
          </a:p>
        </p:txBody>
      </p:sp>
      <p:sp>
        <p:nvSpPr>
          <p:cNvPr id="34" name="Text 32"/>
          <p:cNvSpPr/>
          <p:nvPr/>
        </p:nvSpPr>
        <p:spPr>
          <a:xfrm>
            <a:off x="6199632" y="3547872"/>
            <a:ext cx="2697480" cy="502920"/>
          </a:xfrm>
          <a:prstGeom prst="rect">
            <a:avLst/>
          </a:prstGeom>
          <a:noFill/>
          <a:ln/>
        </p:spPr>
        <p:txBody>
          <a:bodyPr wrap="square" lIns="38100" tIns="38100" rIns="38100" bIns="38100" rtlCol="0" anchor="ctr"/>
          <a:lstStyle/>
          <a:p>
            <a:pPr marL="0" indent="0" algn="ctr">
              <a:lnSpc>
                <a:spcPct val="135000"/>
              </a:lnSpc>
              <a:buNone/>
            </a:pPr>
            <a:r>
              <a:rPr lang="en-US" sz="1100" dirty="0">
                <a:solidFill>
                  <a:srgbClr val="1A2E26"/>
                </a:solidFill>
              </a:rPr>
              <a:t>Interactive dashboard</a:t>
            </a:r>
            <a:endParaRPr lang="en-US" sz="1100" dirty="0"/>
          </a:p>
        </p:txBody>
      </p:sp>
      <p:sp>
        <p:nvSpPr>
          <p:cNvPr id="35" name="Text 33"/>
          <p:cNvSpPr/>
          <p:nvPr/>
        </p:nvSpPr>
        <p:spPr>
          <a:xfrm>
            <a:off x="6199632" y="4078224"/>
            <a:ext cx="2697480" cy="713232"/>
          </a:xfrm>
          <a:prstGeom prst="rect">
            <a:avLst/>
          </a:prstGeom>
          <a:noFill/>
          <a:ln/>
        </p:spPr>
        <p:txBody>
          <a:bodyPr wrap="square" lIns="38100" tIns="38100" rIns="38100" bIns="38100" rtlCol="0" anchor="ctr"/>
          <a:lstStyle/>
          <a:p>
            <a:pPr marL="0" indent="0" algn="ctr">
              <a:lnSpc>
                <a:spcPct val="130000"/>
              </a:lnSpc>
              <a:buNone/>
            </a:pPr>
            <a:r>
              <a:rPr lang="en-US" sz="1050" dirty="0">
                <a:solidFill>
                  <a:srgbClr val="6B7B74"/>
                </a:solidFill>
              </a:rPr>
              <a:t>KPI cards, vendor charts, filters that built for business users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5A43"/>
          </a:solidFill>
          <a:ln/>
        </p:spPr>
        <p:txBody>
          <a:bodyPr/>
          <a:lstStyle/>
          <a:p>
            <a:endParaRPr lang="en-US"/>
          </a:p>
        </p:txBody>
      </p:sp>
      <p:sp>
        <p:nvSpPr>
          <p:cNvPr id="3" name="Text 1"/>
          <p:cNvSpPr/>
          <p:nvPr/>
        </p:nvSpPr>
        <p:spPr>
          <a:xfrm>
            <a:off x="411480" y="0"/>
            <a:ext cx="6858000" cy="749808"/>
          </a:xfrm>
          <a:prstGeom prst="rect">
            <a:avLst/>
          </a:prstGeom>
          <a:noFill/>
          <a:ln/>
        </p:spPr>
        <p:txBody>
          <a:bodyPr wrap="square" lIns="0" tIns="0" rIns="0" bIns="0" rtlCol="0" anchor="ctr"/>
          <a:lstStyle/>
          <a:p>
            <a:pPr marL="0" indent="0" algn="l">
              <a:buNone/>
            </a:pPr>
            <a:r>
              <a:rPr lang="en-US" sz="2500" b="1" dirty="0">
                <a:solidFill>
                  <a:srgbClr val="FFFFFF"/>
                </a:solidFill>
              </a:rPr>
              <a:t>Data Processing &amp; Approach</a:t>
            </a:r>
            <a:endParaRPr lang="en-US" sz="2500" dirty="0"/>
          </a:p>
        </p:txBody>
      </p:sp>
      <p:sp>
        <p:nvSpPr>
          <p:cNvPr id="4" name="Text 2"/>
          <p:cNvSpPr/>
          <p:nvPr/>
        </p:nvSpPr>
        <p:spPr>
          <a:xfrm>
            <a:off x="6583680" y="0"/>
            <a:ext cx="2423160" cy="749808"/>
          </a:xfrm>
          <a:prstGeom prst="rect">
            <a:avLst/>
          </a:prstGeom>
          <a:noFill/>
          <a:ln/>
        </p:spPr>
        <p:txBody>
          <a:bodyPr wrap="square" lIns="0" tIns="0" rIns="0" bIns="0" rtlCol="0" anchor="ctr"/>
          <a:lstStyle/>
          <a:p>
            <a:pPr marL="0" indent="0" algn="r">
              <a:buNone/>
            </a:pPr>
            <a:r>
              <a:rPr lang="en-US" sz="800" kern="0" spc="150" dirty="0">
                <a:solidFill>
                  <a:srgbClr val="C8E6D0"/>
                </a:solidFill>
              </a:rPr>
              <a:t>W H A T  I  B U I L T</a:t>
            </a:r>
            <a:endParaRPr lang="en-US" sz="800" dirty="0"/>
          </a:p>
        </p:txBody>
      </p:sp>
      <p:sp>
        <p:nvSpPr>
          <p:cNvPr id="5" name="Shape 3"/>
          <p:cNvSpPr/>
          <p:nvPr/>
        </p:nvSpPr>
        <p:spPr>
          <a:xfrm>
            <a:off x="347472" y="960120"/>
            <a:ext cx="566928" cy="749808"/>
          </a:xfrm>
          <a:prstGeom prst="rect">
            <a:avLst/>
          </a:prstGeom>
          <a:solidFill>
            <a:srgbClr val="005A43"/>
          </a:solidFill>
          <a:ln/>
        </p:spPr>
        <p:txBody>
          <a:bodyPr/>
          <a:lstStyle/>
          <a:p>
            <a:endParaRPr lang="en-US"/>
          </a:p>
        </p:txBody>
      </p:sp>
      <p:sp>
        <p:nvSpPr>
          <p:cNvPr id="6" name="Text 4"/>
          <p:cNvSpPr/>
          <p:nvPr/>
        </p:nvSpPr>
        <p:spPr>
          <a:xfrm>
            <a:off x="347472" y="960120"/>
            <a:ext cx="566928" cy="749808"/>
          </a:xfrm>
          <a:prstGeom prst="rect">
            <a:avLst/>
          </a:prstGeom>
          <a:noFill/>
          <a:ln/>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7" name="Shape 5"/>
          <p:cNvSpPr/>
          <p:nvPr/>
        </p:nvSpPr>
        <p:spPr>
          <a:xfrm>
            <a:off x="1005840" y="960120"/>
            <a:ext cx="7772400" cy="749808"/>
          </a:xfrm>
          <a:prstGeom prst="rect">
            <a:avLst/>
          </a:prstGeom>
          <a:solidFill>
            <a:srgbClr val="F4F6F4"/>
          </a:solidFill>
          <a:ln/>
          <a:effectLst>
            <a:outerShdw blurRad="101600" dist="38100" dir="8100000" algn="bl" rotWithShape="0">
              <a:srgbClr val="000000">
                <a:alpha val="10000"/>
              </a:srgbClr>
            </a:outerShdw>
          </a:effectLst>
        </p:spPr>
        <p:txBody>
          <a:bodyPr/>
          <a:lstStyle/>
          <a:p>
            <a:endParaRPr lang="en-US"/>
          </a:p>
        </p:txBody>
      </p:sp>
      <p:sp>
        <p:nvSpPr>
          <p:cNvPr id="8" name="Text 6"/>
          <p:cNvSpPr/>
          <p:nvPr/>
        </p:nvSpPr>
        <p:spPr>
          <a:xfrm>
            <a:off x="1143000" y="1005840"/>
            <a:ext cx="7406640" cy="274320"/>
          </a:xfrm>
          <a:prstGeom prst="rect">
            <a:avLst/>
          </a:prstGeom>
          <a:noFill/>
          <a:ln/>
        </p:spPr>
        <p:txBody>
          <a:bodyPr wrap="square" lIns="0" tIns="0" rIns="0" bIns="0" rtlCol="0" anchor="ctr"/>
          <a:lstStyle/>
          <a:p>
            <a:pPr marL="0" indent="0" algn="l">
              <a:buNone/>
            </a:pPr>
            <a:r>
              <a:rPr lang="en-US" sz="1300" b="1" dirty="0">
                <a:solidFill>
                  <a:srgbClr val="005A43"/>
                </a:solidFill>
              </a:rPr>
              <a:t>Data Cleaning</a:t>
            </a:r>
            <a:endParaRPr lang="en-US" sz="1300" dirty="0"/>
          </a:p>
        </p:txBody>
      </p:sp>
      <p:sp>
        <p:nvSpPr>
          <p:cNvPr id="9" name="Text 7"/>
          <p:cNvSpPr/>
          <p:nvPr/>
        </p:nvSpPr>
        <p:spPr>
          <a:xfrm>
            <a:off x="1143000" y="1307592"/>
            <a:ext cx="7406640" cy="347472"/>
          </a:xfrm>
          <a:prstGeom prst="rect">
            <a:avLst/>
          </a:prstGeom>
          <a:noFill/>
          <a:ln/>
        </p:spPr>
        <p:txBody>
          <a:bodyPr wrap="square" lIns="0" tIns="0" rIns="0" bIns="0" rtlCol="0" anchor="ctr"/>
          <a:lstStyle/>
          <a:p>
            <a:pPr marL="0" indent="0" algn="l">
              <a:buNone/>
            </a:pPr>
            <a:r>
              <a:rPr lang="en-US" sz="1150" dirty="0">
                <a:solidFill>
                  <a:srgbClr val="6B7B74"/>
                </a:solidFill>
              </a:rPr>
              <a:t>Removed records with GrossProfit ≤ 0, ProfitMargin ≤ 0, and TotalSalesQuantity = 0  →  10,692 raw → 8,564 clean</a:t>
            </a:r>
            <a:endParaRPr lang="en-US" sz="1150" dirty="0"/>
          </a:p>
        </p:txBody>
      </p:sp>
      <p:sp>
        <p:nvSpPr>
          <p:cNvPr id="10" name="Shape 8"/>
          <p:cNvSpPr/>
          <p:nvPr/>
        </p:nvSpPr>
        <p:spPr>
          <a:xfrm>
            <a:off x="347472" y="1947672"/>
            <a:ext cx="566928" cy="749808"/>
          </a:xfrm>
          <a:prstGeom prst="rect">
            <a:avLst/>
          </a:prstGeom>
          <a:solidFill>
            <a:srgbClr val="005A43"/>
          </a:solidFill>
          <a:ln/>
        </p:spPr>
        <p:txBody>
          <a:bodyPr/>
          <a:lstStyle/>
          <a:p>
            <a:endParaRPr lang="en-US"/>
          </a:p>
        </p:txBody>
      </p:sp>
      <p:sp>
        <p:nvSpPr>
          <p:cNvPr id="11" name="Text 9"/>
          <p:cNvSpPr/>
          <p:nvPr/>
        </p:nvSpPr>
        <p:spPr>
          <a:xfrm>
            <a:off x="347472" y="1947672"/>
            <a:ext cx="566928" cy="749808"/>
          </a:xfrm>
          <a:prstGeom prst="rect">
            <a:avLst/>
          </a:prstGeom>
          <a:noFill/>
          <a:ln/>
        </p:spPr>
        <p:txBody>
          <a:bodyPr wrap="square" lIns="0" tIns="0" rIns="0" bIns="0" rtlCol="0" anchor="ctr"/>
          <a:lstStyle/>
          <a:p>
            <a:pPr marL="0" indent="0" algn="ctr">
              <a:buNone/>
            </a:pPr>
            <a:r>
              <a:rPr lang="en-US" sz="2200" b="1" dirty="0">
                <a:solidFill>
                  <a:srgbClr val="FFFFFF"/>
                </a:solidFill>
              </a:rPr>
              <a:t>2</a:t>
            </a:r>
            <a:endParaRPr lang="en-US" sz="2200" dirty="0"/>
          </a:p>
        </p:txBody>
      </p:sp>
      <p:sp>
        <p:nvSpPr>
          <p:cNvPr id="12" name="Shape 10"/>
          <p:cNvSpPr/>
          <p:nvPr/>
        </p:nvSpPr>
        <p:spPr>
          <a:xfrm>
            <a:off x="1005840" y="1947672"/>
            <a:ext cx="7772400" cy="749808"/>
          </a:xfrm>
          <a:prstGeom prst="rect">
            <a:avLst/>
          </a:prstGeom>
          <a:solidFill>
            <a:srgbClr val="EBF5EF"/>
          </a:solidFill>
          <a:ln/>
          <a:effectLst>
            <a:outerShdw blurRad="101600" dist="38100" dir="8100000" algn="bl" rotWithShape="0">
              <a:srgbClr val="000000">
                <a:alpha val="10000"/>
              </a:srgbClr>
            </a:outerShdw>
          </a:effectLst>
        </p:spPr>
        <p:txBody>
          <a:bodyPr/>
          <a:lstStyle/>
          <a:p>
            <a:endParaRPr lang="en-US"/>
          </a:p>
        </p:txBody>
      </p:sp>
      <p:sp>
        <p:nvSpPr>
          <p:cNvPr id="13" name="Text 11"/>
          <p:cNvSpPr/>
          <p:nvPr/>
        </p:nvSpPr>
        <p:spPr>
          <a:xfrm>
            <a:off x="1143000" y="1993392"/>
            <a:ext cx="7406640" cy="274320"/>
          </a:xfrm>
          <a:prstGeom prst="rect">
            <a:avLst/>
          </a:prstGeom>
          <a:noFill/>
          <a:ln/>
        </p:spPr>
        <p:txBody>
          <a:bodyPr wrap="square" lIns="0" tIns="0" rIns="0" bIns="0" rtlCol="0" anchor="ctr"/>
          <a:lstStyle/>
          <a:p>
            <a:pPr marL="0" indent="0" algn="l">
              <a:buNone/>
            </a:pPr>
            <a:r>
              <a:rPr lang="en-US" sz="1300" b="1" dirty="0">
                <a:solidFill>
                  <a:srgbClr val="005A43"/>
                </a:solidFill>
              </a:rPr>
              <a:t>Feature Engineering</a:t>
            </a:r>
            <a:endParaRPr lang="en-US" sz="1300" dirty="0"/>
          </a:p>
        </p:txBody>
      </p:sp>
      <p:sp>
        <p:nvSpPr>
          <p:cNvPr id="14" name="Text 12"/>
          <p:cNvSpPr/>
          <p:nvPr/>
        </p:nvSpPr>
        <p:spPr>
          <a:xfrm>
            <a:off x="1143000" y="2295144"/>
            <a:ext cx="7406640" cy="347472"/>
          </a:xfrm>
          <a:prstGeom prst="rect">
            <a:avLst/>
          </a:prstGeom>
          <a:noFill/>
          <a:ln/>
        </p:spPr>
        <p:txBody>
          <a:bodyPr wrap="square" lIns="0" tIns="0" rIns="0" bIns="0" rtlCol="0" anchor="ctr"/>
          <a:lstStyle/>
          <a:p>
            <a:pPr marL="0" indent="0" algn="l">
              <a:buNone/>
            </a:pPr>
            <a:r>
              <a:rPr lang="en-US" sz="1150" dirty="0">
                <a:solidFill>
                  <a:srgbClr val="6B7B74"/>
                </a:solidFill>
              </a:rPr>
              <a:t>Created KPIs not in raw data: UnitPurchasePrice, UnsoldInventoryValue, OrderSize buckets (small/medium/large), Purchase Contribution %</a:t>
            </a:r>
            <a:endParaRPr lang="en-US" sz="1150" dirty="0"/>
          </a:p>
        </p:txBody>
      </p:sp>
      <p:sp>
        <p:nvSpPr>
          <p:cNvPr id="15" name="Shape 13"/>
          <p:cNvSpPr/>
          <p:nvPr/>
        </p:nvSpPr>
        <p:spPr>
          <a:xfrm>
            <a:off x="347472" y="2935224"/>
            <a:ext cx="566928" cy="749808"/>
          </a:xfrm>
          <a:prstGeom prst="rect">
            <a:avLst/>
          </a:prstGeom>
          <a:solidFill>
            <a:srgbClr val="005A43"/>
          </a:solidFill>
          <a:ln/>
        </p:spPr>
        <p:txBody>
          <a:bodyPr/>
          <a:lstStyle/>
          <a:p>
            <a:endParaRPr lang="en-US"/>
          </a:p>
        </p:txBody>
      </p:sp>
      <p:sp>
        <p:nvSpPr>
          <p:cNvPr id="16" name="Text 14"/>
          <p:cNvSpPr/>
          <p:nvPr/>
        </p:nvSpPr>
        <p:spPr>
          <a:xfrm>
            <a:off x="347472" y="2935224"/>
            <a:ext cx="566928" cy="749808"/>
          </a:xfrm>
          <a:prstGeom prst="rect">
            <a:avLst/>
          </a:prstGeom>
          <a:noFill/>
          <a:ln/>
        </p:spPr>
        <p:txBody>
          <a:bodyPr wrap="square" lIns="0" tIns="0" rIns="0" bIns="0" rtlCol="0" anchor="ctr"/>
          <a:lstStyle/>
          <a:p>
            <a:pPr marL="0" indent="0" algn="ctr">
              <a:buNone/>
            </a:pPr>
            <a:r>
              <a:rPr lang="en-US" sz="2200" b="1" dirty="0">
                <a:solidFill>
                  <a:srgbClr val="FFFFFF"/>
                </a:solidFill>
              </a:rPr>
              <a:t>3</a:t>
            </a:r>
            <a:endParaRPr lang="en-US" sz="2200" dirty="0"/>
          </a:p>
        </p:txBody>
      </p:sp>
      <p:sp>
        <p:nvSpPr>
          <p:cNvPr id="17" name="Shape 15"/>
          <p:cNvSpPr/>
          <p:nvPr/>
        </p:nvSpPr>
        <p:spPr>
          <a:xfrm>
            <a:off x="1005840" y="2935224"/>
            <a:ext cx="7772400" cy="749808"/>
          </a:xfrm>
          <a:prstGeom prst="rect">
            <a:avLst/>
          </a:prstGeom>
          <a:solidFill>
            <a:srgbClr val="F4F6F4"/>
          </a:solidFill>
          <a:ln/>
          <a:effectLst>
            <a:outerShdw blurRad="101600" dist="38100" dir="8100000" algn="bl" rotWithShape="0">
              <a:srgbClr val="000000">
                <a:alpha val="10000"/>
              </a:srgbClr>
            </a:outerShdw>
          </a:effectLst>
        </p:spPr>
        <p:txBody>
          <a:bodyPr/>
          <a:lstStyle/>
          <a:p>
            <a:endParaRPr lang="en-US"/>
          </a:p>
        </p:txBody>
      </p:sp>
      <p:sp>
        <p:nvSpPr>
          <p:cNvPr id="18" name="Text 16"/>
          <p:cNvSpPr/>
          <p:nvPr/>
        </p:nvSpPr>
        <p:spPr>
          <a:xfrm>
            <a:off x="1143000" y="2980944"/>
            <a:ext cx="7406640" cy="274320"/>
          </a:xfrm>
          <a:prstGeom prst="rect">
            <a:avLst/>
          </a:prstGeom>
          <a:noFill/>
          <a:ln/>
        </p:spPr>
        <p:txBody>
          <a:bodyPr wrap="square" lIns="0" tIns="0" rIns="0" bIns="0" rtlCol="0" anchor="ctr"/>
          <a:lstStyle/>
          <a:p>
            <a:pPr marL="0" indent="0" algn="l">
              <a:buNone/>
            </a:pPr>
            <a:r>
              <a:rPr lang="en-US" sz="1300" b="1" dirty="0">
                <a:solidFill>
                  <a:srgbClr val="005A43"/>
                </a:solidFill>
              </a:rPr>
              <a:t>Vendor Segmentation</a:t>
            </a:r>
            <a:endParaRPr lang="en-US" sz="1300" dirty="0"/>
          </a:p>
        </p:txBody>
      </p:sp>
      <p:sp>
        <p:nvSpPr>
          <p:cNvPr id="19" name="Text 17"/>
          <p:cNvSpPr/>
          <p:nvPr/>
        </p:nvSpPr>
        <p:spPr>
          <a:xfrm>
            <a:off x="1143000" y="3282696"/>
            <a:ext cx="7406640" cy="347472"/>
          </a:xfrm>
          <a:prstGeom prst="rect">
            <a:avLst/>
          </a:prstGeom>
          <a:noFill/>
          <a:ln/>
        </p:spPr>
        <p:txBody>
          <a:bodyPr wrap="square" lIns="0" tIns="0" rIns="0" bIns="0" rtlCol="0" anchor="ctr"/>
          <a:lstStyle/>
          <a:p>
            <a:pPr marL="0" indent="0" algn="l">
              <a:buNone/>
            </a:pPr>
            <a:r>
              <a:rPr lang="en-US" sz="1150" dirty="0">
                <a:solidFill>
                  <a:srgbClr val="6B7B74"/>
                </a:solidFill>
              </a:rPr>
              <a:t>Grouped vendors by order volume tiers and ranked by TotalPurchaseDollars, GrossProfit, and StockTurnover</a:t>
            </a:r>
            <a:endParaRPr lang="en-US" sz="1150" dirty="0"/>
          </a:p>
        </p:txBody>
      </p:sp>
      <p:sp>
        <p:nvSpPr>
          <p:cNvPr id="20" name="Shape 18"/>
          <p:cNvSpPr/>
          <p:nvPr/>
        </p:nvSpPr>
        <p:spPr>
          <a:xfrm>
            <a:off x="347472" y="3922776"/>
            <a:ext cx="566928" cy="749808"/>
          </a:xfrm>
          <a:prstGeom prst="rect">
            <a:avLst/>
          </a:prstGeom>
          <a:solidFill>
            <a:srgbClr val="005A43"/>
          </a:solidFill>
          <a:ln/>
        </p:spPr>
        <p:txBody>
          <a:bodyPr/>
          <a:lstStyle/>
          <a:p>
            <a:endParaRPr lang="en-US"/>
          </a:p>
        </p:txBody>
      </p:sp>
      <p:sp>
        <p:nvSpPr>
          <p:cNvPr id="21" name="Text 19"/>
          <p:cNvSpPr/>
          <p:nvPr/>
        </p:nvSpPr>
        <p:spPr>
          <a:xfrm>
            <a:off x="347472" y="3922776"/>
            <a:ext cx="566928" cy="749808"/>
          </a:xfrm>
          <a:prstGeom prst="rect">
            <a:avLst/>
          </a:prstGeom>
          <a:noFill/>
          <a:ln/>
        </p:spPr>
        <p:txBody>
          <a:bodyPr wrap="square" lIns="0" tIns="0" rIns="0" bIns="0" rtlCol="0" anchor="ctr"/>
          <a:lstStyle/>
          <a:p>
            <a:pPr marL="0" indent="0" algn="ctr">
              <a:buNone/>
            </a:pPr>
            <a:r>
              <a:rPr lang="en-US" sz="2200" b="1" dirty="0">
                <a:solidFill>
                  <a:srgbClr val="FFFFFF"/>
                </a:solidFill>
              </a:rPr>
              <a:t>4</a:t>
            </a:r>
            <a:endParaRPr lang="en-US" sz="2200" dirty="0"/>
          </a:p>
        </p:txBody>
      </p:sp>
      <p:sp>
        <p:nvSpPr>
          <p:cNvPr id="22" name="Shape 20"/>
          <p:cNvSpPr/>
          <p:nvPr/>
        </p:nvSpPr>
        <p:spPr>
          <a:xfrm>
            <a:off x="1005840" y="3922776"/>
            <a:ext cx="7772400" cy="749808"/>
          </a:xfrm>
          <a:prstGeom prst="rect">
            <a:avLst/>
          </a:prstGeom>
          <a:solidFill>
            <a:srgbClr val="EBF5EF"/>
          </a:solidFill>
          <a:ln/>
          <a:effectLst>
            <a:outerShdw blurRad="101600" dist="38100" dir="8100000" algn="bl" rotWithShape="0">
              <a:srgbClr val="000000">
                <a:alpha val="10000"/>
              </a:srgbClr>
            </a:outerShdw>
          </a:effectLst>
        </p:spPr>
        <p:txBody>
          <a:bodyPr/>
          <a:lstStyle/>
          <a:p>
            <a:endParaRPr lang="en-US"/>
          </a:p>
        </p:txBody>
      </p:sp>
      <p:sp>
        <p:nvSpPr>
          <p:cNvPr id="23" name="Text 21"/>
          <p:cNvSpPr/>
          <p:nvPr/>
        </p:nvSpPr>
        <p:spPr>
          <a:xfrm>
            <a:off x="1143000" y="3968496"/>
            <a:ext cx="7406640" cy="274320"/>
          </a:xfrm>
          <a:prstGeom prst="rect">
            <a:avLst/>
          </a:prstGeom>
          <a:noFill/>
          <a:ln/>
        </p:spPr>
        <p:txBody>
          <a:bodyPr wrap="square" lIns="0" tIns="0" rIns="0" bIns="0" rtlCol="0" anchor="ctr"/>
          <a:lstStyle/>
          <a:p>
            <a:pPr marL="0" indent="0" algn="l">
              <a:buNone/>
            </a:pPr>
            <a:r>
              <a:rPr lang="en-US" sz="1300" b="1" dirty="0">
                <a:solidFill>
                  <a:srgbClr val="005A43"/>
                </a:solidFill>
              </a:rPr>
              <a:t>Statistical Testing</a:t>
            </a:r>
            <a:endParaRPr lang="en-US" sz="1300" dirty="0"/>
          </a:p>
        </p:txBody>
      </p:sp>
      <p:sp>
        <p:nvSpPr>
          <p:cNvPr id="24" name="Text 22"/>
          <p:cNvSpPr/>
          <p:nvPr/>
        </p:nvSpPr>
        <p:spPr>
          <a:xfrm>
            <a:off x="1143000" y="4270248"/>
            <a:ext cx="7406640" cy="347472"/>
          </a:xfrm>
          <a:prstGeom prst="rect">
            <a:avLst/>
          </a:prstGeom>
          <a:noFill/>
          <a:ln/>
        </p:spPr>
        <p:txBody>
          <a:bodyPr wrap="square" lIns="0" tIns="0" rIns="0" bIns="0" rtlCol="0" anchor="ctr"/>
          <a:lstStyle/>
          <a:p>
            <a:pPr marL="0" indent="0" algn="l">
              <a:buNone/>
            </a:pPr>
            <a:r>
              <a:rPr lang="en-US" sz="1150" dirty="0">
                <a:solidFill>
                  <a:srgbClr val="6B7B74"/>
                </a:solidFill>
              </a:rPr>
              <a:t>T-test (Welch) on profit margins of top vs low vendors, H₀ rejected, p &lt; 0.0001, confirming distinct profitability models</a:t>
            </a:r>
            <a:endParaRPr lang="en-US" sz="1150" dirty="0"/>
          </a:p>
        </p:txBody>
      </p:sp>
      <p:sp>
        <p:nvSpPr>
          <p:cNvPr id="25" name="Shape 23"/>
          <p:cNvSpPr/>
          <p:nvPr/>
        </p:nvSpPr>
        <p:spPr>
          <a:xfrm>
            <a:off x="0" y="4754880"/>
            <a:ext cx="9144000" cy="384048"/>
          </a:xfrm>
          <a:prstGeom prst="rect">
            <a:avLst/>
          </a:prstGeom>
          <a:solidFill>
            <a:srgbClr val="1A2E26"/>
          </a:solidFill>
          <a:ln/>
        </p:spPr>
        <p:txBody>
          <a:bodyPr/>
          <a:lstStyle/>
          <a:p>
            <a:endParaRPr lang="en-US"/>
          </a:p>
        </p:txBody>
      </p:sp>
      <p:sp>
        <p:nvSpPr>
          <p:cNvPr id="26" name="Text 24"/>
          <p:cNvSpPr/>
          <p:nvPr/>
        </p:nvSpPr>
        <p:spPr>
          <a:xfrm>
            <a:off x="411480" y="4754880"/>
            <a:ext cx="8321040" cy="384048"/>
          </a:xfrm>
          <a:prstGeom prst="rect">
            <a:avLst/>
          </a:prstGeom>
          <a:noFill/>
          <a:ln/>
        </p:spPr>
        <p:txBody>
          <a:bodyPr wrap="square" lIns="0" tIns="0" rIns="0" bIns="0" rtlCol="0" anchor="ctr"/>
          <a:lstStyle/>
          <a:p>
            <a:pPr marL="0" indent="0" algn="l">
              <a:buNone/>
            </a:pPr>
            <a:r>
              <a:rPr lang="en-US" sz="1100" b="1" dirty="0">
                <a:solidFill>
                  <a:srgbClr val="4CAF7D"/>
                </a:solidFill>
              </a:rPr>
              <a:t>KPIs Created:  Sell-Through Rate  ·  Stock Turnover  ·  Gross Profit  ·  Vendor Contribution %  ·  Unsold Inventory Capital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E26"/>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5A43"/>
          </a:solidFill>
          <a:ln/>
        </p:spPr>
        <p:txBody>
          <a:bodyPr/>
          <a:lstStyle/>
          <a:p>
            <a:endParaRPr lang="en-US"/>
          </a:p>
        </p:txBody>
      </p:sp>
      <p:sp>
        <p:nvSpPr>
          <p:cNvPr id="3" name="Text 1"/>
          <p:cNvSpPr/>
          <p:nvPr/>
        </p:nvSpPr>
        <p:spPr>
          <a:xfrm>
            <a:off x="411480" y="0"/>
            <a:ext cx="5486400" cy="822960"/>
          </a:xfrm>
          <a:prstGeom prst="rect">
            <a:avLst/>
          </a:prstGeom>
          <a:noFill/>
          <a:ln/>
        </p:spPr>
        <p:txBody>
          <a:bodyPr wrap="square" lIns="0" tIns="0" rIns="0" bIns="0" rtlCol="0" anchor="ctr"/>
          <a:lstStyle/>
          <a:p>
            <a:pPr marL="0" indent="0" algn="l">
              <a:buNone/>
            </a:pPr>
            <a:r>
              <a:rPr lang="en-US" sz="2600" b="1" dirty="0">
                <a:solidFill>
                  <a:srgbClr val="FFFFFF"/>
                </a:solidFill>
              </a:rPr>
              <a:t>Key Findings</a:t>
            </a:r>
            <a:endParaRPr lang="en-US" sz="2600" dirty="0"/>
          </a:p>
        </p:txBody>
      </p:sp>
      <p:sp>
        <p:nvSpPr>
          <p:cNvPr id="4" name="Text 2"/>
          <p:cNvSpPr/>
          <p:nvPr/>
        </p:nvSpPr>
        <p:spPr>
          <a:xfrm>
            <a:off x="411480" y="566928"/>
            <a:ext cx="8229600" cy="274320"/>
          </a:xfrm>
          <a:prstGeom prst="rect">
            <a:avLst/>
          </a:prstGeom>
          <a:noFill/>
          <a:ln/>
        </p:spPr>
        <p:txBody>
          <a:bodyPr wrap="square" lIns="0" tIns="0" rIns="0" bIns="0" rtlCol="0" anchor="ctr"/>
          <a:lstStyle/>
          <a:p>
            <a:pPr marL="0" indent="0" algn="l">
              <a:buNone/>
            </a:pPr>
            <a:r>
              <a:rPr lang="en-US" sz="900" kern="0" spc="200" dirty="0">
                <a:solidFill>
                  <a:srgbClr val="9DBFB5"/>
                </a:solidFill>
              </a:rPr>
              <a:t>H I G H - L E V E L  B U S I N E S S  S N A P S H O T</a:t>
            </a:r>
            <a:endParaRPr lang="en-US" sz="900" dirty="0"/>
          </a:p>
        </p:txBody>
      </p:sp>
      <p:sp>
        <p:nvSpPr>
          <p:cNvPr id="5" name="Shape 3"/>
          <p:cNvSpPr/>
          <p:nvPr/>
        </p:nvSpPr>
        <p:spPr>
          <a:xfrm>
            <a:off x="201168" y="914400"/>
            <a:ext cx="1600200" cy="1005840"/>
          </a:xfrm>
          <a:prstGeom prst="rect">
            <a:avLst/>
          </a:prstGeom>
          <a:solidFill>
            <a:srgbClr val="005A43"/>
          </a:solidFill>
          <a:ln/>
          <a:effectLst>
            <a:outerShdw blurRad="101600" dist="38100" dir="8100000" algn="bl" rotWithShape="0">
              <a:srgbClr val="000000">
                <a:alpha val="10000"/>
              </a:srgbClr>
            </a:outerShdw>
          </a:effectLst>
        </p:spPr>
        <p:txBody>
          <a:bodyPr/>
          <a:lstStyle/>
          <a:p>
            <a:endParaRPr lang="en-US"/>
          </a:p>
        </p:txBody>
      </p:sp>
      <p:sp>
        <p:nvSpPr>
          <p:cNvPr id="6" name="Text 4"/>
          <p:cNvSpPr/>
          <p:nvPr/>
        </p:nvSpPr>
        <p:spPr>
          <a:xfrm>
            <a:off x="201168" y="932688"/>
            <a:ext cx="1600200" cy="594360"/>
          </a:xfrm>
          <a:prstGeom prst="rect">
            <a:avLst/>
          </a:prstGeom>
          <a:noFill/>
          <a:ln/>
        </p:spPr>
        <p:txBody>
          <a:bodyPr wrap="square" lIns="0" tIns="0" rIns="0" bIns="0" rtlCol="0" anchor="ctr"/>
          <a:lstStyle/>
          <a:p>
            <a:pPr marL="0" indent="0" algn="ctr">
              <a:buNone/>
            </a:pPr>
            <a:r>
              <a:rPr lang="en-US" sz="2200" b="1" dirty="0">
                <a:solidFill>
                  <a:srgbClr val="FFFFFF"/>
                </a:solidFill>
              </a:rPr>
              <a:t>$441M</a:t>
            </a:r>
            <a:endParaRPr lang="en-US" sz="2200" dirty="0"/>
          </a:p>
        </p:txBody>
      </p:sp>
      <p:sp>
        <p:nvSpPr>
          <p:cNvPr id="7" name="Text 5"/>
          <p:cNvSpPr/>
          <p:nvPr/>
        </p:nvSpPr>
        <p:spPr>
          <a:xfrm>
            <a:off x="201168" y="1508760"/>
            <a:ext cx="1600200" cy="292608"/>
          </a:xfrm>
          <a:prstGeom prst="rect">
            <a:avLst/>
          </a:prstGeom>
          <a:noFill/>
          <a:ln/>
        </p:spPr>
        <p:txBody>
          <a:bodyPr wrap="square" lIns="0" tIns="0" rIns="0" bIns="0" rtlCol="0" anchor="ctr"/>
          <a:lstStyle/>
          <a:p>
            <a:pPr marL="0" indent="0" algn="ctr">
              <a:buNone/>
            </a:pPr>
            <a:r>
              <a:rPr lang="en-US" sz="1000" dirty="0">
                <a:solidFill>
                  <a:srgbClr val="C8E6D0"/>
                </a:solidFill>
              </a:rPr>
              <a:t>Total Sales</a:t>
            </a:r>
            <a:endParaRPr lang="en-US" sz="1000" dirty="0"/>
          </a:p>
        </p:txBody>
      </p:sp>
      <p:sp>
        <p:nvSpPr>
          <p:cNvPr id="8" name="Shape 6"/>
          <p:cNvSpPr/>
          <p:nvPr/>
        </p:nvSpPr>
        <p:spPr>
          <a:xfrm>
            <a:off x="1965960" y="914400"/>
            <a:ext cx="1600200" cy="1005840"/>
          </a:xfrm>
          <a:prstGeom prst="rect">
            <a:avLst/>
          </a:prstGeom>
          <a:solidFill>
            <a:srgbClr val="005A43"/>
          </a:solidFill>
          <a:ln/>
          <a:effectLst>
            <a:outerShdw blurRad="101600" dist="38100" dir="8100000" algn="bl" rotWithShape="0">
              <a:srgbClr val="000000">
                <a:alpha val="10000"/>
              </a:srgbClr>
            </a:outerShdw>
          </a:effectLst>
        </p:spPr>
        <p:txBody>
          <a:bodyPr/>
          <a:lstStyle/>
          <a:p>
            <a:endParaRPr lang="en-US"/>
          </a:p>
        </p:txBody>
      </p:sp>
      <p:sp>
        <p:nvSpPr>
          <p:cNvPr id="9" name="Text 7"/>
          <p:cNvSpPr/>
          <p:nvPr/>
        </p:nvSpPr>
        <p:spPr>
          <a:xfrm>
            <a:off x="1965960" y="932688"/>
            <a:ext cx="1600200" cy="594360"/>
          </a:xfrm>
          <a:prstGeom prst="rect">
            <a:avLst/>
          </a:prstGeom>
          <a:noFill/>
          <a:ln/>
        </p:spPr>
        <p:txBody>
          <a:bodyPr wrap="square" lIns="0" tIns="0" rIns="0" bIns="0" rtlCol="0" anchor="ctr"/>
          <a:lstStyle/>
          <a:p>
            <a:pPr marL="0" indent="0" algn="ctr">
              <a:buNone/>
            </a:pPr>
            <a:r>
              <a:rPr lang="en-US" sz="2200" b="1" dirty="0">
                <a:solidFill>
                  <a:srgbClr val="FFFFFF"/>
                </a:solidFill>
              </a:rPr>
              <a:t>$307M</a:t>
            </a:r>
            <a:endParaRPr lang="en-US" sz="2200" dirty="0"/>
          </a:p>
        </p:txBody>
      </p:sp>
      <p:sp>
        <p:nvSpPr>
          <p:cNvPr id="10" name="Text 8"/>
          <p:cNvSpPr/>
          <p:nvPr/>
        </p:nvSpPr>
        <p:spPr>
          <a:xfrm>
            <a:off x="1965960" y="1508760"/>
            <a:ext cx="1600200" cy="292608"/>
          </a:xfrm>
          <a:prstGeom prst="rect">
            <a:avLst/>
          </a:prstGeom>
          <a:noFill/>
          <a:ln/>
        </p:spPr>
        <p:txBody>
          <a:bodyPr wrap="square" lIns="0" tIns="0" rIns="0" bIns="0" rtlCol="0" anchor="ctr"/>
          <a:lstStyle/>
          <a:p>
            <a:pPr marL="0" indent="0" algn="ctr">
              <a:buNone/>
            </a:pPr>
            <a:r>
              <a:rPr lang="en-US" sz="1000" dirty="0">
                <a:solidFill>
                  <a:srgbClr val="C8E6D0"/>
                </a:solidFill>
              </a:rPr>
              <a:t>Total Purchases</a:t>
            </a:r>
            <a:endParaRPr lang="en-US" sz="1000" dirty="0"/>
          </a:p>
        </p:txBody>
      </p:sp>
      <p:sp>
        <p:nvSpPr>
          <p:cNvPr id="11" name="Shape 9"/>
          <p:cNvSpPr/>
          <p:nvPr/>
        </p:nvSpPr>
        <p:spPr>
          <a:xfrm>
            <a:off x="3730752" y="914400"/>
            <a:ext cx="1600200" cy="1005840"/>
          </a:xfrm>
          <a:prstGeom prst="rect">
            <a:avLst/>
          </a:prstGeom>
          <a:solidFill>
            <a:srgbClr val="005A43"/>
          </a:solidFill>
          <a:ln/>
          <a:effectLst>
            <a:outerShdw blurRad="101600" dist="38100" dir="8100000" algn="bl" rotWithShape="0">
              <a:srgbClr val="000000">
                <a:alpha val="10000"/>
              </a:srgbClr>
            </a:outerShdw>
          </a:effectLst>
        </p:spPr>
        <p:txBody>
          <a:bodyPr/>
          <a:lstStyle/>
          <a:p>
            <a:endParaRPr lang="en-US"/>
          </a:p>
        </p:txBody>
      </p:sp>
      <p:sp>
        <p:nvSpPr>
          <p:cNvPr id="12" name="Text 10"/>
          <p:cNvSpPr/>
          <p:nvPr/>
        </p:nvSpPr>
        <p:spPr>
          <a:xfrm>
            <a:off x="3730752" y="932688"/>
            <a:ext cx="1600200" cy="594360"/>
          </a:xfrm>
          <a:prstGeom prst="rect">
            <a:avLst/>
          </a:prstGeom>
          <a:noFill/>
          <a:ln/>
        </p:spPr>
        <p:txBody>
          <a:bodyPr wrap="square" lIns="0" tIns="0" rIns="0" bIns="0" rtlCol="0" anchor="ctr"/>
          <a:lstStyle/>
          <a:p>
            <a:pPr marL="0" indent="0" algn="ctr">
              <a:buNone/>
            </a:pPr>
            <a:r>
              <a:rPr lang="en-US" sz="2200" b="1" dirty="0">
                <a:solidFill>
                  <a:srgbClr val="FFFFFF"/>
                </a:solidFill>
              </a:rPr>
              <a:t>$134M</a:t>
            </a:r>
            <a:endParaRPr lang="en-US" sz="2200" dirty="0"/>
          </a:p>
        </p:txBody>
      </p:sp>
      <p:sp>
        <p:nvSpPr>
          <p:cNvPr id="13" name="Text 11"/>
          <p:cNvSpPr/>
          <p:nvPr/>
        </p:nvSpPr>
        <p:spPr>
          <a:xfrm>
            <a:off x="3730752" y="1508760"/>
            <a:ext cx="1600200" cy="292608"/>
          </a:xfrm>
          <a:prstGeom prst="rect">
            <a:avLst/>
          </a:prstGeom>
          <a:noFill/>
          <a:ln/>
        </p:spPr>
        <p:txBody>
          <a:bodyPr wrap="square" lIns="0" tIns="0" rIns="0" bIns="0" rtlCol="0" anchor="ctr"/>
          <a:lstStyle/>
          <a:p>
            <a:pPr marL="0" indent="0" algn="ctr">
              <a:buNone/>
            </a:pPr>
            <a:r>
              <a:rPr lang="en-US" sz="1000" dirty="0">
                <a:solidFill>
                  <a:srgbClr val="C8E6D0"/>
                </a:solidFill>
              </a:rPr>
              <a:t>Gross Profit</a:t>
            </a:r>
            <a:endParaRPr lang="en-US" sz="1000" dirty="0"/>
          </a:p>
        </p:txBody>
      </p:sp>
      <p:sp>
        <p:nvSpPr>
          <p:cNvPr id="14" name="Shape 12"/>
          <p:cNvSpPr/>
          <p:nvPr/>
        </p:nvSpPr>
        <p:spPr>
          <a:xfrm>
            <a:off x="5495544" y="914400"/>
            <a:ext cx="1600200" cy="1005840"/>
          </a:xfrm>
          <a:prstGeom prst="rect">
            <a:avLst/>
          </a:prstGeom>
          <a:solidFill>
            <a:srgbClr val="005A43"/>
          </a:solidFill>
          <a:ln/>
          <a:effectLst>
            <a:outerShdw blurRad="101600" dist="38100" dir="8100000" algn="bl" rotWithShape="0">
              <a:srgbClr val="000000">
                <a:alpha val="10000"/>
              </a:srgbClr>
            </a:outerShdw>
          </a:effectLst>
        </p:spPr>
        <p:txBody>
          <a:bodyPr/>
          <a:lstStyle/>
          <a:p>
            <a:endParaRPr lang="en-US"/>
          </a:p>
        </p:txBody>
      </p:sp>
      <p:sp>
        <p:nvSpPr>
          <p:cNvPr id="15" name="Text 13"/>
          <p:cNvSpPr/>
          <p:nvPr/>
        </p:nvSpPr>
        <p:spPr>
          <a:xfrm>
            <a:off x="5495544" y="932688"/>
            <a:ext cx="1600200" cy="594360"/>
          </a:xfrm>
          <a:prstGeom prst="rect">
            <a:avLst/>
          </a:prstGeom>
          <a:noFill/>
          <a:ln/>
        </p:spPr>
        <p:txBody>
          <a:bodyPr wrap="square" lIns="0" tIns="0" rIns="0" bIns="0" rtlCol="0" anchor="ctr"/>
          <a:lstStyle/>
          <a:p>
            <a:pPr marL="0" indent="0" algn="ctr">
              <a:buNone/>
            </a:pPr>
            <a:r>
              <a:rPr lang="en-US" sz="2200" b="1" dirty="0">
                <a:solidFill>
                  <a:srgbClr val="FFFFFF"/>
                </a:solidFill>
              </a:rPr>
              <a:t>38.7%</a:t>
            </a:r>
            <a:endParaRPr lang="en-US" sz="2200" dirty="0"/>
          </a:p>
        </p:txBody>
      </p:sp>
      <p:sp>
        <p:nvSpPr>
          <p:cNvPr id="16" name="Text 14"/>
          <p:cNvSpPr/>
          <p:nvPr/>
        </p:nvSpPr>
        <p:spPr>
          <a:xfrm>
            <a:off x="5495544" y="1508760"/>
            <a:ext cx="1600200" cy="292608"/>
          </a:xfrm>
          <a:prstGeom prst="rect">
            <a:avLst/>
          </a:prstGeom>
          <a:noFill/>
          <a:ln/>
        </p:spPr>
        <p:txBody>
          <a:bodyPr wrap="square" lIns="0" tIns="0" rIns="0" bIns="0" rtlCol="0" anchor="ctr"/>
          <a:lstStyle/>
          <a:p>
            <a:pPr marL="0" indent="0" algn="ctr">
              <a:buNone/>
            </a:pPr>
            <a:r>
              <a:rPr lang="en-US" sz="1000" dirty="0">
                <a:solidFill>
                  <a:srgbClr val="C8E6D0"/>
                </a:solidFill>
              </a:rPr>
              <a:t>Profit Margin</a:t>
            </a:r>
            <a:endParaRPr lang="en-US" sz="1000" dirty="0"/>
          </a:p>
        </p:txBody>
      </p:sp>
      <p:sp>
        <p:nvSpPr>
          <p:cNvPr id="17" name="Shape 15"/>
          <p:cNvSpPr/>
          <p:nvPr/>
        </p:nvSpPr>
        <p:spPr>
          <a:xfrm>
            <a:off x="7260336" y="914400"/>
            <a:ext cx="1600200" cy="1005840"/>
          </a:xfrm>
          <a:prstGeom prst="rect">
            <a:avLst/>
          </a:prstGeom>
          <a:solidFill>
            <a:srgbClr val="005A43"/>
          </a:solidFill>
          <a:ln/>
          <a:effectLst>
            <a:outerShdw blurRad="101600" dist="38100" dir="8100000" algn="bl" rotWithShape="0">
              <a:srgbClr val="000000">
                <a:alpha val="10000"/>
              </a:srgbClr>
            </a:outerShdw>
          </a:effectLst>
        </p:spPr>
        <p:txBody>
          <a:bodyPr/>
          <a:lstStyle/>
          <a:p>
            <a:endParaRPr lang="en-US"/>
          </a:p>
        </p:txBody>
      </p:sp>
      <p:sp>
        <p:nvSpPr>
          <p:cNvPr id="18" name="Text 16"/>
          <p:cNvSpPr/>
          <p:nvPr/>
        </p:nvSpPr>
        <p:spPr>
          <a:xfrm>
            <a:off x="7260336" y="932688"/>
            <a:ext cx="1600200" cy="594360"/>
          </a:xfrm>
          <a:prstGeom prst="rect">
            <a:avLst/>
          </a:prstGeom>
          <a:noFill/>
          <a:ln/>
        </p:spPr>
        <p:txBody>
          <a:bodyPr wrap="square" lIns="0" tIns="0" rIns="0" bIns="0" rtlCol="0" anchor="ctr"/>
          <a:lstStyle/>
          <a:p>
            <a:pPr marL="0" indent="0" algn="ctr">
              <a:buNone/>
            </a:pPr>
            <a:r>
              <a:rPr lang="en-US" sz="2200" b="1" dirty="0">
                <a:solidFill>
                  <a:srgbClr val="FFFFFF"/>
                </a:solidFill>
              </a:rPr>
              <a:t>$2.71M</a:t>
            </a:r>
            <a:endParaRPr lang="en-US" sz="2200" dirty="0"/>
          </a:p>
        </p:txBody>
      </p:sp>
      <p:sp>
        <p:nvSpPr>
          <p:cNvPr id="19" name="Text 17"/>
          <p:cNvSpPr/>
          <p:nvPr/>
        </p:nvSpPr>
        <p:spPr>
          <a:xfrm>
            <a:off x="7260336" y="1508760"/>
            <a:ext cx="1600200" cy="292608"/>
          </a:xfrm>
          <a:prstGeom prst="rect">
            <a:avLst/>
          </a:prstGeom>
          <a:noFill/>
          <a:ln/>
        </p:spPr>
        <p:txBody>
          <a:bodyPr wrap="square" lIns="0" tIns="0" rIns="0" bIns="0" rtlCol="0" anchor="ctr"/>
          <a:lstStyle/>
          <a:p>
            <a:pPr marL="0" indent="0" algn="ctr">
              <a:buNone/>
            </a:pPr>
            <a:r>
              <a:rPr lang="en-US" sz="1000" dirty="0">
                <a:solidFill>
                  <a:srgbClr val="C8E6D0"/>
                </a:solidFill>
              </a:rPr>
              <a:t>Unsold Capital</a:t>
            </a:r>
            <a:endParaRPr lang="en-US" sz="1000" dirty="0"/>
          </a:p>
        </p:txBody>
      </p:sp>
      <p:graphicFrame>
        <p:nvGraphicFramePr>
          <p:cNvPr id="20" name="Chart 0"/>
          <p:cNvGraphicFramePr/>
          <p:nvPr/>
        </p:nvGraphicFramePr>
        <p:xfrm>
          <a:off x="201168" y="2103120"/>
          <a:ext cx="4572000" cy="2697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1" name="Chart 1"/>
          <p:cNvGraphicFramePr/>
          <p:nvPr/>
        </p:nvGraphicFramePr>
        <p:xfrm>
          <a:off x="4937760" y="2103120"/>
          <a:ext cx="3931920" cy="269748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5A43"/>
          </a:solidFill>
          <a:ln/>
        </p:spPr>
        <p:txBody>
          <a:bodyPr/>
          <a:lstStyle/>
          <a:p>
            <a:endParaRPr lang="en-US"/>
          </a:p>
        </p:txBody>
      </p:sp>
      <p:sp>
        <p:nvSpPr>
          <p:cNvPr id="3" name="Text 1"/>
          <p:cNvSpPr/>
          <p:nvPr/>
        </p:nvSpPr>
        <p:spPr>
          <a:xfrm>
            <a:off x="411480" y="0"/>
            <a:ext cx="6858000" cy="749808"/>
          </a:xfrm>
          <a:prstGeom prst="rect">
            <a:avLst/>
          </a:prstGeom>
          <a:noFill/>
          <a:ln/>
        </p:spPr>
        <p:txBody>
          <a:bodyPr wrap="square" lIns="0" tIns="0" rIns="0" bIns="0" rtlCol="0" anchor="ctr"/>
          <a:lstStyle/>
          <a:p>
            <a:pPr marL="0" indent="0" algn="l">
              <a:buNone/>
            </a:pPr>
            <a:r>
              <a:rPr lang="en-US" sz="2500" b="1" dirty="0">
                <a:solidFill>
                  <a:srgbClr val="FFFFFF"/>
                </a:solidFill>
              </a:rPr>
              <a:t>Four Critical Discoveries</a:t>
            </a:r>
            <a:endParaRPr lang="en-US" sz="2500" dirty="0"/>
          </a:p>
        </p:txBody>
      </p:sp>
      <p:sp>
        <p:nvSpPr>
          <p:cNvPr id="4" name="Text 2"/>
          <p:cNvSpPr/>
          <p:nvPr/>
        </p:nvSpPr>
        <p:spPr>
          <a:xfrm>
            <a:off x="6583680" y="0"/>
            <a:ext cx="2423160" cy="749808"/>
          </a:xfrm>
          <a:prstGeom prst="rect">
            <a:avLst/>
          </a:prstGeom>
          <a:noFill/>
          <a:ln/>
        </p:spPr>
        <p:txBody>
          <a:bodyPr wrap="square" lIns="0" tIns="0" rIns="0" bIns="0" rtlCol="0" anchor="ctr"/>
          <a:lstStyle/>
          <a:p>
            <a:pPr marL="0" indent="0" algn="r">
              <a:buNone/>
            </a:pPr>
            <a:r>
              <a:rPr lang="en-US" sz="800" kern="0" spc="150" dirty="0">
                <a:solidFill>
                  <a:srgbClr val="C8E6D0"/>
                </a:solidFill>
              </a:rPr>
              <a:t>R E S E A R C H  F I N D I N G S</a:t>
            </a:r>
            <a:endParaRPr lang="en-US" sz="800" dirty="0"/>
          </a:p>
        </p:txBody>
      </p:sp>
      <p:sp>
        <p:nvSpPr>
          <p:cNvPr id="5" name="Shape 3"/>
          <p:cNvSpPr/>
          <p:nvPr/>
        </p:nvSpPr>
        <p:spPr>
          <a:xfrm>
            <a:off x="320040" y="914400"/>
            <a:ext cx="4114800" cy="1783080"/>
          </a:xfrm>
          <a:prstGeom prst="rect">
            <a:avLst/>
          </a:prstGeom>
          <a:solidFill>
            <a:srgbClr val="F4F6F4"/>
          </a:solidFill>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320040" y="914400"/>
            <a:ext cx="4114800" cy="64008"/>
          </a:xfrm>
          <a:prstGeom prst="rect">
            <a:avLst/>
          </a:prstGeom>
          <a:solidFill>
            <a:srgbClr val="005A43"/>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484632" y="1115568"/>
            <a:ext cx="365760" cy="365760"/>
          </a:xfrm>
          <a:prstGeom prst="rect">
            <a:avLst/>
          </a:prstGeom>
        </p:spPr>
      </p:pic>
      <p:sp>
        <p:nvSpPr>
          <p:cNvPr id="8" name="Text 5"/>
          <p:cNvSpPr/>
          <p:nvPr/>
        </p:nvSpPr>
        <p:spPr>
          <a:xfrm>
            <a:off x="960120" y="1078992"/>
            <a:ext cx="3337560" cy="384048"/>
          </a:xfrm>
          <a:prstGeom prst="rect">
            <a:avLst/>
          </a:prstGeom>
          <a:noFill/>
          <a:ln/>
        </p:spPr>
        <p:txBody>
          <a:bodyPr wrap="square" lIns="0" tIns="0" rIns="0" bIns="0" rtlCol="0" anchor="ctr"/>
          <a:lstStyle/>
          <a:p>
            <a:pPr marL="0" indent="0" algn="l">
              <a:buNone/>
            </a:pPr>
            <a:r>
              <a:rPr lang="en-US" sz="1300" b="1" dirty="0">
                <a:solidFill>
                  <a:srgbClr val="005A43"/>
                </a:solidFill>
              </a:rPr>
              <a:t>198 High-Margin, Low-Sales Brands</a:t>
            </a:r>
            <a:endParaRPr lang="en-US" sz="1300" dirty="0"/>
          </a:p>
        </p:txBody>
      </p:sp>
      <p:sp>
        <p:nvSpPr>
          <p:cNvPr id="9" name="Shape 6"/>
          <p:cNvSpPr/>
          <p:nvPr/>
        </p:nvSpPr>
        <p:spPr>
          <a:xfrm>
            <a:off x="484632" y="1554480"/>
            <a:ext cx="3749040" cy="27432"/>
          </a:xfrm>
          <a:prstGeom prst="rect">
            <a:avLst/>
          </a:prstGeom>
          <a:solidFill>
            <a:srgbClr val="4CAF7D"/>
          </a:solidFill>
          <a:ln/>
        </p:spPr>
        <p:txBody>
          <a:bodyPr/>
          <a:lstStyle/>
          <a:p>
            <a:endParaRPr lang="en-US"/>
          </a:p>
        </p:txBody>
      </p:sp>
      <p:sp>
        <p:nvSpPr>
          <p:cNvPr id="10" name="Text 7"/>
          <p:cNvSpPr/>
          <p:nvPr/>
        </p:nvSpPr>
        <p:spPr>
          <a:xfrm>
            <a:off x="484632" y="1664208"/>
            <a:ext cx="3794760" cy="914400"/>
          </a:xfrm>
          <a:prstGeom prst="rect">
            <a:avLst/>
          </a:prstGeom>
          <a:noFill/>
          <a:ln/>
        </p:spPr>
        <p:txBody>
          <a:bodyPr wrap="square" lIns="0" tIns="0" rIns="0" bIns="0" rtlCol="0" anchor="t"/>
          <a:lstStyle/>
          <a:p>
            <a:pPr marL="0" indent="0" algn="l">
              <a:lnSpc>
                <a:spcPct val="135000"/>
              </a:lnSpc>
              <a:buNone/>
            </a:pPr>
            <a:r>
              <a:rPr lang="en-US" sz="1150" dirty="0">
                <a:solidFill>
                  <a:srgbClr val="6B7B74"/>
                </a:solidFill>
              </a:rPr>
              <a:t>Profitable per unit but under-promoted. Targeted campaigns and pricing tweaks can unlock revenue without sacrificing margins.</a:t>
            </a:r>
            <a:endParaRPr lang="en-US" sz="1150" dirty="0"/>
          </a:p>
        </p:txBody>
      </p:sp>
      <p:sp>
        <p:nvSpPr>
          <p:cNvPr id="11" name="Shape 8"/>
          <p:cNvSpPr/>
          <p:nvPr/>
        </p:nvSpPr>
        <p:spPr>
          <a:xfrm>
            <a:off x="4754880" y="914400"/>
            <a:ext cx="4114800" cy="1783080"/>
          </a:xfrm>
          <a:prstGeom prst="rect">
            <a:avLst/>
          </a:prstGeom>
          <a:solidFill>
            <a:srgbClr val="F4F6F4"/>
          </a:solidFill>
          <a:ln/>
          <a:effectLst>
            <a:outerShdw blurRad="101600" dist="38100" dir="8100000" algn="bl" rotWithShape="0">
              <a:srgbClr val="000000">
                <a:alpha val="10000"/>
              </a:srgbClr>
            </a:outerShdw>
          </a:effectLst>
        </p:spPr>
        <p:txBody>
          <a:bodyPr/>
          <a:lstStyle/>
          <a:p>
            <a:endParaRPr lang="en-US"/>
          </a:p>
        </p:txBody>
      </p:sp>
      <p:sp>
        <p:nvSpPr>
          <p:cNvPr id="12" name="Shape 9"/>
          <p:cNvSpPr/>
          <p:nvPr/>
        </p:nvSpPr>
        <p:spPr>
          <a:xfrm>
            <a:off x="4754880" y="914400"/>
            <a:ext cx="4114800" cy="64008"/>
          </a:xfrm>
          <a:prstGeom prst="rect">
            <a:avLst/>
          </a:prstGeom>
          <a:solidFill>
            <a:srgbClr val="005A43"/>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919472" y="1115568"/>
            <a:ext cx="365760" cy="365760"/>
          </a:xfrm>
          <a:prstGeom prst="rect">
            <a:avLst/>
          </a:prstGeom>
        </p:spPr>
      </p:pic>
      <p:sp>
        <p:nvSpPr>
          <p:cNvPr id="14" name="Text 10"/>
          <p:cNvSpPr/>
          <p:nvPr/>
        </p:nvSpPr>
        <p:spPr>
          <a:xfrm>
            <a:off x="5394960" y="1078992"/>
            <a:ext cx="3337560" cy="384048"/>
          </a:xfrm>
          <a:prstGeom prst="rect">
            <a:avLst/>
          </a:prstGeom>
          <a:noFill/>
          <a:ln/>
        </p:spPr>
        <p:txBody>
          <a:bodyPr wrap="square" lIns="0" tIns="0" rIns="0" bIns="0" rtlCol="0" anchor="ctr"/>
          <a:lstStyle/>
          <a:p>
            <a:pPr marL="0" indent="0" algn="l">
              <a:buNone/>
            </a:pPr>
            <a:r>
              <a:rPr lang="en-US" sz="1300" b="1" dirty="0">
                <a:solidFill>
                  <a:srgbClr val="005A43"/>
                </a:solidFill>
              </a:rPr>
              <a:t>Top 10 Vendors = 65.69% of Purchases</a:t>
            </a:r>
            <a:endParaRPr lang="en-US" sz="1300" dirty="0"/>
          </a:p>
        </p:txBody>
      </p:sp>
      <p:sp>
        <p:nvSpPr>
          <p:cNvPr id="15" name="Shape 11"/>
          <p:cNvSpPr/>
          <p:nvPr/>
        </p:nvSpPr>
        <p:spPr>
          <a:xfrm>
            <a:off x="4919472" y="1554480"/>
            <a:ext cx="3749040" cy="27432"/>
          </a:xfrm>
          <a:prstGeom prst="rect">
            <a:avLst/>
          </a:prstGeom>
          <a:solidFill>
            <a:srgbClr val="4CAF7D"/>
          </a:solidFill>
          <a:ln/>
        </p:spPr>
        <p:txBody>
          <a:bodyPr/>
          <a:lstStyle/>
          <a:p>
            <a:endParaRPr lang="en-US"/>
          </a:p>
        </p:txBody>
      </p:sp>
      <p:sp>
        <p:nvSpPr>
          <p:cNvPr id="16" name="Text 12"/>
          <p:cNvSpPr/>
          <p:nvPr/>
        </p:nvSpPr>
        <p:spPr>
          <a:xfrm>
            <a:off x="4919472" y="1664208"/>
            <a:ext cx="3794760" cy="914400"/>
          </a:xfrm>
          <a:prstGeom prst="rect">
            <a:avLst/>
          </a:prstGeom>
          <a:noFill/>
          <a:ln/>
        </p:spPr>
        <p:txBody>
          <a:bodyPr wrap="square" lIns="0" tIns="0" rIns="0" bIns="0" rtlCol="0" anchor="t"/>
          <a:lstStyle/>
          <a:p>
            <a:pPr marL="0" indent="0" algn="l">
              <a:lnSpc>
                <a:spcPct val="135000"/>
              </a:lnSpc>
              <a:buNone/>
            </a:pPr>
            <a:r>
              <a:rPr lang="en-US" sz="1150" dirty="0">
                <a:solidFill>
                  <a:srgbClr val="6B7B74"/>
                </a:solidFill>
              </a:rPr>
              <a:t>Heavy concentration risk. Diversifying the vendor portfolio is critical to protect supply chain resilience.</a:t>
            </a:r>
            <a:endParaRPr lang="en-US" sz="1150" dirty="0"/>
          </a:p>
        </p:txBody>
      </p:sp>
      <p:sp>
        <p:nvSpPr>
          <p:cNvPr id="17" name="Shape 13"/>
          <p:cNvSpPr/>
          <p:nvPr/>
        </p:nvSpPr>
        <p:spPr>
          <a:xfrm>
            <a:off x="320040" y="2880360"/>
            <a:ext cx="4114800" cy="1783080"/>
          </a:xfrm>
          <a:prstGeom prst="rect">
            <a:avLst/>
          </a:prstGeom>
          <a:solidFill>
            <a:srgbClr val="F4F6F4"/>
          </a:solidFill>
          <a:ln/>
          <a:effectLst>
            <a:outerShdw blurRad="101600" dist="38100" dir="8100000" algn="bl" rotWithShape="0">
              <a:srgbClr val="000000">
                <a:alpha val="10000"/>
              </a:srgbClr>
            </a:outerShdw>
          </a:effectLst>
        </p:spPr>
        <p:txBody>
          <a:bodyPr/>
          <a:lstStyle/>
          <a:p>
            <a:endParaRPr lang="en-US"/>
          </a:p>
        </p:txBody>
      </p:sp>
      <p:sp>
        <p:nvSpPr>
          <p:cNvPr id="18" name="Shape 14"/>
          <p:cNvSpPr/>
          <p:nvPr/>
        </p:nvSpPr>
        <p:spPr>
          <a:xfrm>
            <a:off x="320040" y="2880360"/>
            <a:ext cx="4114800" cy="64008"/>
          </a:xfrm>
          <a:prstGeom prst="rect">
            <a:avLst/>
          </a:prstGeom>
          <a:solidFill>
            <a:srgbClr val="005A43"/>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484632" y="3081528"/>
            <a:ext cx="365760" cy="365760"/>
          </a:xfrm>
          <a:prstGeom prst="rect">
            <a:avLst/>
          </a:prstGeom>
        </p:spPr>
      </p:pic>
      <p:sp>
        <p:nvSpPr>
          <p:cNvPr id="20" name="Text 15"/>
          <p:cNvSpPr/>
          <p:nvPr/>
        </p:nvSpPr>
        <p:spPr>
          <a:xfrm>
            <a:off x="960120" y="3044952"/>
            <a:ext cx="3337560" cy="384048"/>
          </a:xfrm>
          <a:prstGeom prst="rect">
            <a:avLst/>
          </a:prstGeom>
          <a:noFill/>
          <a:ln/>
        </p:spPr>
        <p:txBody>
          <a:bodyPr wrap="square" lIns="0" tIns="0" rIns="0" bIns="0" rtlCol="0" anchor="ctr"/>
          <a:lstStyle/>
          <a:p>
            <a:pPr marL="0" indent="0" algn="l">
              <a:buNone/>
            </a:pPr>
            <a:r>
              <a:rPr lang="en-US" sz="1300" b="1" dirty="0">
                <a:solidFill>
                  <a:srgbClr val="005A43"/>
                </a:solidFill>
              </a:rPr>
              <a:t>Bulk Buying Cuts Unit Cost by 72%</a:t>
            </a:r>
            <a:endParaRPr lang="en-US" sz="1300" dirty="0"/>
          </a:p>
        </p:txBody>
      </p:sp>
      <p:sp>
        <p:nvSpPr>
          <p:cNvPr id="21" name="Shape 16"/>
          <p:cNvSpPr/>
          <p:nvPr/>
        </p:nvSpPr>
        <p:spPr>
          <a:xfrm>
            <a:off x="484632" y="3520440"/>
            <a:ext cx="3749040" cy="27432"/>
          </a:xfrm>
          <a:prstGeom prst="rect">
            <a:avLst/>
          </a:prstGeom>
          <a:solidFill>
            <a:srgbClr val="4CAF7D"/>
          </a:solidFill>
          <a:ln/>
        </p:spPr>
        <p:txBody>
          <a:bodyPr/>
          <a:lstStyle/>
          <a:p>
            <a:endParaRPr lang="en-US"/>
          </a:p>
        </p:txBody>
      </p:sp>
      <p:sp>
        <p:nvSpPr>
          <p:cNvPr id="22" name="Text 17"/>
          <p:cNvSpPr/>
          <p:nvPr/>
        </p:nvSpPr>
        <p:spPr>
          <a:xfrm>
            <a:off x="484632" y="3630168"/>
            <a:ext cx="3794760" cy="914400"/>
          </a:xfrm>
          <a:prstGeom prst="rect">
            <a:avLst/>
          </a:prstGeom>
          <a:noFill/>
          <a:ln/>
        </p:spPr>
        <p:txBody>
          <a:bodyPr wrap="square" lIns="0" tIns="0" rIns="0" bIns="0" rtlCol="0" anchor="t"/>
          <a:lstStyle/>
          <a:p>
            <a:pPr marL="0" indent="0" algn="l">
              <a:lnSpc>
                <a:spcPct val="135000"/>
              </a:lnSpc>
              <a:buNone/>
            </a:pPr>
            <a:r>
              <a:rPr lang="en-US" sz="1150" dirty="0">
                <a:solidFill>
                  <a:srgbClr val="6B7B74"/>
                </a:solidFill>
              </a:rPr>
              <a:t>Large orders drop avg unit price from $39.07 → $10.78. Consolidating purchase volumes yields significant unit cost savings.</a:t>
            </a:r>
            <a:endParaRPr lang="en-US" sz="1150" dirty="0"/>
          </a:p>
        </p:txBody>
      </p:sp>
      <p:sp>
        <p:nvSpPr>
          <p:cNvPr id="23" name="Shape 18"/>
          <p:cNvSpPr/>
          <p:nvPr/>
        </p:nvSpPr>
        <p:spPr>
          <a:xfrm>
            <a:off x="4754880" y="2880360"/>
            <a:ext cx="4114800" cy="1783080"/>
          </a:xfrm>
          <a:prstGeom prst="rect">
            <a:avLst/>
          </a:prstGeom>
          <a:solidFill>
            <a:srgbClr val="F4F6F4"/>
          </a:solidFill>
          <a:ln/>
          <a:effectLst>
            <a:outerShdw blurRad="101600" dist="38100" dir="8100000" algn="bl" rotWithShape="0">
              <a:srgbClr val="000000">
                <a:alpha val="10000"/>
              </a:srgbClr>
            </a:outerShdw>
          </a:effectLst>
        </p:spPr>
        <p:txBody>
          <a:bodyPr/>
          <a:lstStyle/>
          <a:p>
            <a:endParaRPr lang="en-US"/>
          </a:p>
        </p:txBody>
      </p:sp>
      <p:sp>
        <p:nvSpPr>
          <p:cNvPr id="24" name="Shape 19"/>
          <p:cNvSpPr/>
          <p:nvPr/>
        </p:nvSpPr>
        <p:spPr>
          <a:xfrm>
            <a:off x="4754880" y="2880360"/>
            <a:ext cx="4114800" cy="64008"/>
          </a:xfrm>
          <a:prstGeom prst="rect">
            <a:avLst/>
          </a:prstGeom>
          <a:solidFill>
            <a:srgbClr val="005A43"/>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4919472" y="3081528"/>
            <a:ext cx="365760" cy="365760"/>
          </a:xfrm>
          <a:prstGeom prst="rect">
            <a:avLst/>
          </a:prstGeom>
        </p:spPr>
      </p:pic>
      <p:sp>
        <p:nvSpPr>
          <p:cNvPr id="26" name="Text 20"/>
          <p:cNvSpPr/>
          <p:nvPr/>
        </p:nvSpPr>
        <p:spPr>
          <a:xfrm>
            <a:off x="5394960" y="3044952"/>
            <a:ext cx="3337560" cy="384048"/>
          </a:xfrm>
          <a:prstGeom prst="rect">
            <a:avLst/>
          </a:prstGeom>
          <a:noFill/>
          <a:ln/>
        </p:spPr>
        <p:txBody>
          <a:bodyPr wrap="square" lIns="0" tIns="0" rIns="0" bIns="0" rtlCol="0" anchor="ctr"/>
          <a:lstStyle/>
          <a:p>
            <a:pPr marL="0" indent="0" algn="l">
              <a:buNone/>
            </a:pPr>
            <a:r>
              <a:rPr lang="en-US" sz="1300" b="1" dirty="0">
                <a:solidFill>
                  <a:srgbClr val="005A43"/>
                </a:solidFill>
              </a:rPr>
              <a:t>$2.71M Unsold Inventory Capital</a:t>
            </a:r>
            <a:endParaRPr lang="en-US" sz="1300" dirty="0"/>
          </a:p>
        </p:txBody>
      </p:sp>
      <p:sp>
        <p:nvSpPr>
          <p:cNvPr id="27" name="Shape 21"/>
          <p:cNvSpPr/>
          <p:nvPr/>
        </p:nvSpPr>
        <p:spPr>
          <a:xfrm>
            <a:off x="4919472" y="3520440"/>
            <a:ext cx="3749040" cy="27432"/>
          </a:xfrm>
          <a:prstGeom prst="rect">
            <a:avLst/>
          </a:prstGeom>
          <a:solidFill>
            <a:srgbClr val="4CAF7D"/>
          </a:solidFill>
          <a:ln/>
        </p:spPr>
        <p:txBody>
          <a:bodyPr/>
          <a:lstStyle/>
          <a:p>
            <a:endParaRPr lang="en-US"/>
          </a:p>
        </p:txBody>
      </p:sp>
      <p:sp>
        <p:nvSpPr>
          <p:cNvPr id="28" name="Text 22"/>
          <p:cNvSpPr/>
          <p:nvPr/>
        </p:nvSpPr>
        <p:spPr>
          <a:xfrm>
            <a:off x="4919472" y="3630168"/>
            <a:ext cx="3794760" cy="914400"/>
          </a:xfrm>
          <a:prstGeom prst="rect">
            <a:avLst/>
          </a:prstGeom>
          <a:noFill/>
          <a:ln/>
        </p:spPr>
        <p:txBody>
          <a:bodyPr wrap="square" lIns="0" tIns="0" rIns="0" bIns="0" rtlCol="0" anchor="t"/>
          <a:lstStyle/>
          <a:p>
            <a:pPr marL="0" indent="0" algn="l">
              <a:lnSpc>
                <a:spcPct val="135000"/>
              </a:lnSpc>
              <a:buNone/>
            </a:pPr>
            <a:r>
              <a:rPr lang="en-US" sz="1150" dirty="0">
                <a:solidFill>
                  <a:srgbClr val="6B7B74"/>
                </a:solidFill>
              </a:rPr>
              <a:t>Low-turnover vendors lock up working capital. Demand forecasting and clearance initiatives would free up cash flow.</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5A43"/>
          </a:solidFill>
          <a:ln/>
        </p:spPr>
        <p:txBody>
          <a:bodyPr/>
          <a:lstStyle/>
          <a:p>
            <a:endParaRPr lang="en-US"/>
          </a:p>
        </p:txBody>
      </p:sp>
      <p:sp>
        <p:nvSpPr>
          <p:cNvPr id="3" name="Text 1"/>
          <p:cNvSpPr/>
          <p:nvPr/>
        </p:nvSpPr>
        <p:spPr>
          <a:xfrm>
            <a:off x="411480" y="0"/>
            <a:ext cx="6858000" cy="749808"/>
          </a:xfrm>
          <a:prstGeom prst="rect">
            <a:avLst/>
          </a:prstGeom>
          <a:noFill/>
          <a:ln/>
        </p:spPr>
        <p:txBody>
          <a:bodyPr wrap="square" lIns="0" tIns="0" rIns="0" bIns="0" rtlCol="0" anchor="ctr"/>
          <a:lstStyle/>
          <a:p>
            <a:pPr marL="0" indent="0" algn="l">
              <a:buNone/>
            </a:pPr>
            <a:r>
              <a:rPr lang="en-US" sz="2500" b="1" dirty="0">
                <a:solidFill>
                  <a:srgbClr val="FFFFFF"/>
                </a:solidFill>
              </a:rPr>
              <a:t>Profitability Paradox: Low Vendors Win on Margin</a:t>
            </a:r>
            <a:endParaRPr lang="en-US" sz="2500" dirty="0"/>
          </a:p>
        </p:txBody>
      </p:sp>
      <p:sp>
        <p:nvSpPr>
          <p:cNvPr id="4" name="Text 2"/>
          <p:cNvSpPr/>
          <p:nvPr/>
        </p:nvSpPr>
        <p:spPr>
          <a:xfrm>
            <a:off x="6583680" y="0"/>
            <a:ext cx="2423160" cy="749808"/>
          </a:xfrm>
          <a:prstGeom prst="rect">
            <a:avLst/>
          </a:prstGeom>
          <a:noFill/>
          <a:ln/>
        </p:spPr>
        <p:txBody>
          <a:bodyPr wrap="square" lIns="0" tIns="0" rIns="0" bIns="0" rtlCol="0" anchor="ctr"/>
          <a:lstStyle/>
          <a:p>
            <a:pPr marL="0" indent="0" algn="r">
              <a:buNone/>
            </a:pPr>
            <a:r>
              <a:rPr lang="en-US" sz="800" kern="0" spc="150" dirty="0">
                <a:solidFill>
                  <a:srgbClr val="C8E6D0"/>
                </a:solidFill>
              </a:rPr>
              <a:t>R E S E A R C H  F I N D I N G S</a:t>
            </a:r>
            <a:endParaRPr lang="en-US" sz="800" dirty="0"/>
          </a:p>
        </p:txBody>
      </p:sp>
      <p:sp>
        <p:nvSpPr>
          <p:cNvPr id="5" name="Shape 3"/>
          <p:cNvSpPr/>
          <p:nvPr/>
        </p:nvSpPr>
        <p:spPr>
          <a:xfrm>
            <a:off x="320040" y="914400"/>
            <a:ext cx="2743200" cy="2377440"/>
          </a:xfrm>
          <a:prstGeom prst="rect">
            <a:avLst/>
          </a:prstGeom>
          <a:solidFill>
            <a:srgbClr val="1A2E26"/>
          </a:solidFill>
          <a:ln/>
          <a:effectLst>
            <a:outerShdw blurRad="101600" dist="38100" dir="8100000" algn="bl" rotWithShape="0">
              <a:srgbClr val="000000">
                <a:alpha val="10000"/>
              </a:srgbClr>
            </a:outerShdw>
          </a:effectLst>
        </p:spPr>
        <p:txBody>
          <a:bodyPr/>
          <a:lstStyle/>
          <a:p>
            <a:endParaRPr lang="en-US"/>
          </a:p>
        </p:txBody>
      </p:sp>
      <p:sp>
        <p:nvSpPr>
          <p:cNvPr id="6" name="Text 4"/>
          <p:cNvSpPr/>
          <p:nvPr/>
        </p:nvSpPr>
        <p:spPr>
          <a:xfrm>
            <a:off x="320040" y="914400"/>
            <a:ext cx="2743200" cy="457200"/>
          </a:xfrm>
          <a:prstGeom prst="rect">
            <a:avLst/>
          </a:prstGeom>
          <a:noFill/>
          <a:ln/>
        </p:spPr>
        <p:txBody>
          <a:bodyPr wrap="square" lIns="0" tIns="0" rIns="0" bIns="0" rtlCol="0" anchor="ctr"/>
          <a:lstStyle/>
          <a:p>
            <a:pPr marL="0" indent="0" algn="ctr">
              <a:buNone/>
            </a:pPr>
            <a:r>
              <a:rPr lang="en-US" sz="1300" b="1" dirty="0">
                <a:solidFill>
                  <a:srgbClr val="FFFFFF"/>
                </a:solidFill>
              </a:rPr>
              <a:t>Top Vendors</a:t>
            </a:r>
            <a:endParaRPr lang="en-US" sz="1300" dirty="0"/>
          </a:p>
        </p:txBody>
      </p:sp>
      <p:sp>
        <p:nvSpPr>
          <p:cNvPr id="7" name="Text 5"/>
          <p:cNvSpPr/>
          <p:nvPr/>
        </p:nvSpPr>
        <p:spPr>
          <a:xfrm>
            <a:off x="320040" y="1371600"/>
            <a:ext cx="2743200" cy="914400"/>
          </a:xfrm>
          <a:prstGeom prst="rect">
            <a:avLst/>
          </a:prstGeom>
          <a:noFill/>
          <a:ln/>
        </p:spPr>
        <p:txBody>
          <a:bodyPr wrap="square" lIns="0" tIns="0" rIns="0" bIns="0" rtlCol="0" anchor="ctr"/>
          <a:lstStyle/>
          <a:p>
            <a:pPr marL="0" indent="0" algn="ctr">
              <a:buNone/>
            </a:pPr>
            <a:r>
              <a:rPr lang="en-US" sz="4200" b="1" dirty="0">
                <a:solidFill>
                  <a:srgbClr val="FFFFFF"/>
                </a:solidFill>
              </a:rPr>
              <a:t>31.18%</a:t>
            </a:r>
            <a:endParaRPr lang="en-US" sz="4200" dirty="0"/>
          </a:p>
        </p:txBody>
      </p:sp>
      <p:sp>
        <p:nvSpPr>
          <p:cNvPr id="8" name="Text 6"/>
          <p:cNvSpPr/>
          <p:nvPr/>
        </p:nvSpPr>
        <p:spPr>
          <a:xfrm>
            <a:off x="320040" y="2286000"/>
            <a:ext cx="2743200" cy="274320"/>
          </a:xfrm>
          <a:prstGeom prst="rect">
            <a:avLst/>
          </a:prstGeom>
          <a:noFill/>
          <a:ln/>
        </p:spPr>
        <p:txBody>
          <a:bodyPr wrap="square" lIns="0" tIns="0" rIns="0" bIns="0" rtlCol="0" anchor="ctr"/>
          <a:lstStyle/>
          <a:p>
            <a:pPr marL="0" indent="0" algn="ctr">
              <a:buNone/>
            </a:pPr>
            <a:r>
              <a:rPr lang="en-US" sz="1100" i="1" dirty="0">
                <a:solidFill>
                  <a:srgbClr val="4CAF7D"/>
                </a:solidFill>
              </a:rPr>
              <a:t>Avg Profit Margin</a:t>
            </a:r>
            <a:endParaRPr lang="en-US" sz="1100" dirty="0"/>
          </a:p>
        </p:txBody>
      </p:sp>
      <p:sp>
        <p:nvSpPr>
          <p:cNvPr id="9" name="Text 7"/>
          <p:cNvSpPr/>
          <p:nvPr/>
        </p:nvSpPr>
        <p:spPr>
          <a:xfrm>
            <a:off x="320040" y="2578608"/>
            <a:ext cx="2743200" cy="274320"/>
          </a:xfrm>
          <a:prstGeom prst="rect">
            <a:avLst/>
          </a:prstGeom>
          <a:noFill/>
          <a:ln/>
        </p:spPr>
        <p:txBody>
          <a:bodyPr wrap="square" lIns="0" tIns="0" rIns="0" bIns="0" rtlCol="0" anchor="ctr"/>
          <a:lstStyle/>
          <a:p>
            <a:pPr marL="0" indent="0" algn="ctr">
              <a:buNone/>
            </a:pPr>
            <a:r>
              <a:rPr lang="en-US" sz="1000" dirty="0">
                <a:solidFill>
                  <a:srgbClr val="9DBFB5"/>
                </a:solidFill>
              </a:rPr>
              <a:t>95% CI: (30.74 – 31.61)</a:t>
            </a:r>
            <a:endParaRPr lang="en-US" sz="1000" dirty="0"/>
          </a:p>
        </p:txBody>
      </p:sp>
      <p:sp>
        <p:nvSpPr>
          <p:cNvPr id="10" name="Text 8"/>
          <p:cNvSpPr/>
          <p:nvPr/>
        </p:nvSpPr>
        <p:spPr>
          <a:xfrm>
            <a:off x="320040" y="2926080"/>
            <a:ext cx="2743200" cy="274320"/>
          </a:xfrm>
          <a:prstGeom prst="rect">
            <a:avLst/>
          </a:prstGeom>
          <a:noFill/>
          <a:ln/>
        </p:spPr>
        <p:txBody>
          <a:bodyPr wrap="square" lIns="0" tIns="0" rIns="0" bIns="0" rtlCol="0" anchor="ctr"/>
          <a:lstStyle/>
          <a:p>
            <a:pPr marL="0" indent="0" algn="ctr">
              <a:buNone/>
            </a:pPr>
            <a:r>
              <a:rPr lang="en-US" sz="1000" i="1" dirty="0">
                <a:solidFill>
                  <a:srgbClr val="6B7B74"/>
                </a:solidFill>
              </a:rPr>
              <a:t>High volume, lower margin</a:t>
            </a:r>
            <a:endParaRPr lang="en-US" sz="1000" dirty="0"/>
          </a:p>
        </p:txBody>
      </p:sp>
      <p:sp>
        <p:nvSpPr>
          <p:cNvPr id="11" name="Shape 9"/>
          <p:cNvSpPr/>
          <p:nvPr/>
        </p:nvSpPr>
        <p:spPr>
          <a:xfrm>
            <a:off x="3337560" y="914400"/>
            <a:ext cx="2743200" cy="2377440"/>
          </a:xfrm>
          <a:prstGeom prst="rect">
            <a:avLst/>
          </a:prstGeom>
          <a:solidFill>
            <a:srgbClr val="005A43"/>
          </a:solidFill>
          <a:ln/>
          <a:effectLst>
            <a:outerShdw blurRad="101600" dist="38100" dir="8100000" algn="bl" rotWithShape="0">
              <a:srgbClr val="000000">
                <a:alpha val="10000"/>
              </a:srgbClr>
            </a:outerShdw>
          </a:effectLst>
        </p:spPr>
        <p:txBody>
          <a:bodyPr/>
          <a:lstStyle/>
          <a:p>
            <a:endParaRPr lang="en-US"/>
          </a:p>
        </p:txBody>
      </p:sp>
      <p:sp>
        <p:nvSpPr>
          <p:cNvPr id="12" name="Text 10"/>
          <p:cNvSpPr/>
          <p:nvPr/>
        </p:nvSpPr>
        <p:spPr>
          <a:xfrm>
            <a:off x="3337560" y="914400"/>
            <a:ext cx="2743200" cy="457200"/>
          </a:xfrm>
          <a:prstGeom prst="rect">
            <a:avLst/>
          </a:prstGeom>
          <a:noFill/>
          <a:ln/>
        </p:spPr>
        <p:txBody>
          <a:bodyPr wrap="square" lIns="0" tIns="0" rIns="0" bIns="0" rtlCol="0" anchor="ctr"/>
          <a:lstStyle/>
          <a:p>
            <a:pPr marL="0" indent="0" algn="ctr">
              <a:buNone/>
            </a:pPr>
            <a:r>
              <a:rPr lang="en-US" sz="1300" b="1" dirty="0">
                <a:solidFill>
                  <a:srgbClr val="FFFFFF"/>
                </a:solidFill>
              </a:rPr>
              <a:t>Low Vendors</a:t>
            </a:r>
            <a:endParaRPr lang="en-US" sz="1300" dirty="0"/>
          </a:p>
        </p:txBody>
      </p:sp>
      <p:sp>
        <p:nvSpPr>
          <p:cNvPr id="13" name="Text 11"/>
          <p:cNvSpPr/>
          <p:nvPr/>
        </p:nvSpPr>
        <p:spPr>
          <a:xfrm>
            <a:off x="3337560" y="1371600"/>
            <a:ext cx="2743200" cy="914400"/>
          </a:xfrm>
          <a:prstGeom prst="rect">
            <a:avLst/>
          </a:prstGeom>
          <a:noFill/>
          <a:ln/>
        </p:spPr>
        <p:txBody>
          <a:bodyPr wrap="square" lIns="0" tIns="0" rIns="0" bIns="0" rtlCol="0" anchor="ctr"/>
          <a:lstStyle/>
          <a:p>
            <a:pPr marL="0" indent="0" algn="ctr">
              <a:buNone/>
            </a:pPr>
            <a:r>
              <a:rPr lang="en-US" sz="4200" b="1" dirty="0">
                <a:solidFill>
                  <a:srgbClr val="FFFFFF"/>
                </a:solidFill>
              </a:rPr>
              <a:t>41.57%</a:t>
            </a:r>
            <a:endParaRPr lang="en-US" sz="4200" dirty="0"/>
          </a:p>
        </p:txBody>
      </p:sp>
      <p:sp>
        <p:nvSpPr>
          <p:cNvPr id="14" name="Text 12"/>
          <p:cNvSpPr/>
          <p:nvPr/>
        </p:nvSpPr>
        <p:spPr>
          <a:xfrm>
            <a:off x="3337560" y="2286000"/>
            <a:ext cx="2743200" cy="274320"/>
          </a:xfrm>
          <a:prstGeom prst="rect">
            <a:avLst/>
          </a:prstGeom>
          <a:noFill/>
          <a:ln/>
        </p:spPr>
        <p:txBody>
          <a:bodyPr wrap="square" lIns="0" tIns="0" rIns="0" bIns="0" rtlCol="0" anchor="ctr"/>
          <a:lstStyle/>
          <a:p>
            <a:pPr marL="0" indent="0" algn="ctr">
              <a:buNone/>
            </a:pPr>
            <a:r>
              <a:rPr lang="en-US" sz="1100" i="1" dirty="0">
                <a:solidFill>
                  <a:srgbClr val="C8E6D0"/>
                </a:solidFill>
              </a:rPr>
              <a:t>Avg Profit Margin</a:t>
            </a:r>
            <a:endParaRPr lang="en-US" sz="1100" dirty="0"/>
          </a:p>
        </p:txBody>
      </p:sp>
      <p:sp>
        <p:nvSpPr>
          <p:cNvPr id="15" name="Text 13"/>
          <p:cNvSpPr/>
          <p:nvPr/>
        </p:nvSpPr>
        <p:spPr>
          <a:xfrm>
            <a:off x="3337560" y="2578608"/>
            <a:ext cx="2743200" cy="274320"/>
          </a:xfrm>
          <a:prstGeom prst="rect">
            <a:avLst/>
          </a:prstGeom>
          <a:noFill/>
          <a:ln/>
        </p:spPr>
        <p:txBody>
          <a:bodyPr wrap="square" lIns="0" tIns="0" rIns="0" bIns="0" rtlCol="0" anchor="ctr"/>
          <a:lstStyle/>
          <a:p>
            <a:pPr marL="0" indent="0" algn="ctr">
              <a:buNone/>
            </a:pPr>
            <a:r>
              <a:rPr lang="en-US" sz="1000" dirty="0">
                <a:solidFill>
                  <a:srgbClr val="C8E6D0"/>
                </a:solidFill>
              </a:rPr>
              <a:t>95% CI: (40.50 – 42.64)</a:t>
            </a:r>
            <a:endParaRPr lang="en-US" sz="1000" dirty="0"/>
          </a:p>
        </p:txBody>
      </p:sp>
      <p:sp>
        <p:nvSpPr>
          <p:cNvPr id="16" name="Text 14"/>
          <p:cNvSpPr/>
          <p:nvPr/>
        </p:nvSpPr>
        <p:spPr>
          <a:xfrm>
            <a:off x="3337560" y="2926080"/>
            <a:ext cx="2743200" cy="274320"/>
          </a:xfrm>
          <a:prstGeom prst="rect">
            <a:avLst/>
          </a:prstGeom>
          <a:noFill/>
          <a:ln/>
        </p:spPr>
        <p:txBody>
          <a:bodyPr wrap="square" lIns="0" tIns="0" rIns="0" bIns="0" rtlCol="0" anchor="ctr"/>
          <a:lstStyle/>
          <a:p>
            <a:pPr marL="0" indent="0" algn="ctr">
              <a:buNone/>
            </a:pPr>
            <a:r>
              <a:rPr lang="en-US" sz="1000" i="1" dirty="0">
                <a:solidFill>
                  <a:srgbClr val="C8E6D0"/>
                </a:solidFill>
              </a:rPr>
              <a:t>Low volume, higher margin</a:t>
            </a:r>
            <a:endParaRPr lang="en-US" sz="1000" dirty="0"/>
          </a:p>
        </p:txBody>
      </p:sp>
      <p:sp>
        <p:nvSpPr>
          <p:cNvPr id="17" name="Shape 15"/>
          <p:cNvSpPr/>
          <p:nvPr/>
        </p:nvSpPr>
        <p:spPr>
          <a:xfrm>
            <a:off x="6263640" y="914400"/>
            <a:ext cx="2560320" cy="2377440"/>
          </a:xfrm>
          <a:prstGeom prst="rect">
            <a:avLst/>
          </a:prstGeom>
          <a:solidFill>
            <a:srgbClr val="F4F6F4"/>
          </a:solidFill>
          <a:ln/>
          <a:effectLst>
            <a:outerShdw blurRad="101600" dist="38100" dir="8100000" algn="bl" rotWithShape="0">
              <a:srgbClr val="000000">
                <a:alpha val="10000"/>
              </a:srgbClr>
            </a:outerShdw>
          </a:effectLst>
        </p:spPr>
        <p:txBody>
          <a:bodyPr/>
          <a:lstStyle/>
          <a:p>
            <a:endParaRPr lang="en-US"/>
          </a:p>
        </p:txBody>
      </p:sp>
      <p:sp>
        <p:nvSpPr>
          <p:cNvPr id="18" name="Text 16"/>
          <p:cNvSpPr/>
          <p:nvPr/>
        </p:nvSpPr>
        <p:spPr>
          <a:xfrm>
            <a:off x="6263640" y="960120"/>
            <a:ext cx="2560320" cy="347472"/>
          </a:xfrm>
          <a:prstGeom prst="rect">
            <a:avLst/>
          </a:prstGeom>
          <a:noFill/>
          <a:ln/>
        </p:spPr>
        <p:txBody>
          <a:bodyPr wrap="square" lIns="0" tIns="0" rIns="0" bIns="0" rtlCol="0" anchor="ctr"/>
          <a:lstStyle/>
          <a:p>
            <a:pPr marL="0" indent="0" algn="ctr">
              <a:buNone/>
            </a:pPr>
            <a:r>
              <a:rPr lang="en-US" sz="1200" b="1" dirty="0">
                <a:solidFill>
                  <a:srgbClr val="005A43"/>
                </a:solidFill>
              </a:rPr>
              <a:t>Key Insight</a:t>
            </a:r>
            <a:endParaRPr lang="en-US" sz="1200" dirty="0"/>
          </a:p>
        </p:txBody>
      </p:sp>
      <p:sp>
        <p:nvSpPr>
          <p:cNvPr id="19" name="Shape 17"/>
          <p:cNvSpPr/>
          <p:nvPr/>
        </p:nvSpPr>
        <p:spPr>
          <a:xfrm>
            <a:off x="6492240" y="1325880"/>
            <a:ext cx="2103120" cy="27432"/>
          </a:xfrm>
          <a:prstGeom prst="rect">
            <a:avLst/>
          </a:prstGeom>
          <a:solidFill>
            <a:srgbClr val="C9A84C"/>
          </a:solidFill>
          <a:ln/>
        </p:spPr>
        <p:txBody>
          <a:bodyPr/>
          <a:lstStyle/>
          <a:p>
            <a:endParaRPr lang="en-US"/>
          </a:p>
        </p:txBody>
      </p:sp>
      <p:sp>
        <p:nvSpPr>
          <p:cNvPr id="20" name="Text 18"/>
          <p:cNvSpPr/>
          <p:nvPr/>
        </p:nvSpPr>
        <p:spPr>
          <a:xfrm>
            <a:off x="6327648" y="1417320"/>
            <a:ext cx="2423160" cy="1828800"/>
          </a:xfrm>
          <a:prstGeom prst="rect">
            <a:avLst/>
          </a:prstGeom>
          <a:noFill/>
          <a:ln/>
        </p:spPr>
        <p:txBody>
          <a:bodyPr wrap="square" lIns="0" tIns="0" rIns="0" bIns="0" rtlCol="0" anchor="t"/>
          <a:lstStyle/>
          <a:p>
            <a:pPr marL="0" indent="0" algn="l">
              <a:lnSpc>
                <a:spcPct val="140000"/>
              </a:lnSpc>
              <a:buNone/>
            </a:pPr>
            <a:r>
              <a:rPr lang="en-US" sz="1100" dirty="0">
                <a:solidFill>
                  <a:srgbClr val="1A2E26"/>
                </a:solidFill>
              </a:rPr>
              <a:t>Low-volume vendors are 10+ percentage points more profitable per unit, a strategic opportunity to scale them up with targeted support and pricing refinement.</a:t>
            </a:r>
            <a:endParaRPr lang="en-US" sz="1100" dirty="0"/>
          </a:p>
        </p:txBody>
      </p:sp>
      <p:sp>
        <p:nvSpPr>
          <p:cNvPr id="21" name="Shape 19"/>
          <p:cNvSpPr/>
          <p:nvPr/>
        </p:nvSpPr>
        <p:spPr>
          <a:xfrm>
            <a:off x="320040" y="3429000"/>
            <a:ext cx="8503920" cy="566928"/>
          </a:xfrm>
          <a:prstGeom prst="rect">
            <a:avLst/>
          </a:prstGeom>
          <a:solidFill>
            <a:srgbClr val="F4F6F4"/>
          </a:solidFill>
          <a:ln/>
          <a:effectLst>
            <a:outerShdw blurRad="101600" dist="38100" dir="8100000" algn="bl" rotWithShape="0">
              <a:srgbClr val="000000">
                <a:alpha val="10000"/>
              </a:srgbClr>
            </a:outerShdw>
          </a:effectLst>
        </p:spPr>
        <p:txBody>
          <a:bodyPr/>
          <a:lstStyle/>
          <a:p>
            <a:endParaRPr lang="en-US"/>
          </a:p>
        </p:txBody>
      </p:sp>
      <p:sp>
        <p:nvSpPr>
          <p:cNvPr id="22" name="Shape 20"/>
          <p:cNvSpPr/>
          <p:nvPr/>
        </p:nvSpPr>
        <p:spPr>
          <a:xfrm>
            <a:off x="320040" y="3429000"/>
            <a:ext cx="91440" cy="566928"/>
          </a:xfrm>
          <a:prstGeom prst="rect">
            <a:avLst/>
          </a:prstGeom>
          <a:solidFill>
            <a:srgbClr val="4CAF7D"/>
          </a:solidFill>
          <a:ln/>
        </p:spPr>
        <p:txBody>
          <a:bodyPr/>
          <a:lstStyle/>
          <a:p>
            <a:endParaRPr lang="en-US"/>
          </a:p>
        </p:txBody>
      </p:sp>
      <p:sp>
        <p:nvSpPr>
          <p:cNvPr id="23" name="Text 21"/>
          <p:cNvSpPr/>
          <p:nvPr/>
        </p:nvSpPr>
        <p:spPr>
          <a:xfrm>
            <a:off x="502920" y="3456432"/>
            <a:ext cx="1645920" cy="256032"/>
          </a:xfrm>
          <a:prstGeom prst="rect">
            <a:avLst/>
          </a:prstGeom>
          <a:noFill/>
          <a:ln/>
        </p:spPr>
        <p:txBody>
          <a:bodyPr wrap="square" lIns="0" tIns="0" rIns="0" bIns="0" rtlCol="0" anchor="ctr"/>
          <a:lstStyle/>
          <a:p>
            <a:pPr marL="0" indent="0" algn="l">
              <a:buNone/>
            </a:pPr>
            <a:r>
              <a:rPr lang="en-US" sz="1100" b="1" dirty="0">
                <a:solidFill>
                  <a:srgbClr val="005A43"/>
                </a:solidFill>
              </a:rPr>
              <a:t>Statistical Validation:</a:t>
            </a:r>
            <a:endParaRPr lang="en-US" sz="1100" dirty="0"/>
          </a:p>
        </p:txBody>
      </p:sp>
      <p:sp>
        <p:nvSpPr>
          <p:cNvPr id="24" name="Text 22"/>
          <p:cNvSpPr/>
          <p:nvPr/>
        </p:nvSpPr>
        <p:spPr>
          <a:xfrm>
            <a:off x="502920" y="3703320"/>
            <a:ext cx="8229600" cy="256032"/>
          </a:xfrm>
          <a:prstGeom prst="rect">
            <a:avLst/>
          </a:prstGeom>
          <a:noFill/>
          <a:ln/>
        </p:spPr>
        <p:txBody>
          <a:bodyPr wrap="square" lIns="0" tIns="0" rIns="0" bIns="0" rtlCol="0" anchor="ctr"/>
          <a:lstStyle/>
          <a:p>
            <a:pPr marL="0" indent="0" algn="l">
              <a:buNone/>
            </a:pPr>
            <a:r>
              <a:rPr lang="en-US" sz="1050" dirty="0">
                <a:solidFill>
                  <a:srgbClr val="6B7B74"/>
                </a:solidFill>
              </a:rPr>
              <a:t>T-test confirmed the profit margin gap is statistically significant  (T = -17.67,  p &lt; 0.0001,  H₀ rejected).  The two groups operate under genuinely distinct profitability models.</a:t>
            </a:r>
            <a:endParaRPr lang="en-US" sz="1050" dirty="0"/>
          </a:p>
        </p:txBody>
      </p:sp>
      <p:sp>
        <p:nvSpPr>
          <p:cNvPr id="25" name="Text 23"/>
          <p:cNvSpPr/>
          <p:nvPr/>
        </p:nvSpPr>
        <p:spPr>
          <a:xfrm>
            <a:off x="320040" y="4133088"/>
            <a:ext cx="8229600" cy="274320"/>
          </a:xfrm>
          <a:prstGeom prst="rect">
            <a:avLst/>
          </a:prstGeom>
          <a:noFill/>
          <a:ln/>
        </p:spPr>
        <p:txBody>
          <a:bodyPr wrap="square" lIns="0" tIns="0" rIns="0" bIns="0" rtlCol="0" anchor="ctr"/>
          <a:lstStyle/>
          <a:p>
            <a:pPr marL="0" indent="0" algn="l">
              <a:buNone/>
            </a:pPr>
            <a:r>
              <a:rPr lang="en-US" sz="1200" b="1" dirty="0">
                <a:solidFill>
                  <a:srgbClr val="1A2E26"/>
                </a:solidFill>
              </a:rPr>
              <a:t>Correlation Highlights</a:t>
            </a:r>
            <a:endParaRPr lang="en-US" sz="1200" dirty="0"/>
          </a:p>
        </p:txBody>
      </p:sp>
      <p:sp>
        <p:nvSpPr>
          <p:cNvPr id="26" name="Shape 24"/>
          <p:cNvSpPr/>
          <p:nvPr/>
        </p:nvSpPr>
        <p:spPr>
          <a:xfrm>
            <a:off x="347472" y="4480560"/>
            <a:ext cx="109728" cy="109728"/>
          </a:xfrm>
          <a:prstGeom prst="ellipse">
            <a:avLst/>
          </a:prstGeom>
          <a:solidFill>
            <a:srgbClr val="005A43"/>
          </a:solidFill>
          <a:ln/>
        </p:spPr>
        <p:txBody>
          <a:bodyPr/>
          <a:lstStyle/>
          <a:p>
            <a:endParaRPr lang="en-US"/>
          </a:p>
        </p:txBody>
      </p:sp>
      <p:sp>
        <p:nvSpPr>
          <p:cNvPr id="27" name="Text 25"/>
          <p:cNvSpPr/>
          <p:nvPr/>
        </p:nvSpPr>
        <p:spPr>
          <a:xfrm>
            <a:off x="548640" y="4453128"/>
            <a:ext cx="8229600" cy="201168"/>
          </a:xfrm>
          <a:prstGeom prst="rect">
            <a:avLst/>
          </a:prstGeom>
          <a:noFill/>
          <a:ln/>
        </p:spPr>
        <p:txBody>
          <a:bodyPr wrap="square" lIns="0" tIns="0" rIns="0" bIns="0" rtlCol="0" anchor="ctr"/>
          <a:lstStyle/>
          <a:p>
            <a:pPr marL="0" indent="0" algn="l">
              <a:buNone/>
            </a:pPr>
            <a:r>
              <a:rPr lang="en-US" sz="1100" dirty="0">
                <a:solidFill>
                  <a:srgbClr val="6B7B74"/>
                </a:solidFill>
              </a:rPr>
              <a:t>Purchase Qty vs Sales Qty: 0.999 i.e. near-perfect demand alignment</a:t>
            </a:r>
            <a:endParaRPr lang="en-US" sz="1100" dirty="0"/>
          </a:p>
        </p:txBody>
      </p:sp>
      <p:sp>
        <p:nvSpPr>
          <p:cNvPr id="28" name="Shape 26"/>
          <p:cNvSpPr/>
          <p:nvPr/>
        </p:nvSpPr>
        <p:spPr>
          <a:xfrm>
            <a:off x="347472" y="4700016"/>
            <a:ext cx="109728" cy="109728"/>
          </a:xfrm>
          <a:prstGeom prst="ellipse">
            <a:avLst/>
          </a:prstGeom>
          <a:solidFill>
            <a:srgbClr val="005A43"/>
          </a:solidFill>
          <a:ln/>
        </p:spPr>
        <p:txBody>
          <a:bodyPr/>
          <a:lstStyle/>
          <a:p>
            <a:endParaRPr lang="en-US"/>
          </a:p>
        </p:txBody>
      </p:sp>
      <p:sp>
        <p:nvSpPr>
          <p:cNvPr id="29" name="Text 27"/>
          <p:cNvSpPr/>
          <p:nvPr/>
        </p:nvSpPr>
        <p:spPr>
          <a:xfrm>
            <a:off x="548640" y="4672584"/>
            <a:ext cx="8229600" cy="201168"/>
          </a:xfrm>
          <a:prstGeom prst="rect">
            <a:avLst/>
          </a:prstGeom>
          <a:noFill/>
          <a:ln/>
        </p:spPr>
        <p:txBody>
          <a:bodyPr wrap="square" lIns="0" tIns="0" rIns="0" bIns="0" rtlCol="0" anchor="ctr"/>
          <a:lstStyle/>
          <a:p>
            <a:pPr marL="0" indent="0" algn="l">
              <a:buNone/>
            </a:pPr>
            <a:r>
              <a:rPr lang="en-US" sz="1100" dirty="0">
                <a:solidFill>
                  <a:srgbClr val="6B7B74"/>
                </a:solidFill>
              </a:rPr>
              <a:t>Purchase Price vs Sales $: -0.012 i.e. demand is largely price-insensitive</a:t>
            </a:r>
            <a:endParaRPr lang="en-US" sz="1100" dirty="0"/>
          </a:p>
        </p:txBody>
      </p:sp>
      <p:sp>
        <p:nvSpPr>
          <p:cNvPr id="30" name="Shape 28"/>
          <p:cNvSpPr/>
          <p:nvPr/>
        </p:nvSpPr>
        <p:spPr>
          <a:xfrm>
            <a:off x="347472" y="4919472"/>
            <a:ext cx="109728" cy="109728"/>
          </a:xfrm>
          <a:prstGeom prst="ellipse">
            <a:avLst/>
          </a:prstGeom>
          <a:solidFill>
            <a:srgbClr val="005A43"/>
          </a:solidFill>
          <a:ln/>
        </p:spPr>
        <p:txBody>
          <a:bodyPr/>
          <a:lstStyle/>
          <a:p>
            <a:endParaRPr lang="en-US"/>
          </a:p>
        </p:txBody>
      </p:sp>
      <p:sp>
        <p:nvSpPr>
          <p:cNvPr id="31" name="Text 29"/>
          <p:cNvSpPr/>
          <p:nvPr/>
        </p:nvSpPr>
        <p:spPr>
          <a:xfrm>
            <a:off x="548640" y="4892040"/>
            <a:ext cx="8229600" cy="201168"/>
          </a:xfrm>
          <a:prstGeom prst="rect">
            <a:avLst/>
          </a:prstGeom>
          <a:noFill/>
          <a:ln/>
        </p:spPr>
        <p:txBody>
          <a:bodyPr wrap="square" lIns="0" tIns="0" rIns="0" bIns="0" rtlCol="0" anchor="ctr"/>
          <a:lstStyle/>
          <a:p>
            <a:pPr marL="0" indent="0" algn="l">
              <a:buNone/>
            </a:pPr>
            <a:r>
              <a:rPr lang="en-US" sz="1100" dirty="0">
                <a:solidFill>
                  <a:srgbClr val="6B7B74"/>
                </a:solidFill>
              </a:rPr>
              <a:t>Profit Margin vs Sales Price: -0.179 i.e. higher price ≠ higher margin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5A43"/>
          </a:solidFill>
          <a:ln/>
        </p:spPr>
        <p:txBody>
          <a:bodyPr/>
          <a:lstStyle/>
          <a:p>
            <a:endParaRPr lang="en-US"/>
          </a:p>
        </p:txBody>
      </p:sp>
      <p:sp>
        <p:nvSpPr>
          <p:cNvPr id="3" name="Text 1"/>
          <p:cNvSpPr/>
          <p:nvPr/>
        </p:nvSpPr>
        <p:spPr>
          <a:xfrm>
            <a:off x="411480" y="0"/>
            <a:ext cx="6858000" cy="749808"/>
          </a:xfrm>
          <a:prstGeom prst="rect">
            <a:avLst/>
          </a:prstGeom>
          <a:noFill/>
          <a:ln/>
        </p:spPr>
        <p:txBody>
          <a:bodyPr wrap="square" lIns="0" tIns="0" rIns="0" bIns="0" rtlCol="0" anchor="ctr"/>
          <a:lstStyle/>
          <a:p>
            <a:pPr marL="0" indent="0" algn="l">
              <a:buNone/>
            </a:pPr>
            <a:r>
              <a:rPr lang="en-US" sz="2500" b="1" dirty="0">
                <a:solidFill>
                  <a:srgbClr val="FFFFFF"/>
                </a:solidFill>
              </a:rPr>
              <a:t>Power BI Dashboard</a:t>
            </a:r>
            <a:endParaRPr lang="en-US" sz="2500" dirty="0"/>
          </a:p>
        </p:txBody>
      </p:sp>
      <p:sp>
        <p:nvSpPr>
          <p:cNvPr id="4" name="Text 2"/>
          <p:cNvSpPr/>
          <p:nvPr/>
        </p:nvSpPr>
        <p:spPr>
          <a:xfrm>
            <a:off x="6583680" y="0"/>
            <a:ext cx="2423160" cy="749808"/>
          </a:xfrm>
          <a:prstGeom prst="rect">
            <a:avLst/>
          </a:prstGeom>
          <a:noFill/>
          <a:ln/>
        </p:spPr>
        <p:txBody>
          <a:bodyPr wrap="square" lIns="0" tIns="0" rIns="0" bIns="0" rtlCol="0" anchor="ctr"/>
          <a:lstStyle/>
          <a:p>
            <a:pPr marL="0" indent="0" algn="r">
              <a:buNone/>
            </a:pPr>
            <a:r>
              <a:rPr lang="en-US" sz="800" kern="0" spc="150" dirty="0">
                <a:solidFill>
                  <a:srgbClr val="C8E6D0"/>
                </a:solidFill>
              </a:rPr>
              <a:t>V I S U A L I Z A T I O N</a:t>
            </a:r>
            <a:endParaRPr lang="en-US" sz="800" dirty="0"/>
          </a:p>
        </p:txBody>
      </p:sp>
      <p:pic>
        <p:nvPicPr>
          <p:cNvPr id="5" name="Image 0" descr="/home/claude/dashboard.png"/>
          <p:cNvPicPr>
            <a:picLocks noChangeAspect="1"/>
          </p:cNvPicPr>
          <p:nvPr/>
        </p:nvPicPr>
        <p:blipFill>
          <a:blip r:embed="rId3"/>
          <a:srcRect/>
          <a:stretch/>
        </p:blipFill>
        <p:spPr>
          <a:xfrm>
            <a:off x="320040" y="914400"/>
            <a:ext cx="5577840" cy="3291840"/>
          </a:xfrm>
          <a:prstGeom prst="rect">
            <a:avLst/>
          </a:prstGeom>
        </p:spPr>
      </p:pic>
      <p:sp>
        <p:nvSpPr>
          <p:cNvPr id="6" name="Text 3"/>
          <p:cNvSpPr/>
          <p:nvPr/>
        </p:nvSpPr>
        <p:spPr>
          <a:xfrm>
            <a:off x="6080760" y="960120"/>
            <a:ext cx="2834640" cy="320040"/>
          </a:xfrm>
          <a:prstGeom prst="rect">
            <a:avLst/>
          </a:prstGeom>
          <a:noFill/>
          <a:ln/>
        </p:spPr>
        <p:txBody>
          <a:bodyPr wrap="square" lIns="0" tIns="0" rIns="0" bIns="0" rtlCol="0" anchor="ctr"/>
          <a:lstStyle/>
          <a:p>
            <a:pPr marL="0" indent="0" algn="l">
              <a:buNone/>
            </a:pPr>
            <a:r>
              <a:rPr lang="en-US" sz="1300" b="1" dirty="0">
                <a:solidFill>
                  <a:srgbClr val="005A43"/>
                </a:solidFill>
              </a:rPr>
              <a:t>Dashboard Features</a:t>
            </a:r>
            <a:endParaRPr lang="en-US" sz="1300" dirty="0"/>
          </a:p>
        </p:txBody>
      </p:sp>
      <p:sp>
        <p:nvSpPr>
          <p:cNvPr id="7" name="Shape 4"/>
          <p:cNvSpPr/>
          <p:nvPr/>
        </p:nvSpPr>
        <p:spPr>
          <a:xfrm>
            <a:off x="6080760" y="1371600"/>
            <a:ext cx="201168" cy="201168"/>
          </a:xfrm>
          <a:prstGeom prst="rect">
            <a:avLst/>
          </a:prstGeom>
          <a:solidFill>
            <a:srgbClr val="005A43"/>
          </a:solidFill>
          <a:ln/>
        </p:spPr>
        <p:txBody>
          <a:bodyPr/>
          <a:lstStyle/>
          <a:p>
            <a:endParaRPr lang="en-US"/>
          </a:p>
        </p:txBody>
      </p:sp>
      <p:sp>
        <p:nvSpPr>
          <p:cNvPr id="8" name="Text 5"/>
          <p:cNvSpPr/>
          <p:nvPr/>
        </p:nvSpPr>
        <p:spPr>
          <a:xfrm>
            <a:off x="6400800" y="1353312"/>
            <a:ext cx="2423160" cy="274320"/>
          </a:xfrm>
          <a:prstGeom prst="rect">
            <a:avLst/>
          </a:prstGeom>
          <a:noFill/>
          <a:ln/>
        </p:spPr>
        <p:txBody>
          <a:bodyPr wrap="square" lIns="0" tIns="0" rIns="0" bIns="0" rtlCol="0" anchor="ctr"/>
          <a:lstStyle/>
          <a:p>
            <a:pPr marL="0" indent="0" algn="l">
              <a:buNone/>
            </a:pPr>
            <a:r>
              <a:rPr lang="en-US" sz="1150" dirty="0">
                <a:solidFill>
                  <a:srgbClr val="1A2E26"/>
                </a:solidFill>
              </a:rPr>
              <a:t>6 KPI cards at-a-glance</a:t>
            </a:r>
            <a:endParaRPr lang="en-US" sz="1150" dirty="0"/>
          </a:p>
        </p:txBody>
      </p:sp>
      <p:sp>
        <p:nvSpPr>
          <p:cNvPr id="9" name="Shape 6"/>
          <p:cNvSpPr/>
          <p:nvPr/>
        </p:nvSpPr>
        <p:spPr>
          <a:xfrm>
            <a:off x="6080760" y="1883664"/>
            <a:ext cx="201168" cy="201168"/>
          </a:xfrm>
          <a:prstGeom prst="rect">
            <a:avLst/>
          </a:prstGeom>
          <a:solidFill>
            <a:srgbClr val="005A43"/>
          </a:solidFill>
          <a:ln/>
        </p:spPr>
        <p:txBody>
          <a:bodyPr/>
          <a:lstStyle/>
          <a:p>
            <a:endParaRPr lang="en-US"/>
          </a:p>
        </p:txBody>
      </p:sp>
      <p:sp>
        <p:nvSpPr>
          <p:cNvPr id="10" name="Text 7"/>
          <p:cNvSpPr/>
          <p:nvPr/>
        </p:nvSpPr>
        <p:spPr>
          <a:xfrm>
            <a:off x="6400800" y="1865376"/>
            <a:ext cx="2423160" cy="274320"/>
          </a:xfrm>
          <a:prstGeom prst="rect">
            <a:avLst/>
          </a:prstGeom>
          <a:noFill/>
          <a:ln/>
        </p:spPr>
        <p:txBody>
          <a:bodyPr wrap="square" lIns="0" tIns="0" rIns="0" bIns="0" rtlCol="0" anchor="ctr"/>
          <a:lstStyle/>
          <a:p>
            <a:pPr marL="0" indent="0" algn="l">
              <a:buNone/>
            </a:pPr>
            <a:r>
              <a:rPr lang="en-US" sz="1150" dirty="0">
                <a:solidFill>
                  <a:srgbClr val="1A2E26"/>
                </a:solidFill>
              </a:rPr>
              <a:t>Top 10 vendors by purchase %</a:t>
            </a:r>
            <a:endParaRPr lang="en-US" sz="1150" dirty="0"/>
          </a:p>
        </p:txBody>
      </p:sp>
      <p:sp>
        <p:nvSpPr>
          <p:cNvPr id="11" name="Shape 8"/>
          <p:cNvSpPr/>
          <p:nvPr/>
        </p:nvSpPr>
        <p:spPr>
          <a:xfrm>
            <a:off x="6080760" y="2395728"/>
            <a:ext cx="201168" cy="201168"/>
          </a:xfrm>
          <a:prstGeom prst="rect">
            <a:avLst/>
          </a:prstGeom>
          <a:solidFill>
            <a:srgbClr val="005A43"/>
          </a:solidFill>
          <a:ln/>
        </p:spPr>
        <p:txBody>
          <a:bodyPr/>
          <a:lstStyle/>
          <a:p>
            <a:endParaRPr lang="en-US"/>
          </a:p>
        </p:txBody>
      </p:sp>
      <p:sp>
        <p:nvSpPr>
          <p:cNvPr id="12" name="Text 9"/>
          <p:cNvSpPr/>
          <p:nvPr/>
        </p:nvSpPr>
        <p:spPr>
          <a:xfrm>
            <a:off x="6400800" y="2377440"/>
            <a:ext cx="2423160" cy="274320"/>
          </a:xfrm>
          <a:prstGeom prst="rect">
            <a:avLst/>
          </a:prstGeom>
          <a:noFill/>
          <a:ln/>
        </p:spPr>
        <p:txBody>
          <a:bodyPr wrap="square" lIns="0" tIns="0" rIns="0" bIns="0" rtlCol="0" anchor="ctr"/>
          <a:lstStyle/>
          <a:p>
            <a:pPr marL="0" indent="0" algn="l">
              <a:buNone/>
            </a:pPr>
            <a:r>
              <a:rPr lang="en-US" sz="1150" dirty="0">
                <a:solidFill>
                  <a:srgbClr val="1A2E26"/>
                </a:solidFill>
              </a:rPr>
              <a:t>Sales performance by brand</a:t>
            </a:r>
            <a:endParaRPr lang="en-US" sz="1150" dirty="0"/>
          </a:p>
        </p:txBody>
      </p:sp>
      <p:sp>
        <p:nvSpPr>
          <p:cNvPr id="13" name="Shape 10"/>
          <p:cNvSpPr/>
          <p:nvPr/>
        </p:nvSpPr>
        <p:spPr>
          <a:xfrm>
            <a:off x="6080760" y="2907792"/>
            <a:ext cx="201168" cy="201168"/>
          </a:xfrm>
          <a:prstGeom prst="rect">
            <a:avLst/>
          </a:prstGeom>
          <a:solidFill>
            <a:srgbClr val="005A43"/>
          </a:solidFill>
          <a:ln/>
        </p:spPr>
        <p:txBody>
          <a:bodyPr/>
          <a:lstStyle/>
          <a:p>
            <a:endParaRPr lang="en-US"/>
          </a:p>
        </p:txBody>
      </p:sp>
      <p:sp>
        <p:nvSpPr>
          <p:cNvPr id="14" name="Text 11"/>
          <p:cNvSpPr/>
          <p:nvPr/>
        </p:nvSpPr>
        <p:spPr>
          <a:xfrm>
            <a:off x="6400800" y="2889504"/>
            <a:ext cx="2423160" cy="274320"/>
          </a:xfrm>
          <a:prstGeom prst="rect">
            <a:avLst/>
          </a:prstGeom>
          <a:noFill/>
          <a:ln/>
        </p:spPr>
        <p:txBody>
          <a:bodyPr wrap="square" lIns="0" tIns="0" rIns="0" bIns="0" rtlCol="0" anchor="ctr"/>
          <a:lstStyle/>
          <a:p>
            <a:pPr marL="0" indent="0" algn="l">
              <a:buNone/>
            </a:pPr>
            <a:r>
              <a:rPr lang="en-US" sz="1150" dirty="0">
                <a:solidFill>
                  <a:srgbClr val="1A2E26"/>
                </a:solidFill>
              </a:rPr>
              <a:t>Low-performing vendor flags</a:t>
            </a:r>
            <a:endParaRPr lang="en-US" sz="1150" dirty="0"/>
          </a:p>
        </p:txBody>
      </p:sp>
      <p:sp>
        <p:nvSpPr>
          <p:cNvPr id="15" name="Shape 12"/>
          <p:cNvSpPr/>
          <p:nvPr/>
        </p:nvSpPr>
        <p:spPr>
          <a:xfrm>
            <a:off x="6080760" y="3419856"/>
            <a:ext cx="201168" cy="201168"/>
          </a:xfrm>
          <a:prstGeom prst="rect">
            <a:avLst/>
          </a:prstGeom>
          <a:solidFill>
            <a:srgbClr val="005A43"/>
          </a:solidFill>
          <a:ln/>
        </p:spPr>
        <p:txBody>
          <a:bodyPr/>
          <a:lstStyle/>
          <a:p>
            <a:endParaRPr lang="en-US"/>
          </a:p>
        </p:txBody>
      </p:sp>
      <p:sp>
        <p:nvSpPr>
          <p:cNvPr id="16" name="Text 13"/>
          <p:cNvSpPr/>
          <p:nvPr/>
        </p:nvSpPr>
        <p:spPr>
          <a:xfrm>
            <a:off x="6400800" y="3401568"/>
            <a:ext cx="2423160" cy="274320"/>
          </a:xfrm>
          <a:prstGeom prst="rect">
            <a:avLst/>
          </a:prstGeom>
          <a:noFill/>
          <a:ln/>
        </p:spPr>
        <p:txBody>
          <a:bodyPr wrap="square" lIns="0" tIns="0" rIns="0" bIns="0" rtlCol="0" anchor="ctr"/>
          <a:lstStyle/>
          <a:p>
            <a:pPr marL="0" indent="0" algn="l">
              <a:buNone/>
            </a:pPr>
            <a:r>
              <a:rPr lang="en-US" sz="1150" dirty="0">
                <a:solidFill>
                  <a:srgbClr val="1A2E26"/>
                </a:solidFill>
              </a:rPr>
              <a:t>Scatter: profit vs sales</a:t>
            </a:r>
            <a:endParaRPr lang="en-US" sz="1150" dirty="0"/>
          </a:p>
        </p:txBody>
      </p:sp>
      <p:sp>
        <p:nvSpPr>
          <p:cNvPr id="17" name="Shape 14"/>
          <p:cNvSpPr/>
          <p:nvPr/>
        </p:nvSpPr>
        <p:spPr>
          <a:xfrm>
            <a:off x="6080760" y="3931920"/>
            <a:ext cx="201168" cy="201168"/>
          </a:xfrm>
          <a:prstGeom prst="rect">
            <a:avLst/>
          </a:prstGeom>
          <a:solidFill>
            <a:srgbClr val="005A43"/>
          </a:solidFill>
          <a:ln/>
        </p:spPr>
        <p:txBody>
          <a:bodyPr/>
          <a:lstStyle/>
          <a:p>
            <a:endParaRPr lang="en-US"/>
          </a:p>
        </p:txBody>
      </p:sp>
      <p:sp>
        <p:nvSpPr>
          <p:cNvPr id="18" name="Text 15"/>
          <p:cNvSpPr/>
          <p:nvPr/>
        </p:nvSpPr>
        <p:spPr>
          <a:xfrm>
            <a:off x="6400800" y="3913632"/>
            <a:ext cx="2423160" cy="274320"/>
          </a:xfrm>
          <a:prstGeom prst="rect">
            <a:avLst/>
          </a:prstGeom>
          <a:noFill/>
          <a:ln/>
        </p:spPr>
        <p:txBody>
          <a:bodyPr wrap="square" lIns="0" tIns="0" rIns="0" bIns="0" rtlCol="0" anchor="ctr"/>
          <a:lstStyle/>
          <a:p>
            <a:pPr marL="0" indent="0" algn="l">
              <a:buNone/>
            </a:pPr>
            <a:r>
              <a:rPr lang="en-US" sz="1150" dirty="0">
                <a:solidFill>
                  <a:srgbClr val="1A2E26"/>
                </a:solidFill>
              </a:rPr>
              <a:t>Dynamic filters &amp; drill-downs</a:t>
            </a:r>
            <a:endParaRPr lang="en-US" sz="1150" dirty="0"/>
          </a:p>
        </p:txBody>
      </p:sp>
      <p:sp>
        <p:nvSpPr>
          <p:cNvPr id="19" name="Shape 16"/>
          <p:cNvSpPr/>
          <p:nvPr/>
        </p:nvSpPr>
        <p:spPr>
          <a:xfrm>
            <a:off x="0" y="4343400"/>
            <a:ext cx="9144000" cy="384048"/>
          </a:xfrm>
          <a:prstGeom prst="rect">
            <a:avLst/>
          </a:prstGeom>
          <a:solidFill>
            <a:srgbClr val="1A2E26"/>
          </a:solidFill>
          <a:ln/>
        </p:spPr>
        <p:txBody>
          <a:bodyPr/>
          <a:lstStyle/>
          <a:p>
            <a:endParaRPr lang="en-US"/>
          </a:p>
        </p:txBody>
      </p:sp>
      <p:sp>
        <p:nvSpPr>
          <p:cNvPr id="20" name="Text 17"/>
          <p:cNvSpPr/>
          <p:nvPr/>
        </p:nvSpPr>
        <p:spPr>
          <a:xfrm>
            <a:off x="411480" y="4343400"/>
            <a:ext cx="8321040" cy="384048"/>
          </a:xfrm>
          <a:prstGeom prst="rect">
            <a:avLst/>
          </a:prstGeom>
          <a:noFill/>
          <a:ln/>
        </p:spPr>
        <p:txBody>
          <a:bodyPr wrap="square" lIns="0" tIns="0" rIns="0" bIns="0" rtlCol="0" anchor="ctr"/>
          <a:lstStyle/>
          <a:p>
            <a:pPr marL="0" indent="0" algn="l">
              <a:buNone/>
            </a:pPr>
            <a:r>
              <a:rPr lang="en-US" sz="1100" i="1" dirty="0">
                <a:solidFill>
                  <a:srgbClr val="4CAF7D"/>
                </a:solidFill>
              </a:rPr>
              <a:t>Built for business users - no Python or SQL knowledge required to extract insights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5A43"/>
          </a:solidFill>
          <a:ln/>
        </p:spPr>
        <p:txBody>
          <a:bodyPr/>
          <a:lstStyle/>
          <a:p>
            <a:endParaRPr lang="en-US"/>
          </a:p>
        </p:txBody>
      </p:sp>
      <p:sp>
        <p:nvSpPr>
          <p:cNvPr id="3" name="Text 1"/>
          <p:cNvSpPr/>
          <p:nvPr/>
        </p:nvSpPr>
        <p:spPr>
          <a:xfrm>
            <a:off x="411480" y="0"/>
            <a:ext cx="6858000" cy="749808"/>
          </a:xfrm>
          <a:prstGeom prst="rect">
            <a:avLst/>
          </a:prstGeom>
          <a:noFill/>
          <a:ln/>
        </p:spPr>
        <p:txBody>
          <a:bodyPr wrap="square" lIns="0" tIns="0" rIns="0" bIns="0" rtlCol="0" anchor="ctr"/>
          <a:lstStyle/>
          <a:p>
            <a:pPr marL="0" indent="0" algn="l">
              <a:buNone/>
            </a:pPr>
            <a:r>
              <a:rPr lang="en-US" sz="2500" b="1" dirty="0">
                <a:solidFill>
                  <a:srgbClr val="FFFFFF"/>
                </a:solidFill>
              </a:rPr>
              <a:t>Business Impact</a:t>
            </a:r>
            <a:endParaRPr lang="en-US" sz="2500" dirty="0"/>
          </a:p>
        </p:txBody>
      </p:sp>
      <p:sp>
        <p:nvSpPr>
          <p:cNvPr id="4" name="Text 2"/>
          <p:cNvSpPr/>
          <p:nvPr/>
        </p:nvSpPr>
        <p:spPr>
          <a:xfrm>
            <a:off x="6583680" y="0"/>
            <a:ext cx="2423160" cy="749808"/>
          </a:xfrm>
          <a:prstGeom prst="rect">
            <a:avLst/>
          </a:prstGeom>
          <a:noFill/>
          <a:ln/>
        </p:spPr>
        <p:txBody>
          <a:bodyPr wrap="square" lIns="0" tIns="0" rIns="0" bIns="0" rtlCol="0" anchor="ctr"/>
          <a:lstStyle/>
          <a:p>
            <a:pPr marL="0" indent="0" algn="r">
              <a:buNone/>
            </a:pPr>
            <a:r>
              <a:rPr lang="en-US" sz="800" kern="0" spc="150" dirty="0">
                <a:solidFill>
                  <a:srgbClr val="C8E6D0"/>
                </a:solidFill>
              </a:rPr>
              <a:t>S O  W H A T ?</a:t>
            </a:r>
            <a:endParaRPr lang="en-US" sz="800" dirty="0"/>
          </a:p>
        </p:txBody>
      </p:sp>
      <p:sp>
        <p:nvSpPr>
          <p:cNvPr id="5" name="Shape 3"/>
          <p:cNvSpPr/>
          <p:nvPr/>
        </p:nvSpPr>
        <p:spPr>
          <a:xfrm>
            <a:off x="320040" y="914400"/>
            <a:ext cx="4114800" cy="1783080"/>
          </a:xfrm>
          <a:prstGeom prst="rect">
            <a:avLst/>
          </a:prstGeom>
          <a:solidFill>
            <a:srgbClr val="1A2E26"/>
          </a:solidFill>
          <a:ln/>
          <a:effectLst>
            <a:outerShdw blurRad="101600" dist="38100" dir="8100000" algn="bl" rotWithShape="0">
              <a:srgbClr val="000000">
                <a:alpha val="10000"/>
              </a:srgbClr>
            </a:outerShdw>
          </a:effectLst>
        </p:spPr>
        <p:txBody>
          <a:bodyPr/>
          <a:lstStyle/>
          <a:p>
            <a:endParaRPr lang="en-US"/>
          </a:p>
        </p:txBody>
      </p:sp>
      <p:sp>
        <p:nvSpPr>
          <p:cNvPr id="6" name="Text 4"/>
          <p:cNvSpPr/>
          <p:nvPr/>
        </p:nvSpPr>
        <p:spPr>
          <a:xfrm>
            <a:off x="502920" y="1051560"/>
            <a:ext cx="3749040" cy="365760"/>
          </a:xfrm>
          <a:prstGeom prst="rect">
            <a:avLst/>
          </a:prstGeom>
          <a:noFill/>
          <a:ln/>
        </p:spPr>
        <p:txBody>
          <a:bodyPr wrap="square" lIns="0" tIns="0" rIns="0" bIns="0" rtlCol="0" anchor="ctr"/>
          <a:lstStyle/>
          <a:p>
            <a:pPr marL="0" indent="0" algn="l">
              <a:buNone/>
            </a:pPr>
            <a:r>
              <a:rPr lang="en-US" sz="1400" b="1" dirty="0">
                <a:solidFill>
                  <a:srgbClr val="FFFFFF"/>
                </a:solidFill>
              </a:rPr>
              <a:t>Smarter Vendor Selection</a:t>
            </a:r>
            <a:endParaRPr lang="en-US" sz="1400" dirty="0"/>
          </a:p>
        </p:txBody>
      </p:sp>
      <p:sp>
        <p:nvSpPr>
          <p:cNvPr id="7" name="Shape 5"/>
          <p:cNvSpPr/>
          <p:nvPr/>
        </p:nvSpPr>
        <p:spPr>
          <a:xfrm>
            <a:off x="502920" y="1444752"/>
            <a:ext cx="3749040" cy="36576"/>
          </a:xfrm>
          <a:prstGeom prst="rect">
            <a:avLst/>
          </a:prstGeom>
          <a:solidFill>
            <a:srgbClr val="C9A84C"/>
          </a:solidFill>
          <a:ln/>
        </p:spPr>
        <p:txBody>
          <a:bodyPr/>
          <a:lstStyle/>
          <a:p>
            <a:endParaRPr lang="en-US"/>
          </a:p>
        </p:txBody>
      </p:sp>
      <p:sp>
        <p:nvSpPr>
          <p:cNvPr id="8" name="Text 6"/>
          <p:cNvSpPr/>
          <p:nvPr/>
        </p:nvSpPr>
        <p:spPr>
          <a:xfrm>
            <a:off x="502920" y="1572768"/>
            <a:ext cx="3749040" cy="1005840"/>
          </a:xfrm>
          <a:prstGeom prst="rect">
            <a:avLst/>
          </a:prstGeom>
          <a:noFill/>
          <a:ln/>
        </p:spPr>
        <p:txBody>
          <a:bodyPr wrap="square" lIns="0" tIns="0" rIns="0" bIns="0" rtlCol="0" anchor="t"/>
          <a:lstStyle/>
          <a:p>
            <a:pPr marL="0" indent="0" algn="l">
              <a:lnSpc>
                <a:spcPct val="135000"/>
              </a:lnSpc>
              <a:buNone/>
            </a:pPr>
            <a:r>
              <a:rPr lang="en-US" sz="1150" dirty="0">
                <a:solidFill>
                  <a:srgbClr val="D4EAE1"/>
                </a:solidFill>
              </a:rPr>
              <a:t>Data-backed vendor ranking by profitability and reliability  that replaces gut-feel procurement with evidence-based decisions</a:t>
            </a:r>
            <a:endParaRPr lang="en-US" sz="1150" dirty="0"/>
          </a:p>
        </p:txBody>
      </p:sp>
      <p:sp>
        <p:nvSpPr>
          <p:cNvPr id="9" name="Shape 7"/>
          <p:cNvSpPr/>
          <p:nvPr/>
        </p:nvSpPr>
        <p:spPr>
          <a:xfrm>
            <a:off x="4754880" y="914400"/>
            <a:ext cx="4114800" cy="1783080"/>
          </a:xfrm>
          <a:prstGeom prst="rect">
            <a:avLst/>
          </a:prstGeom>
          <a:solidFill>
            <a:srgbClr val="005A43"/>
          </a:solidFill>
          <a:ln/>
          <a:effectLst>
            <a:outerShdw blurRad="101600" dist="38100" dir="8100000" algn="bl" rotWithShape="0">
              <a:srgbClr val="000000">
                <a:alpha val="10000"/>
              </a:srgbClr>
            </a:outerShdw>
          </a:effectLst>
        </p:spPr>
        <p:txBody>
          <a:bodyPr/>
          <a:lstStyle/>
          <a:p>
            <a:endParaRPr lang="en-US"/>
          </a:p>
        </p:txBody>
      </p:sp>
      <p:sp>
        <p:nvSpPr>
          <p:cNvPr id="10" name="Text 8"/>
          <p:cNvSpPr/>
          <p:nvPr/>
        </p:nvSpPr>
        <p:spPr>
          <a:xfrm>
            <a:off x="4937760" y="1051560"/>
            <a:ext cx="3749040" cy="365760"/>
          </a:xfrm>
          <a:prstGeom prst="rect">
            <a:avLst/>
          </a:prstGeom>
          <a:noFill/>
          <a:ln/>
        </p:spPr>
        <p:txBody>
          <a:bodyPr wrap="square" lIns="0" tIns="0" rIns="0" bIns="0" rtlCol="0" anchor="ctr"/>
          <a:lstStyle/>
          <a:p>
            <a:pPr marL="0" indent="0" algn="l">
              <a:buNone/>
            </a:pPr>
            <a:r>
              <a:rPr lang="en-US" sz="1400" b="1" dirty="0">
                <a:solidFill>
                  <a:srgbClr val="FFFFFF"/>
                </a:solidFill>
              </a:rPr>
              <a:t>Unlock $2.71M in Capital</a:t>
            </a:r>
            <a:endParaRPr lang="en-US" sz="1400" dirty="0"/>
          </a:p>
        </p:txBody>
      </p:sp>
      <p:sp>
        <p:nvSpPr>
          <p:cNvPr id="11" name="Shape 9"/>
          <p:cNvSpPr/>
          <p:nvPr/>
        </p:nvSpPr>
        <p:spPr>
          <a:xfrm>
            <a:off x="4937760" y="1444752"/>
            <a:ext cx="3749040" cy="36576"/>
          </a:xfrm>
          <a:prstGeom prst="rect">
            <a:avLst/>
          </a:prstGeom>
          <a:solidFill>
            <a:srgbClr val="C9A84C"/>
          </a:solidFill>
          <a:ln/>
        </p:spPr>
        <p:txBody>
          <a:bodyPr/>
          <a:lstStyle/>
          <a:p>
            <a:endParaRPr lang="en-US"/>
          </a:p>
        </p:txBody>
      </p:sp>
      <p:sp>
        <p:nvSpPr>
          <p:cNvPr id="12" name="Text 10"/>
          <p:cNvSpPr/>
          <p:nvPr/>
        </p:nvSpPr>
        <p:spPr>
          <a:xfrm>
            <a:off x="4937760" y="1572768"/>
            <a:ext cx="3749040" cy="1005840"/>
          </a:xfrm>
          <a:prstGeom prst="rect">
            <a:avLst/>
          </a:prstGeom>
          <a:noFill/>
          <a:ln/>
        </p:spPr>
        <p:txBody>
          <a:bodyPr wrap="square" lIns="0" tIns="0" rIns="0" bIns="0" rtlCol="0" anchor="t"/>
          <a:lstStyle/>
          <a:p>
            <a:pPr marL="0" indent="0" algn="l">
              <a:lnSpc>
                <a:spcPct val="135000"/>
              </a:lnSpc>
              <a:buNone/>
            </a:pPr>
            <a:r>
              <a:rPr lang="en-US" sz="1150" dirty="0">
                <a:solidFill>
                  <a:srgbClr val="D4EAE1"/>
                </a:solidFill>
              </a:rPr>
              <a:t>Unsold inventory identified vendor-by-vendor and actionable targets for clearance pricing or reduced replenishment orders</a:t>
            </a:r>
            <a:endParaRPr lang="en-US" sz="1150" dirty="0"/>
          </a:p>
        </p:txBody>
      </p:sp>
      <p:sp>
        <p:nvSpPr>
          <p:cNvPr id="13" name="Shape 11"/>
          <p:cNvSpPr/>
          <p:nvPr/>
        </p:nvSpPr>
        <p:spPr>
          <a:xfrm>
            <a:off x="320040" y="2880360"/>
            <a:ext cx="4114800" cy="1783080"/>
          </a:xfrm>
          <a:prstGeom prst="rect">
            <a:avLst/>
          </a:prstGeom>
          <a:solidFill>
            <a:srgbClr val="1E5F4A"/>
          </a:solidFill>
          <a:ln/>
          <a:effectLst>
            <a:outerShdw blurRad="101600" dist="38100" dir="8100000" algn="bl" rotWithShape="0">
              <a:srgbClr val="000000">
                <a:alpha val="10000"/>
              </a:srgbClr>
            </a:outerShdw>
          </a:effectLst>
        </p:spPr>
        <p:txBody>
          <a:bodyPr/>
          <a:lstStyle/>
          <a:p>
            <a:endParaRPr lang="en-US"/>
          </a:p>
        </p:txBody>
      </p:sp>
      <p:sp>
        <p:nvSpPr>
          <p:cNvPr id="14" name="Text 12"/>
          <p:cNvSpPr/>
          <p:nvPr/>
        </p:nvSpPr>
        <p:spPr>
          <a:xfrm>
            <a:off x="502920" y="3017520"/>
            <a:ext cx="3749040" cy="365760"/>
          </a:xfrm>
          <a:prstGeom prst="rect">
            <a:avLst/>
          </a:prstGeom>
          <a:noFill/>
          <a:ln/>
        </p:spPr>
        <p:txBody>
          <a:bodyPr wrap="square" lIns="0" tIns="0" rIns="0" bIns="0" rtlCol="0" anchor="ctr"/>
          <a:lstStyle/>
          <a:p>
            <a:pPr marL="0" indent="0" algn="l">
              <a:buNone/>
            </a:pPr>
            <a:r>
              <a:rPr lang="en-US" sz="1400" b="1" dirty="0">
                <a:solidFill>
                  <a:srgbClr val="FFFFFF"/>
                </a:solidFill>
              </a:rPr>
              <a:t>72% Unit Cost Reduction</a:t>
            </a:r>
            <a:endParaRPr lang="en-US" sz="1400" dirty="0"/>
          </a:p>
        </p:txBody>
      </p:sp>
      <p:sp>
        <p:nvSpPr>
          <p:cNvPr id="15" name="Shape 13"/>
          <p:cNvSpPr/>
          <p:nvPr/>
        </p:nvSpPr>
        <p:spPr>
          <a:xfrm>
            <a:off x="502920" y="3410712"/>
            <a:ext cx="3749040" cy="36576"/>
          </a:xfrm>
          <a:prstGeom prst="rect">
            <a:avLst/>
          </a:prstGeom>
          <a:solidFill>
            <a:srgbClr val="C9A84C"/>
          </a:solidFill>
          <a:ln/>
        </p:spPr>
        <p:txBody>
          <a:bodyPr/>
          <a:lstStyle/>
          <a:p>
            <a:endParaRPr lang="en-US"/>
          </a:p>
        </p:txBody>
      </p:sp>
      <p:sp>
        <p:nvSpPr>
          <p:cNvPr id="16" name="Text 14"/>
          <p:cNvSpPr/>
          <p:nvPr/>
        </p:nvSpPr>
        <p:spPr>
          <a:xfrm>
            <a:off x="502920" y="3538728"/>
            <a:ext cx="3749040" cy="1005840"/>
          </a:xfrm>
          <a:prstGeom prst="rect">
            <a:avLst/>
          </a:prstGeom>
          <a:noFill/>
          <a:ln/>
        </p:spPr>
        <p:txBody>
          <a:bodyPr wrap="square" lIns="0" tIns="0" rIns="0" bIns="0" rtlCol="0" anchor="t"/>
          <a:lstStyle/>
          <a:p>
            <a:pPr marL="0" indent="0" algn="l">
              <a:lnSpc>
                <a:spcPct val="135000"/>
              </a:lnSpc>
              <a:buNone/>
            </a:pPr>
            <a:r>
              <a:rPr lang="en-US" sz="1150" dirty="0">
                <a:solidFill>
                  <a:srgbClr val="D4EAE1"/>
                </a:solidFill>
              </a:rPr>
              <a:t>Proven from data: bulk order consolidation drops avg unit price from $39.07 to $10.78 and renegotiate volume thresholds now</a:t>
            </a:r>
            <a:endParaRPr lang="en-US" sz="1150" dirty="0"/>
          </a:p>
        </p:txBody>
      </p:sp>
      <p:sp>
        <p:nvSpPr>
          <p:cNvPr id="17" name="Shape 15"/>
          <p:cNvSpPr/>
          <p:nvPr/>
        </p:nvSpPr>
        <p:spPr>
          <a:xfrm>
            <a:off x="4754880" y="2880360"/>
            <a:ext cx="4114800" cy="1783080"/>
          </a:xfrm>
          <a:prstGeom prst="rect">
            <a:avLst/>
          </a:prstGeom>
          <a:solidFill>
            <a:srgbClr val="0D4A38"/>
          </a:solidFill>
          <a:ln/>
          <a:effectLst>
            <a:outerShdw blurRad="101600" dist="38100" dir="8100000" algn="bl" rotWithShape="0">
              <a:srgbClr val="000000">
                <a:alpha val="10000"/>
              </a:srgbClr>
            </a:outerShdw>
          </a:effectLst>
        </p:spPr>
        <p:txBody>
          <a:bodyPr/>
          <a:lstStyle/>
          <a:p>
            <a:endParaRPr lang="en-US"/>
          </a:p>
        </p:txBody>
      </p:sp>
      <p:sp>
        <p:nvSpPr>
          <p:cNvPr id="18" name="Text 16"/>
          <p:cNvSpPr/>
          <p:nvPr/>
        </p:nvSpPr>
        <p:spPr>
          <a:xfrm>
            <a:off x="4937760" y="3017520"/>
            <a:ext cx="3749040" cy="365760"/>
          </a:xfrm>
          <a:prstGeom prst="rect">
            <a:avLst/>
          </a:prstGeom>
          <a:noFill/>
          <a:ln/>
        </p:spPr>
        <p:txBody>
          <a:bodyPr wrap="square" lIns="0" tIns="0" rIns="0" bIns="0" rtlCol="0" anchor="ctr"/>
          <a:lstStyle/>
          <a:p>
            <a:pPr marL="0" indent="0" algn="l">
              <a:buNone/>
            </a:pPr>
            <a:r>
              <a:rPr lang="en-US" sz="1400" b="1" dirty="0">
                <a:solidFill>
                  <a:srgbClr val="FFFFFF"/>
                </a:solidFill>
              </a:rPr>
              <a:t>Diversify Supply Chain Risk</a:t>
            </a:r>
            <a:endParaRPr lang="en-US" sz="1400" dirty="0"/>
          </a:p>
        </p:txBody>
      </p:sp>
      <p:sp>
        <p:nvSpPr>
          <p:cNvPr id="19" name="Shape 17"/>
          <p:cNvSpPr/>
          <p:nvPr/>
        </p:nvSpPr>
        <p:spPr>
          <a:xfrm>
            <a:off x="4937760" y="3410712"/>
            <a:ext cx="3749040" cy="36576"/>
          </a:xfrm>
          <a:prstGeom prst="rect">
            <a:avLst/>
          </a:prstGeom>
          <a:solidFill>
            <a:srgbClr val="C9A84C"/>
          </a:solidFill>
          <a:ln/>
        </p:spPr>
        <p:txBody>
          <a:bodyPr/>
          <a:lstStyle/>
          <a:p>
            <a:endParaRPr lang="en-US"/>
          </a:p>
        </p:txBody>
      </p:sp>
      <p:sp>
        <p:nvSpPr>
          <p:cNvPr id="20" name="Text 18"/>
          <p:cNvSpPr/>
          <p:nvPr/>
        </p:nvSpPr>
        <p:spPr>
          <a:xfrm>
            <a:off x="4937760" y="3538728"/>
            <a:ext cx="3749040" cy="1005840"/>
          </a:xfrm>
          <a:prstGeom prst="rect">
            <a:avLst/>
          </a:prstGeom>
          <a:noFill/>
          <a:ln/>
        </p:spPr>
        <p:txBody>
          <a:bodyPr wrap="square" lIns="0" tIns="0" rIns="0" bIns="0" rtlCol="0" anchor="t"/>
          <a:lstStyle/>
          <a:p>
            <a:pPr marL="0" indent="0" algn="l">
              <a:lnSpc>
                <a:spcPct val="135000"/>
              </a:lnSpc>
              <a:buNone/>
            </a:pPr>
            <a:r>
              <a:rPr lang="en-US" sz="1150" dirty="0">
                <a:solidFill>
                  <a:srgbClr val="D4EAE1"/>
                </a:solidFill>
              </a:rPr>
              <a:t>65.69% of purchases concentrated in 10 vendors, a strategic roadmap to diversify and protect against disruption</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5A43"/>
          </a:solidFill>
          <a:ln/>
        </p:spPr>
        <p:txBody>
          <a:bodyPr/>
          <a:lstStyle/>
          <a:p>
            <a:endParaRPr lang="en-US"/>
          </a:p>
        </p:txBody>
      </p:sp>
      <p:sp>
        <p:nvSpPr>
          <p:cNvPr id="3" name="Text 1"/>
          <p:cNvSpPr/>
          <p:nvPr/>
        </p:nvSpPr>
        <p:spPr>
          <a:xfrm>
            <a:off x="411480" y="0"/>
            <a:ext cx="6858000" cy="749808"/>
          </a:xfrm>
          <a:prstGeom prst="rect">
            <a:avLst/>
          </a:prstGeom>
          <a:noFill/>
          <a:ln/>
        </p:spPr>
        <p:txBody>
          <a:bodyPr wrap="square" lIns="0" tIns="0" rIns="0" bIns="0" rtlCol="0" anchor="ctr"/>
          <a:lstStyle/>
          <a:p>
            <a:pPr marL="0" indent="0" algn="l">
              <a:buNone/>
            </a:pPr>
            <a:r>
              <a:rPr lang="en-US" sz="2500" b="1" dirty="0">
                <a:solidFill>
                  <a:srgbClr val="FFFFFF"/>
                </a:solidFill>
              </a:rPr>
              <a:t>Challenges &amp; Learnings</a:t>
            </a:r>
            <a:endParaRPr lang="en-US" sz="2500" dirty="0"/>
          </a:p>
        </p:txBody>
      </p:sp>
      <p:sp>
        <p:nvSpPr>
          <p:cNvPr id="4" name="Text 2"/>
          <p:cNvSpPr/>
          <p:nvPr/>
        </p:nvSpPr>
        <p:spPr>
          <a:xfrm>
            <a:off x="6583680" y="0"/>
            <a:ext cx="2423160" cy="749808"/>
          </a:xfrm>
          <a:prstGeom prst="rect">
            <a:avLst/>
          </a:prstGeom>
          <a:noFill/>
          <a:ln/>
        </p:spPr>
        <p:txBody>
          <a:bodyPr wrap="square" lIns="0" tIns="0" rIns="0" bIns="0" rtlCol="0" anchor="ctr"/>
          <a:lstStyle/>
          <a:p>
            <a:pPr marL="0" indent="0" algn="r">
              <a:buNone/>
            </a:pPr>
            <a:r>
              <a:rPr lang="en-US" sz="800" kern="0" spc="150" dirty="0">
                <a:solidFill>
                  <a:srgbClr val="C8E6D0"/>
                </a:solidFill>
              </a:rPr>
              <a:t>W H A T  I  L E A R N E D</a:t>
            </a:r>
            <a:endParaRPr lang="en-US" sz="800" dirty="0"/>
          </a:p>
        </p:txBody>
      </p:sp>
      <p:sp>
        <p:nvSpPr>
          <p:cNvPr id="5" name="Shape 3"/>
          <p:cNvSpPr/>
          <p:nvPr/>
        </p:nvSpPr>
        <p:spPr>
          <a:xfrm>
            <a:off x="320040" y="960120"/>
            <a:ext cx="8503920" cy="1143000"/>
          </a:xfrm>
          <a:prstGeom prst="rect">
            <a:avLst/>
          </a:prstGeom>
          <a:solidFill>
            <a:srgbClr val="F4F6F4"/>
          </a:solidFill>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320040" y="960120"/>
            <a:ext cx="91440" cy="1143000"/>
          </a:xfrm>
          <a:prstGeom prst="rect">
            <a:avLst/>
          </a:prstGeom>
          <a:solidFill>
            <a:srgbClr val="C9A84C"/>
          </a:solidFill>
          <a:ln/>
        </p:spPr>
        <p:txBody>
          <a:bodyPr/>
          <a:lstStyle/>
          <a:p>
            <a:endParaRPr lang="en-US"/>
          </a:p>
        </p:txBody>
      </p:sp>
      <p:sp>
        <p:nvSpPr>
          <p:cNvPr id="7" name="Text 5"/>
          <p:cNvSpPr/>
          <p:nvPr/>
        </p:nvSpPr>
        <p:spPr>
          <a:xfrm>
            <a:off x="502920" y="1033272"/>
            <a:ext cx="365760" cy="320040"/>
          </a:xfrm>
          <a:prstGeom prst="rect">
            <a:avLst/>
          </a:prstGeom>
          <a:noFill/>
          <a:ln/>
        </p:spPr>
        <p:txBody>
          <a:bodyPr wrap="square" lIns="0" tIns="0" rIns="0" bIns="0" rtlCol="0" anchor="ctr"/>
          <a:lstStyle/>
          <a:p>
            <a:pPr marL="0" indent="0" algn="ctr">
              <a:buNone/>
            </a:pPr>
            <a:r>
              <a:rPr lang="en-US" sz="1600" dirty="0">
                <a:solidFill>
                  <a:srgbClr val="C9A84C"/>
                </a:solidFill>
              </a:rPr>
              <a:t>⚠</a:t>
            </a:r>
            <a:endParaRPr lang="en-US" sz="1600" dirty="0"/>
          </a:p>
        </p:txBody>
      </p:sp>
      <p:sp>
        <p:nvSpPr>
          <p:cNvPr id="8" name="Text 6"/>
          <p:cNvSpPr/>
          <p:nvPr/>
        </p:nvSpPr>
        <p:spPr>
          <a:xfrm>
            <a:off x="960120" y="1014984"/>
            <a:ext cx="7680960" cy="292608"/>
          </a:xfrm>
          <a:prstGeom prst="rect">
            <a:avLst/>
          </a:prstGeom>
          <a:noFill/>
          <a:ln/>
        </p:spPr>
        <p:txBody>
          <a:bodyPr wrap="square" lIns="0" tIns="0" rIns="0" bIns="0" rtlCol="0" anchor="ctr"/>
          <a:lstStyle/>
          <a:p>
            <a:pPr marL="0" indent="0" algn="l">
              <a:buNone/>
            </a:pPr>
            <a:r>
              <a:rPr lang="en-US" sz="1300" b="1" dirty="0">
                <a:solidFill>
                  <a:srgbClr val="1A2E26"/>
                </a:solidFill>
              </a:rPr>
              <a:t>Data Quality Issues</a:t>
            </a:r>
            <a:endParaRPr lang="en-US" sz="1300" dirty="0"/>
          </a:p>
        </p:txBody>
      </p:sp>
      <p:sp>
        <p:nvSpPr>
          <p:cNvPr id="9" name="Text 7"/>
          <p:cNvSpPr/>
          <p:nvPr/>
        </p:nvSpPr>
        <p:spPr>
          <a:xfrm>
            <a:off x="960120" y="1325880"/>
            <a:ext cx="3840480" cy="685800"/>
          </a:xfrm>
          <a:prstGeom prst="rect">
            <a:avLst/>
          </a:prstGeom>
          <a:noFill/>
          <a:ln/>
        </p:spPr>
        <p:txBody>
          <a:bodyPr wrap="square" lIns="0" tIns="0" rIns="0" bIns="0" rtlCol="0" anchor="t"/>
          <a:lstStyle/>
          <a:p>
            <a:pPr marL="0" indent="0" algn="l">
              <a:lnSpc>
                <a:spcPct val="130000"/>
              </a:lnSpc>
              <a:buNone/>
            </a:pPr>
            <a:r>
              <a:rPr lang="en-US" sz="1100" dirty="0">
                <a:solidFill>
                  <a:srgbClr val="6B7B74"/>
                </a:solidFill>
              </a:rPr>
              <a:t>Negative profits, zero-sales records, infinite profit margins and each required a deliberate cleaning decision, not just a one-line filter</a:t>
            </a:r>
            <a:endParaRPr lang="en-US" sz="1100" dirty="0"/>
          </a:p>
        </p:txBody>
      </p:sp>
      <p:sp>
        <p:nvSpPr>
          <p:cNvPr id="10" name="Shape 8"/>
          <p:cNvSpPr/>
          <p:nvPr/>
        </p:nvSpPr>
        <p:spPr>
          <a:xfrm>
            <a:off x="5029200" y="1325880"/>
            <a:ext cx="54864" cy="685800"/>
          </a:xfrm>
          <a:prstGeom prst="rect">
            <a:avLst/>
          </a:prstGeom>
          <a:solidFill>
            <a:srgbClr val="4CAF7D"/>
          </a:solidFill>
          <a:ln/>
        </p:spPr>
        <p:txBody>
          <a:bodyPr/>
          <a:lstStyle/>
          <a:p>
            <a:endParaRPr lang="en-US"/>
          </a:p>
        </p:txBody>
      </p:sp>
      <p:sp>
        <p:nvSpPr>
          <p:cNvPr id="11" name="Text 9"/>
          <p:cNvSpPr/>
          <p:nvPr/>
        </p:nvSpPr>
        <p:spPr>
          <a:xfrm>
            <a:off x="5166360" y="1325880"/>
            <a:ext cx="3520440" cy="685800"/>
          </a:xfrm>
          <a:prstGeom prst="rect">
            <a:avLst/>
          </a:prstGeom>
          <a:noFill/>
          <a:ln/>
        </p:spPr>
        <p:txBody>
          <a:bodyPr wrap="square" lIns="0" tIns="0" rIns="0" bIns="0" rtlCol="0" anchor="t"/>
          <a:lstStyle/>
          <a:p>
            <a:pPr marL="0" indent="0" algn="l">
              <a:lnSpc>
                <a:spcPct val="130000"/>
              </a:lnSpc>
              <a:buNone/>
            </a:pPr>
            <a:r>
              <a:rPr lang="en-US" sz="1100" b="1" dirty="0">
                <a:solidFill>
                  <a:srgbClr val="005A43"/>
                </a:solidFill>
              </a:rPr>
              <a:t>✓  Real data is always messy. The cleaning helps me to shape the conclusions that can be draw.</a:t>
            </a:r>
            <a:endParaRPr lang="en-US" sz="1100" dirty="0"/>
          </a:p>
        </p:txBody>
      </p:sp>
      <p:sp>
        <p:nvSpPr>
          <p:cNvPr id="12" name="Shape 10"/>
          <p:cNvSpPr/>
          <p:nvPr/>
        </p:nvSpPr>
        <p:spPr>
          <a:xfrm>
            <a:off x="320040" y="2258568"/>
            <a:ext cx="8503920" cy="1143000"/>
          </a:xfrm>
          <a:prstGeom prst="rect">
            <a:avLst/>
          </a:prstGeom>
          <a:solidFill>
            <a:srgbClr val="F4F6F4"/>
          </a:solidFill>
          <a:ln/>
          <a:effectLst>
            <a:outerShdw blurRad="101600" dist="38100" dir="8100000" algn="bl" rotWithShape="0">
              <a:srgbClr val="000000">
                <a:alpha val="10000"/>
              </a:srgbClr>
            </a:outerShdw>
          </a:effectLst>
        </p:spPr>
        <p:txBody>
          <a:bodyPr/>
          <a:lstStyle/>
          <a:p>
            <a:endParaRPr lang="en-US"/>
          </a:p>
        </p:txBody>
      </p:sp>
      <p:sp>
        <p:nvSpPr>
          <p:cNvPr id="13" name="Shape 11"/>
          <p:cNvSpPr/>
          <p:nvPr/>
        </p:nvSpPr>
        <p:spPr>
          <a:xfrm>
            <a:off x="320040" y="2258568"/>
            <a:ext cx="91440" cy="1143000"/>
          </a:xfrm>
          <a:prstGeom prst="rect">
            <a:avLst/>
          </a:prstGeom>
          <a:solidFill>
            <a:srgbClr val="C9A84C"/>
          </a:solidFill>
          <a:ln/>
        </p:spPr>
        <p:txBody>
          <a:bodyPr/>
          <a:lstStyle/>
          <a:p>
            <a:endParaRPr lang="en-US"/>
          </a:p>
        </p:txBody>
      </p:sp>
      <p:sp>
        <p:nvSpPr>
          <p:cNvPr id="14" name="Text 12"/>
          <p:cNvSpPr/>
          <p:nvPr/>
        </p:nvSpPr>
        <p:spPr>
          <a:xfrm>
            <a:off x="502920" y="2331720"/>
            <a:ext cx="365760" cy="320040"/>
          </a:xfrm>
          <a:prstGeom prst="rect">
            <a:avLst/>
          </a:prstGeom>
          <a:noFill/>
          <a:ln/>
        </p:spPr>
        <p:txBody>
          <a:bodyPr wrap="square" lIns="0" tIns="0" rIns="0" bIns="0" rtlCol="0" anchor="ctr"/>
          <a:lstStyle/>
          <a:p>
            <a:pPr marL="0" indent="0" algn="ctr">
              <a:buNone/>
            </a:pPr>
            <a:r>
              <a:rPr lang="en-US" sz="1600" dirty="0">
                <a:solidFill>
                  <a:srgbClr val="C9A84C"/>
                </a:solidFill>
              </a:rPr>
              <a:t>⚠</a:t>
            </a:r>
            <a:endParaRPr lang="en-US" sz="1600" dirty="0"/>
          </a:p>
        </p:txBody>
      </p:sp>
      <p:sp>
        <p:nvSpPr>
          <p:cNvPr id="15" name="Text 13"/>
          <p:cNvSpPr/>
          <p:nvPr/>
        </p:nvSpPr>
        <p:spPr>
          <a:xfrm>
            <a:off x="960120" y="2313432"/>
            <a:ext cx="7680960" cy="292608"/>
          </a:xfrm>
          <a:prstGeom prst="rect">
            <a:avLst/>
          </a:prstGeom>
          <a:noFill/>
          <a:ln/>
        </p:spPr>
        <p:txBody>
          <a:bodyPr wrap="square" lIns="0" tIns="0" rIns="0" bIns="0" rtlCol="0" anchor="ctr"/>
          <a:lstStyle/>
          <a:p>
            <a:pPr marL="0" indent="0" algn="l">
              <a:buNone/>
            </a:pPr>
            <a:r>
              <a:rPr lang="en-US" sz="1300" b="1" dirty="0">
                <a:solidFill>
                  <a:srgbClr val="1A2E26"/>
                </a:solidFill>
              </a:rPr>
              <a:t>Large Dataset Handling</a:t>
            </a:r>
            <a:endParaRPr lang="en-US" sz="1300" dirty="0"/>
          </a:p>
        </p:txBody>
      </p:sp>
      <p:sp>
        <p:nvSpPr>
          <p:cNvPr id="16" name="Text 14"/>
          <p:cNvSpPr/>
          <p:nvPr/>
        </p:nvSpPr>
        <p:spPr>
          <a:xfrm>
            <a:off x="960120" y="2624328"/>
            <a:ext cx="3840480" cy="685800"/>
          </a:xfrm>
          <a:prstGeom prst="rect">
            <a:avLst/>
          </a:prstGeom>
          <a:noFill/>
          <a:ln/>
        </p:spPr>
        <p:txBody>
          <a:bodyPr wrap="square" lIns="0" tIns="0" rIns="0" bIns="0" rtlCol="0" anchor="t"/>
          <a:lstStyle/>
          <a:p>
            <a:pPr marL="0" indent="0" algn="l">
              <a:lnSpc>
                <a:spcPct val="130000"/>
              </a:lnSpc>
              <a:buNone/>
            </a:pPr>
            <a:r>
              <a:rPr lang="en-US" sz="1100" dirty="0">
                <a:solidFill>
                  <a:srgbClr val="6B7B74"/>
                </a:solidFill>
              </a:rPr>
              <a:t>10,692 records across 17+ columns with complex vendor-brand aggregations and naive loops were too slow</a:t>
            </a:r>
            <a:endParaRPr lang="en-US" sz="1100" dirty="0"/>
          </a:p>
        </p:txBody>
      </p:sp>
      <p:sp>
        <p:nvSpPr>
          <p:cNvPr id="17" name="Shape 15"/>
          <p:cNvSpPr/>
          <p:nvPr/>
        </p:nvSpPr>
        <p:spPr>
          <a:xfrm>
            <a:off x="5029200" y="2624328"/>
            <a:ext cx="54864" cy="685800"/>
          </a:xfrm>
          <a:prstGeom prst="rect">
            <a:avLst/>
          </a:prstGeom>
          <a:solidFill>
            <a:srgbClr val="4CAF7D"/>
          </a:solidFill>
          <a:ln/>
        </p:spPr>
        <p:txBody>
          <a:bodyPr/>
          <a:lstStyle/>
          <a:p>
            <a:endParaRPr lang="en-US"/>
          </a:p>
        </p:txBody>
      </p:sp>
      <p:sp>
        <p:nvSpPr>
          <p:cNvPr id="18" name="Text 16"/>
          <p:cNvSpPr/>
          <p:nvPr/>
        </p:nvSpPr>
        <p:spPr>
          <a:xfrm>
            <a:off x="5166360" y="2624328"/>
            <a:ext cx="3520440" cy="685800"/>
          </a:xfrm>
          <a:prstGeom prst="rect">
            <a:avLst/>
          </a:prstGeom>
          <a:noFill/>
          <a:ln/>
        </p:spPr>
        <p:txBody>
          <a:bodyPr wrap="square" lIns="0" tIns="0" rIns="0" bIns="0" rtlCol="0" anchor="t"/>
          <a:lstStyle/>
          <a:p>
            <a:pPr marL="0" indent="0" algn="l">
              <a:lnSpc>
                <a:spcPct val="130000"/>
              </a:lnSpc>
              <a:buNone/>
            </a:pPr>
            <a:r>
              <a:rPr lang="en-US" sz="1100" b="1" dirty="0">
                <a:solidFill>
                  <a:srgbClr val="005A43"/>
                </a:solidFill>
              </a:rPr>
              <a:t>✓  Mastered vectorized Pandas operations and efficient SQL groupings to process data at scale.</a:t>
            </a:r>
            <a:endParaRPr lang="en-US" sz="1100" dirty="0"/>
          </a:p>
        </p:txBody>
      </p:sp>
      <p:sp>
        <p:nvSpPr>
          <p:cNvPr id="19" name="Shape 17"/>
          <p:cNvSpPr/>
          <p:nvPr/>
        </p:nvSpPr>
        <p:spPr>
          <a:xfrm>
            <a:off x="320040" y="3557016"/>
            <a:ext cx="8503920" cy="1143000"/>
          </a:xfrm>
          <a:prstGeom prst="rect">
            <a:avLst/>
          </a:prstGeom>
          <a:solidFill>
            <a:srgbClr val="F4F6F4"/>
          </a:solidFill>
          <a:ln/>
          <a:effectLst>
            <a:outerShdw blurRad="101600" dist="38100" dir="8100000" algn="bl" rotWithShape="0">
              <a:srgbClr val="000000">
                <a:alpha val="10000"/>
              </a:srgbClr>
            </a:outerShdw>
          </a:effectLst>
        </p:spPr>
        <p:txBody>
          <a:bodyPr/>
          <a:lstStyle/>
          <a:p>
            <a:endParaRPr lang="en-US"/>
          </a:p>
        </p:txBody>
      </p:sp>
      <p:sp>
        <p:nvSpPr>
          <p:cNvPr id="20" name="Shape 18"/>
          <p:cNvSpPr/>
          <p:nvPr/>
        </p:nvSpPr>
        <p:spPr>
          <a:xfrm>
            <a:off x="320040" y="3557016"/>
            <a:ext cx="91440" cy="1143000"/>
          </a:xfrm>
          <a:prstGeom prst="rect">
            <a:avLst/>
          </a:prstGeom>
          <a:solidFill>
            <a:srgbClr val="C9A84C"/>
          </a:solidFill>
          <a:ln/>
        </p:spPr>
        <p:txBody>
          <a:bodyPr/>
          <a:lstStyle/>
          <a:p>
            <a:endParaRPr lang="en-US"/>
          </a:p>
        </p:txBody>
      </p:sp>
      <p:sp>
        <p:nvSpPr>
          <p:cNvPr id="21" name="Text 19"/>
          <p:cNvSpPr/>
          <p:nvPr/>
        </p:nvSpPr>
        <p:spPr>
          <a:xfrm>
            <a:off x="502920" y="3630168"/>
            <a:ext cx="365760" cy="320040"/>
          </a:xfrm>
          <a:prstGeom prst="rect">
            <a:avLst/>
          </a:prstGeom>
          <a:noFill/>
          <a:ln/>
        </p:spPr>
        <p:txBody>
          <a:bodyPr wrap="square" lIns="0" tIns="0" rIns="0" bIns="0" rtlCol="0" anchor="ctr"/>
          <a:lstStyle/>
          <a:p>
            <a:pPr marL="0" indent="0" algn="ctr">
              <a:buNone/>
            </a:pPr>
            <a:r>
              <a:rPr lang="en-US" sz="1600" dirty="0">
                <a:solidFill>
                  <a:srgbClr val="C9A84C"/>
                </a:solidFill>
              </a:rPr>
              <a:t>⚠</a:t>
            </a:r>
            <a:endParaRPr lang="en-US" sz="1600" dirty="0"/>
          </a:p>
        </p:txBody>
      </p:sp>
      <p:sp>
        <p:nvSpPr>
          <p:cNvPr id="22" name="Text 20"/>
          <p:cNvSpPr/>
          <p:nvPr/>
        </p:nvSpPr>
        <p:spPr>
          <a:xfrm>
            <a:off x="960120" y="3611880"/>
            <a:ext cx="7680960" cy="292608"/>
          </a:xfrm>
          <a:prstGeom prst="rect">
            <a:avLst/>
          </a:prstGeom>
          <a:noFill/>
          <a:ln/>
        </p:spPr>
        <p:txBody>
          <a:bodyPr wrap="square" lIns="0" tIns="0" rIns="0" bIns="0" rtlCol="0" anchor="ctr"/>
          <a:lstStyle/>
          <a:p>
            <a:pPr marL="0" indent="0" algn="l">
              <a:buNone/>
            </a:pPr>
            <a:r>
              <a:rPr lang="en-US" sz="1300" b="1" dirty="0">
                <a:solidFill>
                  <a:srgbClr val="1A2E26"/>
                </a:solidFill>
              </a:rPr>
              <a:t>Business Context Translation</a:t>
            </a:r>
            <a:endParaRPr lang="en-US" sz="1300" dirty="0"/>
          </a:p>
        </p:txBody>
      </p:sp>
      <p:sp>
        <p:nvSpPr>
          <p:cNvPr id="23" name="Text 21"/>
          <p:cNvSpPr/>
          <p:nvPr/>
        </p:nvSpPr>
        <p:spPr>
          <a:xfrm>
            <a:off x="960120" y="3922776"/>
            <a:ext cx="3840480" cy="685800"/>
          </a:xfrm>
          <a:prstGeom prst="rect">
            <a:avLst/>
          </a:prstGeom>
          <a:noFill/>
          <a:ln/>
        </p:spPr>
        <p:txBody>
          <a:bodyPr wrap="square" lIns="0" tIns="0" rIns="0" bIns="0" rtlCol="0" anchor="t"/>
          <a:lstStyle/>
          <a:p>
            <a:pPr marL="0" indent="0" algn="l">
              <a:lnSpc>
                <a:spcPct val="130000"/>
              </a:lnSpc>
              <a:buNone/>
            </a:pPr>
            <a:r>
              <a:rPr lang="en-US" sz="1100" dirty="0">
                <a:solidFill>
                  <a:srgbClr val="6B7B74"/>
                </a:solidFill>
              </a:rPr>
              <a:t>Statistical outputs (T-stats, confidence intervals, correlation matrices) needed to become business language</a:t>
            </a:r>
            <a:endParaRPr lang="en-US" sz="1100" dirty="0"/>
          </a:p>
        </p:txBody>
      </p:sp>
      <p:sp>
        <p:nvSpPr>
          <p:cNvPr id="24" name="Shape 22"/>
          <p:cNvSpPr/>
          <p:nvPr/>
        </p:nvSpPr>
        <p:spPr>
          <a:xfrm>
            <a:off x="5029200" y="3922776"/>
            <a:ext cx="54864" cy="685800"/>
          </a:xfrm>
          <a:prstGeom prst="rect">
            <a:avLst/>
          </a:prstGeom>
          <a:solidFill>
            <a:srgbClr val="4CAF7D"/>
          </a:solidFill>
          <a:ln/>
        </p:spPr>
        <p:txBody>
          <a:bodyPr/>
          <a:lstStyle/>
          <a:p>
            <a:endParaRPr lang="en-US"/>
          </a:p>
        </p:txBody>
      </p:sp>
      <p:sp>
        <p:nvSpPr>
          <p:cNvPr id="25" name="Text 23"/>
          <p:cNvSpPr/>
          <p:nvPr/>
        </p:nvSpPr>
        <p:spPr>
          <a:xfrm>
            <a:off x="5166360" y="3922776"/>
            <a:ext cx="3520440" cy="685800"/>
          </a:xfrm>
          <a:prstGeom prst="rect">
            <a:avLst/>
          </a:prstGeom>
          <a:noFill/>
          <a:ln/>
        </p:spPr>
        <p:txBody>
          <a:bodyPr wrap="square" lIns="0" tIns="0" rIns="0" bIns="0" rtlCol="0" anchor="t"/>
          <a:lstStyle/>
          <a:p>
            <a:pPr marL="0" indent="0" algn="l">
              <a:lnSpc>
                <a:spcPct val="130000"/>
              </a:lnSpc>
              <a:buNone/>
            </a:pPr>
            <a:r>
              <a:rPr lang="en-US" sz="1100" b="1" dirty="0">
                <a:solidFill>
                  <a:srgbClr val="005A43"/>
                </a:solidFill>
              </a:rPr>
              <a:t>✓  Analytics only has impact when communicated clearly to a non-technical audience, also the dashboards and plain-language recommendations matter as much as the math.</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5A43"/>
          </a:solidFill>
          <a:ln/>
        </p:spPr>
        <p:txBody>
          <a:bodyPr/>
          <a:lstStyle/>
          <a:p>
            <a:endParaRPr lang="en-US"/>
          </a:p>
        </p:txBody>
      </p:sp>
      <p:sp>
        <p:nvSpPr>
          <p:cNvPr id="3" name="Text 1"/>
          <p:cNvSpPr/>
          <p:nvPr/>
        </p:nvSpPr>
        <p:spPr>
          <a:xfrm>
            <a:off x="411480" y="0"/>
            <a:ext cx="6858000" cy="749808"/>
          </a:xfrm>
          <a:prstGeom prst="rect">
            <a:avLst/>
          </a:prstGeom>
          <a:noFill/>
          <a:ln/>
        </p:spPr>
        <p:txBody>
          <a:bodyPr wrap="square" lIns="0" tIns="0" rIns="0" bIns="0" rtlCol="0" anchor="ctr"/>
          <a:lstStyle/>
          <a:p>
            <a:pPr marL="0" indent="0" algn="l">
              <a:buNone/>
            </a:pPr>
            <a:r>
              <a:rPr lang="en-US" sz="2500" b="1" dirty="0">
                <a:solidFill>
                  <a:srgbClr val="FFFFFF"/>
                </a:solidFill>
              </a:rPr>
              <a:t>Currently Learning</a:t>
            </a:r>
            <a:endParaRPr lang="en-US" sz="2500" dirty="0"/>
          </a:p>
        </p:txBody>
      </p:sp>
      <p:sp>
        <p:nvSpPr>
          <p:cNvPr id="4" name="Text 2"/>
          <p:cNvSpPr/>
          <p:nvPr/>
        </p:nvSpPr>
        <p:spPr>
          <a:xfrm>
            <a:off x="6583680" y="0"/>
            <a:ext cx="2423160" cy="749808"/>
          </a:xfrm>
          <a:prstGeom prst="rect">
            <a:avLst/>
          </a:prstGeom>
          <a:noFill/>
          <a:ln/>
        </p:spPr>
        <p:txBody>
          <a:bodyPr wrap="square" lIns="0" tIns="0" rIns="0" bIns="0" rtlCol="0" anchor="ctr"/>
          <a:lstStyle/>
          <a:p>
            <a:pPr marL="0" indent="0" algn="r">
              <a:buNone/>
            </a:pPr>
            <a:r>
              <a:rPr lang="en-US" sz="800" kern="0" spc="150" dirty="0">
                <a:solidFill>
                  <a:srgbClr val="C8E6D0"/>
                </a:solidFill>
              </a:rPr>
              <a:t>W H A T  I ' M  D O I N G  N O W</a:t>
            </a:r>
            <a:endParaRPr lang="en-US" sz="800" dirty="0"/>
          </a:p>
        </p:txBody>
      </p:sp>
      <p:sp>
        <p:nvSpPr>
          <p:cNvPr id="5" name="Shape 3"/>
          <p:cNvSpPr/>
          <p:nvPr/>
        </p:nvSpPr>
        <p:spPr>
          <a:xfrm>
            <a:off x="320040" y="914400"/>
            <a:ext cx="4114800" cy="3977640"/>
          </a:xfrm>
          <a:prstGeom prst="rect">
            <a:avLst/>
          </a:prstGeom>
          <a:solidFill>
            <a:srgbClr val="F4F6F4"/>
          </a:solidFill>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320040" y="914400"/>
            <a:ext cx="4114800" cy="64008"/>
          </a:xfrm>
          <a:prstGeom prst="rect">
            <a:avLst/>
          </a:prstGeom>
          <a:solidFill>
            <a:srgbClr val="005A43"/>
          </a:solidFill>
          <a:ln/>
        </p:spPr>
        <p:txBody>
          <a:bodyPr/>
          <a:lstStyle/>
          <a:p>
            <a:endParaRPr lang="en-US"/>
          </a:p>
        </p:txBody>
      </p:sp>
      <p:sp>
        <p:nvSpPr>
          <p:cNvPr id="7" name="Text 5"/>
          <p:cNvSpPr/>
          <p:nvPr/>
        </p:nvSpPr>
        <p:spPr>
          <a:xfrm>
            <a:off x="502920" y="1024128"/>
            <a:ext cx="3749040" cy="320040"/>
          </a:xfrm>
          <a:prstGeom prst="rect">
            <a:avLst/>
          </a:prstGeom>
          <a:noFill/>
          <a:ln/>
        </p:spPr>
        <p:txBody>
          <a:bodyPr wrap="square" lIns="0" tIns="0" rIns="0" bIns="0" rtlCol="0" anchor="ctr"/>
          <a:lstStyle/>
          <a:p>
            <a:pPr marL="0" indent="0" algn="l">
              <a:buNone/>
            </a:pPr>
            <a:r>
              <a:rPr lang="en-US" sz="1300" b="1" dirty="0">
                <a:solidFill>
                  <a:srgbClr val="005A43"/>
                </a:solidFill>
              </a:rPr>
              <a:t>DataCamp Career Track</a:t>
            </a:r>
            <a:endParaRPr lang="en-US" sz="1300" dirty="0"/>
          </a:p>
        </p:txBody>
      </p:sp>
      <p:sp>
        <p:nvSpPr>
          <p:cNvPr id="8" name="Text 6"/>
          <p:cNvSpPr/>
          <p:nvPr/>
        </p:nvSpPr>
        <p:spPr>
          <a:xfrm>
            <a:off x="502920" y="1371600"/>
            <a:ext cx="3749040" cy="274320"/>
          </a:xfrm>
          <a:prstGeom prst="rect">
            <a:avLst/>
          </a:prstGeom>
          <a:noFill/>
          <a:ln/>
        </p:spPr>
        <p:txBody>
          <a:bodyPr wrap="square" lIns="0" tIns="0" rIns="0" bIns="0" rtlCol="0" anchor="ctr"/>
          <a:lstStyle/>
          <a:p>
            <a:pPr marL="0" indent="0" algn="l">
              <a:buNone/>
            </a:pPr>
            <a:r>
              <a:rPr lang="en-US" sz="1200" b="1" dirty="0">
                <a:solidFill>
                  <a:srgbClr val="1A2E26"/>
                </a:solidFill>
              </a:rPr>
              <a:t>Associate Data Scientist in Python</a:t>
            </a:r>
            <a:endParaRPr lang="en-US" sz="1200" dirty="0"/>
          </a:p>
        </p:txBody>
      </p:sp>
      <p:sp>
        <p:nvSpPr>
          <p:cNvPr id="9" name="Shape 7"/>
          <p:cNvSpPr/>
          <p:nvPr/>
        </p:nvSpPr>
        <p:spPr>
          <a:xfrm>
            <a:off x="502920" y="1691640"/>
            <a:ext cx="3749040" cy="27432"/>
          </a:xfrm>
          <a:prstGeom prst="rect">
            <a:avLst/>
          </a:prstGeom>
          <a:solidFill>
            <a:srgbClr val="4CAF7D"/>
          </a:solidFill>
          <a:ln/>
        </p:spPr>
        <p:txBody>
          <a:bodyPr/>
          <a:lstStyle/>
          <a:p>
            <a:endParaRPr lang="en-US"/>
          </a:p>
        </p:txBody>
      </p:sp>
      <p:sp>
        <p:nvSpPr>
          <p:cNvPr id="10" name="Text 8"/>
          <p:cNvSpPr/>
          <p:nvPr/>
        </p:nvSpPr>
        <p:spPr>
          <a:xfrm>
            <a:off x="502920" y="1801368"/>
            <a:ext cx="3749040" cy="301752"/>
          </a:xfrm>
          <a:prstGeom prst="rect">
            <a:avLst/>
          </a:prstGeom>
          <a:noFill/>
          <a:ln/>
        </p:spPr>
        <p:txBody>
          <a:bodyPr wrap="square" lIns="0" tIns="0" rIns="0" bIns="0" rtlCol="0" anchor="ctr"/>
          <a:lstStyle/>
          <a:p>
            <a:pPr marL="0" indent="0" algn="l">
              <a:buNone/>
            </a:pPr>
            <a:r>
              <a:rPr lang="en-US" sz="1150" dirty="0">
                <a:solidFill>
                  <a:srgbClr val="005A43"/>
                </a:solidFill>
              </a:rPr>
              <a:t>1.  Python Fundamentals &amp; Data Manipulation</a:t>
            </a:r>
            <a:endParaRPr lang="en-US" sz="1150" dirty="0"/>
          </a:p>
        </p:txBody>
      </p:sp>
      <p:sp>
        <p:nvSpPr>
          <p:cNvPr id="11" name="Text 9"/>
          <p:cNvSpPr/>
          <p:nvPr/>
        </p:nvSpPr>
        <p:spPr>
          <a:xfrm>
            <a:off x="502920" y="2148840"/>
            <a:ext cx="3749040" cy="301752"/>
          </a:xfrm>
          <a:prstGeom prst="rect">
            <a:avLst/>
          </a:prstGeom>
          <a:noFill/>
          <a:ln/>
        </p:spPr>
        <p:txBody>
          <a:bodyPr wrap="square" lIns="0" tIns="0" rIns="0" bIns="0" rtlCol="0" anchor="ctr"/>
          <a:lstStyle/>
          <a:p>
            <a:pPr marL="0" indent="0" algn="l">
              <a:buNone/>
            </a:pPr>
            <a:r>
              <a:rPr lang="en-US" sz="1150" dirty="0">
                <a:solidFill>
                  <a:srgbClr val="005A43"/>
                </a:solidFill>
              </a:rPr>
              <a:t>2.  Exploratory Data Analysis</a:t>
            </a:r>
            <a:endParaRPr lang="en-US" sz="1150" dirty="0"/>
          </a:p>
        </p:txBody>
      </p:sp>
      <p:sp>
        <p:nvSpPr>
          <p:cNvPr id="12" name="Text 10"/>
          <p:cNvSpPr/>
          <p:nvPr/>
        </p:nvSpPr>
        <p:spPr>
          <a:xfrm>
            <a:off x="502920" y="2496312"/>
            <a:ext cx="3749040" cy="301752"/>
          </a:xfrm>
          <a:prstGeom prst="rect">
            <a:avLst/>
          </a:prstGeom>
          <a:noFill/>
          <a:ln/>
        </p:spPr>
        <p:txBody>
          <a:bodyPr wrap="square" lIns="0" tIns="0" rIns="0" bIns="0" rtlCol="0" anchor="ctr"/>
          <a:lstStyle/>
          <a:p>
            <a:pPr marL="0" indent="0" algn="l">
              <a:buNone/>
            </a:pPr>
            <a:r>
              <a:rPr lang="en-US" sz="1150" dirty="0">
                <a:solidFill>
                  <a:srgbClr val="005A43"/>
                </a:solidFill>
              </a:rPr>
              <a:t>3.  Statistical Thinking &amp; Hypothesis Testing</a:t>
            </a:r>
            <a:endParaRPr lang="en-US" sz="1150" dirty="0"/>
          </a:p>
        </p:txBody>
      </p:sp>
      <p:sp>
        <p:nvSpPr>
          <p:cNvPr id="13" name="Text 11"/>
          <p:cNvSpPr/>
          <p:nvPr/>
        </p:nvSpPr>
        <p:spPr>
          <a:xfrm>
            <a:off x="502920" y="2843784"/>
            <a:ext cx="3749040" cy="301752"/>
          </a:xfrm>
          <a:prstGeom prst="rect">
            <a:avLst/>
          </a:prstGeom>
          <a:noFill/>
          <a:ln/>
        </p:spPr>
        <p:txBody>
          <a:bodyPr wrap="square" lIns="0" tIns="0" rIns="0" bIns="0" rtlCol="0" anchor="ctr"/>
          <a:lstStyle/>
          <a:p>
            <a:pPr marL="0" indent="0" algn="l">
              <a:buNone/>
            </a:pPr>
            <a:r>
              <a:rPr lang="en-US" sz="1150" dirty="0">
                <a:solidFill>
                  <a:srgbClr val="6B7B74"/>
                </a:solidFill>
              </a:rPr>
              <a:t>4.  Supervised Learning with scikit-learn</a:t>
            </a:r>
            <a:endParaRPr lang="en-US" sz="1150" dirty="0"/>
          </a:p>
        </p:txBody>
      </p:sp>
      <p:sp>
        <p:nvSpPr>
          <p:cNvPr id="14" name="Text 12"/>
          <p:cNvSpPr/>
          <p:nvPr/>
        </p:nvSpPr>
        <p:spPr>
          <a:xfrm>
            <a:off x="502920" y="3191256"/>
            <a:ext cx="3749040" cy="301752"/>
          </a:xfrm>
          <a:prstGeom prst="rect">
            <a:avLst/>
          </a:prstGeom>
          <a:noFill/>
          <a:ln/>
        </p:spPr>
        <p:txBody>
          <a:bodyPr wrap="square" lIns="0" tIns="0" rIns="0" bIns="0" rtlCol="0" anchor="ctr"/>
          <a:lstStyle/>
          <a:p>
            <a:pPr marL="0" indent="0" algn="l">
              <a:buNone/>
            </a:pPr>
            <a:r>
              <a:rPr lang="en-US" sz="1150" dirty="0">
                <a:solidFill>
                  <a:srgbClr val="6B7B74"/>
                </a:solidFill>
              </a:rPr>
              <a:t>5.  Unsupervised Learning &amp; Clustering</a:t>
            </a:r>
            <a:endParaRPr lang="en-US" sz="1150" dirty="0"/>
          </a:p>
        </p:txBody>
      </p:sp>
      <p:sp>
        <p:nvSpPr>
          <p:cNvPr id="15" name="Text 13"/>
          <p:cNvSpPr/>
          <p:nvPr/>
        </p:nvSpPr>
        <p:spPr>
          <a:xfrm>
            <a:off x="502920" y="3538728"/>
            <a:ext cx="3749040" cy="301752"/>
          </a:xfrm>
          <a:prstGeom prst="rect">
            <a:avLst/>
          </a:prstGeom>
          <a:noFill/>
          <a:ln/>
        </p:spPr>
        <p:txBody>
          <a:bodyPr wrap="square" lIns="0" tIns="0" rIns="0" bIns="0" rtlCol="0" anchor="ctr"/>
          <a:lstStyle/>
          <a:p>
            <a:pPr marL="0" indent="0" algn="l">
              <a:buNone/>
            </a:pPr>
            <a:r>
              <a:rPr lang="en-US" sz="1150" dirty="0">
                <a:solidFill>
                  <a:srgbClr val="6B7B74"/>
                </a:solidFill>
              </a:rPr>
              <a:t>6.  Machine Learning &amp; Model Evaluation</a:t>
            </a:r>
            <a:endParaRPr lang="en-US" sz="1150" dirty="0"/>
          </a:p>
        </p:txBody>
      </p:sp>
      <p:sp>
        <p:nvSpPr>
          <p:cNvPr id="16" name="Text 14"/>
          <p:cNvSpPr/>
          <p:nvPr/>
        </p:nvSpPr>
        <p:spPr>
          <a:xfrm>
            <a:off x="502920" y="3886200"/>
            <a:ext cx="3749040" cy="301752"/>
          </a:xfrm>
          <a:prstGeom prst="rect">
            <a:avLst/>
          </a:prstGeom>
          <a:noFill/>
          <a:ln/>
        </p:spPr>
        <p:txBody>
          <a:bodyPr wrap="square" lIns="0" tIns="0" rIns="0" bIns="0" rtlCol="0" anchor="ctr"/>
          <a:lstStyle/>
          <a:p>
            <a:pPr marL="0" indent="0" algn="l">
              <a:buNone/>
            </a:pPr>
            <a:r>
              <a:rPr lang="en-US" sz="1150" dirty="0">
                <a:solidFill>
                  <a:srgbClr val="6B7B74"/>
                </a:solidFill>
              </a:rPr>
              <a:t>7.  Data Communication &amp; Storytelling</a:t>
            </a:r>
            <a:endParaRPr lang="en-US" sz="1150" dirty="0"/>
          </a:p>
        </p:txBody>
      </p:sp>
      <p:sp>
        <p:nvSpPr>
          <p:cNvPr id="17" name="Text 15"/>
          <p:cNvSpPr/>
          <p:nvPr/>
        </p:nvSpPr>
        <p:spPr>
          <a:xfrm>
            <a:off x="502920" y="4480560"/>
            <a:ext cx="3749040" cy="274320"/>
          </a:xfrm>
          <a:prstGeom prst="rect">
            <a:avLst/>
          </a:prstGeom>
          <a:noFill/>
          <a:ln/>
        </p:spPr>
        <p:txBody>
          <a:bodyPr wrap="square" lIns="0" tIns="0" rIns="0" bIns="0" rtlCol="0" anchor="ctr"/>
          <a:lstStyle/>
          <a:p>
            <a:pPr marL="0" indent="0" algn="l">
              <a:buNone/>
            </a:pPr>
            <a:r>
              <a:rPr lang="en-US" sz="900" dirty="0">
                <a:solidFill>
                  <a:srgbClr val="4CAF7D"/>
                </a:solidFill>
              </a:rPr>
              <a:t>app.datacamp.com/learn/career-tracks/associate-data-scientist-in-python</a:t>
            </a:r>
            <a:endParaRPr lang="en-US" sz="900" dirty="0"/>
          </a:p>
        </p:txBody>
      </p:sp>
      <p:sp>
        <p:nvSpPr>
          <p:cNvPr id="18" name="Shape 16"/>
          <p:cNvSpPr/>
          <p:nvPr/>
        </p:nvSpPr>
        <p:spPr>
          <a:xfrm>
            <a:off x="4709160" y="914400"/>
            <a:ext cx="4114800" cy="3977640"/>
          </a:xfrm>
          <a:prstGeom prst="rect">
            <a:avLst/>
          </a:prstGeom>
          <a:solidFill>
            <a:srgbClr val="1A2E26"/>
          </a:solidFill>
          <a:ln/>
          <a:effectLst>
            <a:outerShdw blurRad="101600" dist="38100" dir="8100000" algn="bl" rotWithShape="0">
              <a:srgbClr val="000000">
                <a:alpha val="10000"/>
              </a:srgbClr>
            </a:outerShdw>
          </a:effectLst>
        </p:spPr>
        <p:txBody>
          <a:bodyPr/>
          <a:lstStyle/>
          <a:p>
            <a:endParaRPr lang="en-US"/>
          </a:p>
        </p:txBody>
      </p:sp>
      <p:sp>
        <p:nvSpPr>
          <p:cNvPr id="19" name="Shape 17"/>
          <p:cNvSpPr/>
          <p:nvPr/>
        </p:nvSpPr>
        <p:spPr>
          <a:xfrm>
            <a:off x="4709160" y="914400"/>
            <a:ext cx="4114800" cy="64008"/>
          </a:xfrm>
          <a:prstGeom prst="rect">
            <a:avLst/>
          </a:prstGeom>
          <a:solidFill>
            <a:srgbClr val="C9A84C"/>
          </a:solidFill>
          <a:ln/>
        </p:spPr>
        <p:txBody>
          <a:bodyPr/>
          <a:lstStyle/>
          <a:p>
            <a:endParaRPr lang="en-US"/>
          </a:p>
        </p:txBody>
      </p:sp>
      <p:sp>
        <p:nvSpPr>
          <p:cNvPr id="20" name="Text 18"/>
          <p:cNvSpPr/>
          <p:nvPr/>
        </p:nvSpPr>
        <p:spPr>
          <a:xfrm>
            <a:off x="4892040" y="1024128"/>
            <a:ext cx="3749040" cy="320040"/>
          </a:xfrm>
          <a:prstGeom prst="rect">
            <a:avLst/>
          </a:prstGeom>
          <a:noFill/>
          <a:ln/>
        </p:spPr>
        <p:txBody>
          <a:bodyPr wrap="square" lIns="0" tIns="0" rIns="0" bIns="0" rtlCol="0" anchor="ctr"/>
          <a:lstStyle/>
          <a:p>
            <a:pPr marL="0" indent="0" algn="l">
              <a:buNone/>
            </a:pPr>
            <a:r>
              <a:rPr lang="en-US" sz="1300" b="1" dirty="0">
                <a:solidFill>
                  <a:srgbClr val="C9A84C"/>
                </a:solidFill>
              </a:rPr>
              <a:t>Forage Certification</a:t>
            </a:r>
            <a:endParaRPr lang="en-US" sz="1300" dirty="0"/>
          </a:p>
        </p:txBody>
      </p:sp>
      <p:sp>
        <p:nvSpPr>
          <p:cNvPr id="21" name="Text 19"/>
          <p:cNvSpPr/>
          <p:nvPr/>
        </p:nvSpPr>
        <p:spPr>
          <a:xfrm>
            <a:off x="4892040" y="1371600"/>
            <a:ext cx="3749040" cy="384048"/>
          </a:xfrm>
          <a:prstGeom prst="rect">
            <a:avLst/>
          </a:prstGeom>
          <a:noFill/>
          <a:ln/>
        </p:spPr>
        <p:txBody>
          <a:bodyPr wrap="square" lIns="0" tIns="0" rIns="0" bIns="0" rtlCol="0" anchor="ctr"/>
          <a:lstStyle/>
          <a:p>
            <a:pPr marL="0" indent="0" algn="l">
              <a:lnSpc>
                <a:spcPct val="120000"/>
              </a:lnSpc>
              <a:buNone/>
            </a:pPr>
            <a:r>
              <a:rPr lang="en-US" sz="1200" b="1" dirty="0">
                <a:solidFill>
                  <a:srgbClr val="FFFFFF"/>
                </a:solidFill>
              </a:rPr>
              <a:t>Deloitte Australia – Data Analytics Job Simulation</a:t>
            </a:r>
            <a:endParaRPr lang="en-US" sz="1200" dirty="0"/>
          </a:p>
        </p:txBody>
      </p:sp>
      <p:sp>
        <p:nvSpPr>
          <p:cNvPr id="22" name="Text 20"/>
          <p:cNvSpPr/>
          <p:nvPr/>
        </p:nvSpPr>
        <p:spPr>
          <a:xfrm>
            <a:off x="4892040" y="1801368"/>
            <a:ext cx="3749040" cy="256032"/>
          </a:xfrm>
          <a:prstGeom prst="rect">
            <a:avLst/>
          </a:prstGeom>
          <a:noFill/>
          <a:ln/>
        </p:spPr>
        <p:txBody>
          <a:bodyPr wrap="square" lIns="0" tIns="0" rIns="0" bIns="0" rtlCol="0" anchor="ctr"/>
          <a:lstStyle/>
          <a:p>
            <a:pPr marL="0" indent="0" algn="l">
              <a:buNone/>
            </a:pPr>
            <a:r>
              <a:rPr lang="en-US" sz="950" i="1" dirty="0">
                <a:solidFill>
                  <a:srgbClr val="9DBFB5"/>
                </a:solidFill>
              </a:rPr>
              <a:t>Credential ID: zYdNZK576XoNHmgAt</a:t>
            </a:r>
            <a:endParaRPr lang="en-US" sz="950" dirty="0"/>
          </a:p>
        </p:txBody>
      </p:sp>
      <p:sp>
        <p:nvSpPr>
          <p:cNvPr id="23" name="Shape 21"/>
          <p:cNvSpPr/>
          <p:nvPr/>
        </p:nvSpPr>
        <p:spPr>
          <a:xfrm>
            <a:off x="4892040" y="2103120"/>
            <a:ext cx="3749040" cy="27432"/>
          </a:xfrm>
          <a:prstGeom prst="rect">
            <a:avLst/>
          </a:prstGeom>
          <a:solidFill>
            <a:srgbClr val="C9A84C"/>
          </a:solidFill>
          <a:ln/>
        </p:spPr>
        <p:txBody>
          <a:bodyPr/>
          <a:lstStyle/>
          <a:p>
            <a:endParaRPr lang="en-US"/>
          </a:p>
        </p:txBody>
      </p:sp>
      <p:sp>
        <p:nvSpPr>
          <p:cNvPr id="24" name="Text 22"/>
          <p:cNvSpPr/>
          <p:nvPr/>
        </p:nvSpPr>
        <p:spPr>
          <a:xfrm>
            <a:off x="4892040" y="2212848"/>
            <a:ext cx="3749040" cy="228600"/>
          </a:xfrm>
          <a:prstGeom prst="rect">
            <a:avLst/>
          </a:prstGeom>
          <a:noFill/>
          <a:ln/>
        </p:spPr>
        <p:txBody>
          <a:bodyPr wrap="square" lIns="0" tIns="0" rIns="0" bIns="0" rtlCol="0" anchor="ctr"/>
          <a:lstStyle/>
          <a:p>
            <a:pPr marL="0" indent="0" algn="l">
              <a:buNone/>
            </a:pPr>
            <a:r>
              <a:rPr lang="en-US" sz="1150" b="1" dirty="0">
                <a:solidFill>
                  <a:srgbClr val="4CAF7D"/>
                </a:solidFill>
              </a:rPr>
              <a:t>Data Forensics</a:t>
            </a:r>
            <a:endParaRPr lang="en-US" sz="1150" dirty="0"/>
          </a:p>
        </p:txBody>
      </p:sp>
      <p:sp>
        <p:nvSpPr>
          <p:cNvPr id="25" name="Text 23"/>
          <p:cNvSpPr/>
          <p:nvPr/>
        </p:nvSpPr>
        <p:spPr>
          <a:xfrm>
            <a:off x="4892040" y="2423160"/>
            <a:ext cx="3749040" cy="256032"/>
          </a:xfrm>
          <a:prstGeom prst="rect">
            <a:avLst/>
          </a:prstGeom>
          <a:noFill/>
          <a:ln/>
        </p:spPr>
        <p:txBody>
          <a:bodyPr wrap="square" lIns="0" tIns="0" rIns="0" bIns="0" rtlCol="0" anchor="ctr"/>
          <a:lstStyle/>
          <a:p>
            <a:pPr marL="0" indent="0" algn="l">
              <a:buNone/>
            </a:pPr>
            <a:r>
              <a:rPr lang="en-US" sz="1000" dirty="0">
                <a:solidFill>
                  <a:srgbClr val="C8D5D0"/>
                </a:solidFill>
              </a:rPr>
              <a:t>Analyzed business data to identify discrepancies and support evidence-based recommendations</a:t>
            </a:r>
            <a:endParaRPr lang="en-US" sz="1000" dirty="0"/>
          </a:p>
        </p:txBody>
      </p:sp>
      <p:sp>
        <p:nvSpPr>
          <p:cNvPr id="26" name="Text 24"/>
          <p:cNvSpPr/>
          <p:nvPr/>
        </p:nvSpPr>
        <p:spPr>
          <a:xfrm>
            <a:off x="4892040" y="2743200"/>
            <a:ext cx="3749040" cy="228600"/>
          </a:xfrm>
          <a:prstGeom prst="rect">
            <a:avLst/>
          </a:prstGeom>
          <a:noFill/>
          <a:ln/>
        </p:spPr>
        <p:txBody>
          <a:bodyPr wrap="square" lIns="0" tIns="0" rIns="0" bIns="0" rtlCol="0" anchor="ctr"/>
          <a:lstStyle/>
          <a:p>
            <a:pPr marL="0" indent="0" algn="l">
              <a:buNone/>
            </a:pPr>
            <a:r>
              <a:rPr lang="en-US" sz="1150" b="1" dirty="0">
                <a:solidFill>
                  <a:srgbClr val="4CAF7D"/>
                </a:solidFill>
              </a:rPr>
              <a:t>Data Visualization</a:t>
            </a:r>
            <a:endParaRPr lang="en-US" sz="1150" dirty="0"/>
          </a:p>
        </p:txBody>
      </p:sp>
      <p:sp>
        <p:nvSpPr>
          <p:cNvPr id="27" name="Text 25"/>
          <p:cNvSpPr/>
          <p:nvPr/>
        </p:nvSpPr>
        <p:spPr>
          <a:xfrm>
            <a:off x="4892040" y="2953512"/>
            <a:ext cx="3749040" cy="256032"/>
          </a:xfrm>
          <a:prstGeom prst="rect">
            <a:avLst/>
          </a:prstGeom>
          <a:noFill/>
          <a:ln/>
        </p:spPr>
        <p:txBody>
          <a:bodyPr wrap="square" lIns="0" tIns="0" rIns="0" bIns="0" rtlCol="0" anchor="ctr"/>
          <a:lstStyle/>
          <a:p>
            <a:pPr marL="0" indent="0" algn="l">
              <a:buNone/>
            </a:pPr>
            <a:r>
              <a:rPr lang="en-US" sz="1000" dirty="0">
                <a:solidFill>
                  <a:srgbClr val="C8D5D0"/>
                </a:solidFill>
              </a:rPr>
              <a:t>Designed Tableau dashboards to communicate complex findings clearly to stakeholders</a:t>
            </a:r>
            <a:endParaRPr lang="en-US" sz="1000" dirty="0"/>
          </a:p>
        </p:txBody>
      </p:sp>
      <p:sp>
        <p:nvSpPr>
          <p:cNvPr id="28" name="Text 26"/>
          <p:cNvSpPr/>
          <p:nvPr/>
        </p:nvSpPr>
        <p:spPr>
          <a:xfrm>
            <a:off x="4892040" y="3273552"/>
            <a:ext cx="3749040" cy="228600"/>
          </a:xfrm>
          <a:prstGeom prst="rect">
            <a:avLst/>
          </a:prstGeom>
          <a:noFill/>
          <a:ln/>
        </p:spPr>
        <p:txBody>
          <a:bodyPr wrap="square" lIns="0" tIns="0" rIns="0" bIns="0" rtlCol="0" anchor="ctr"/>
          <a:lstStyle/>
          <a:p>
            <a:pPr marL="0" indent="0" algn="l">
              <a:buNone/>
            </a:pPr>
            <a:r>
              <a:rPr lang="en-US" sz="1150" b="1" dirty="0">
                <a:solidFill>
                  <a:srgbClr val="4CAF7D"/>
                </a:solidFill>
              </a:rPr>
              <a:t>Business Insights</a:t>
            </a:r>
            <a:endParaRPr lang="en-US" sz="1150" dirty="0"/>
          </a:p>
        </p:txBody>
      </p:sp>
      <p:sp>
        <p:nvSpPr>
          <p:cNvPr id="29" name="Text 27"/>
          <p:cNvSpPr/>
          <p:nvPr/>
        </p:nvSpPr>
        <p:spPr>
          <a:xfrm>
            <a:off x="4892040" y="3483864"/>
            <a:ext cx="3749040" cy="256032"/>
          </a:xfrm>
          <a:prstGeom prst="rect">
            <a:avLst/>
          </a:prstGeom>
          <a:noFill/>
          <a:ln/>
        </p:spPr>
        <p:txBody>
          <a:bodyPr wrap="square" lIns="0" tIns="0" rIns="0" bIns="0" rtlCol="0" anchor="ctr"/>
          <a:lstStyle/>
          <a:p>
            <a:pPr marL="0" indent="0" algn="l">
              <a:buNone/>
            </a:pPr>
            <a:r>
              <a:rPr lang="en-US" sz="1000" dirty="0">
                <a:solidFill>
                  <a:srgbClr val="C8D5D0"/>
                </a:solidFill>
              </a:rPr>
              <a:t>Translated raw data into strategic recommendations aligned with client objectives</a:t>
            </a:r>
            <a:endParaRPr lang="en-US" sz="1000" dirty="0"/>
          </a:p>
        </p:txBody>
      </p:sp>
      <p:sp>
        <p:nvSpPr>
          <p:cNvPr id="30" name="Text 28"/>
          <p:cNvSpPr/>
          <p:nvPr/>
        </p:nvSpPr>
        <p:spPr>
          <a:xfrm>
            <a:off x="4892040" y="3803904"/>
            <a:ext cx="3749040" cy="228600"/>
          </a:xfrm>
          <a:prstGeom prst="rect">
            <a:avLst/>
          </a:prstGeom>
          <a:noFill/>
          <a:ln/>
        </p:spPr>
        <p:txBody>
          <a:bodyPr wrap="square" lIns="0" tIns="0" rIns="0" bIns="0" rtlCol="0" anchor="ctr"/>
          <a:lstStyle/>
          <a:p>
            <a:pPr marL="0" indent="0" algn="l">
              <a:buNone/>
            </a:pPr>
            <a:r>
              <a:rPr lang="en-US" sz="1150" b="1" dirty="0">
                <a:solidFill>
                  <a:srgbClr val="4CAF7D"/>
                </a:solidFill>
              </a:rPr>
              <a:t>Technical Reporting</a:t>
            </a:r>
            <a:endParaRPr lang="en-US" sz="1150" dirty="0"/>
          </a:p>
        </p:txBody>
      </p:sp>
      <p:sp>
        <p:nvSpPr>
          <p:cNvPr id="31" name="Text 29"/>
          <p:cNvSpPr/>
          <p:nvPr/>
        </p:nvSpPr>
        <p:spPr>
          <a:xfrm>
            <a:off x="4892040" y="4014216"/>
            <a:ext cx="3749040" cy="256032"/>
          </a:xfrm>
          <a:prstGeom prst="rect">
            <a:avLst/>
          </a:prstGeom>
          <a:noFill/>
          <a:ln/>
        </p:spPr>
        <p:txBody>
          <a:bodyPr wrap="square" lIns="0" tIns="0" rIns="0" bIns="0" rtlCol="0" anchor="ctr"/>
          <a:lstStyle/>
          <a:p>
            <a:pPr marL="0" indent="0" algn="l">
              <a:buNone/>
            </a:pPr>
            <a:r>
              <a:rPr lang="en-US" sz="1000" dirty="0">
                <a:solidFill>
                  <a:srgbClr val="C8D5D0"/>
                </a:solidFill>
              </a:rPr>
              <a:t>Produced professional reports combining quantitative analysis with narrative</a:t>
            </a:r>
            <a:endParaRPr lang="en-US" sz="1000" dirty="0"/>
          </a:p>
        </p:txBody>
      </p:sp>
      <p:sp>
        <p:nvSpPr>
          <p:cNvPr id="32" name="Text 30"/>
          <p:cNvSpPr/>
          <p:nvPr/>
        </p:nvSpPr>
        <p:spPr>
          <a:xfrm>
            <a:off x="4892040" y="4480560"/>
            <a:ext cx="3749040" cy="274320"/>
          </a:xfrm>
          <a:prstGeom prst="rect">
            <a:avLst/>
          </a:prstGeom>
          <a:noFill/>
          <a:ln/>
        </p:spPr>
        <p:txBody>
          <a:bodyPr wrap="square" lIns="0" tIns="0" rIns="0" bIns="0" rtlCol="0" anchor="ctr"/>
          <a:lstStyle/>
          <a:p>
            <a:pPr marL="0" indent="0" algn="l">
              <a:buNone/>
            </a:pPr>
            <a:r>
              <a:rPr lang="en-US" sz="950" dirty="0">
                <a:solidFill>
                  <a:srgbClr val="9DBFB5"/>
                </a:solidFill>
              </a:rPr>
              <a:t>Skills: Data wrangling · Tableau · Business analysis · Client communication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5A43"/>
          </a:solidFill>
          <a:ln/>
        </p:spPr>
        <p:txBody>
          <a:bodyPr/>
          <a:lstStyle/>
          <a:p>
            <a:endParaRPr lang="en-US"/>
          </a:p>
        </p:txBody>
      </p:sp>
      <p:sp>
        <p:nvSpPr>
          <p:cNvPr id="3" name="Text 1"/>
          <p:cNvSpPr/>
          <p:nvPr/>
        </p:nvSpPr>
        <p:spPr>
          <a:xfrm>
            <a:off x="411480" y="0"/>
            <a:ext cx="6858000" cy="749808"/>
          </a:xfrm>
          <a:prstGeom prst="rect">
            <a:avLst/>
          </a:prstGeom>
          <a:noFill/>
          <a:ln/>
        </p:spPr>
        <p:txBody>
          <a:bodyPr wrap="square" lIns="0" tIns="0" rIns="0" bIns="0" rtlCol="0" anchor="ctr"/>
          <a:lstStyle/>
          <a:p>
            <a:pPr marL="0" indent="0" algn="l">
              <a:buNone/>
            </a:pPr>
            <a:r>
              <a:rPr lang="en-US" sz="2500" b="1" dirty="0">
                <a:solidFill>
                  <a:srgbClr val="FFFFFF"/>
                </a:solidFill>
              </a:rPr>
              <a:t>Looking Ahead</a:t>
            </a:r>
            <a:endParaRPr lang="en-US" sz="2500" dirty="0"/>
          </a:p>
        </p:txBody>
      </p:sp>
      <p:sp>
        <p:nvSpPr>
          <p:cNvPr id="4" name="Text 2"/>
          <p:cNvSpPr/>
          <p:nvPr/>
        </p:nvSpPr>
        <p:spPr>
          <a:xfrm>
            <a:off x="6583680" y="0"/>
            <a:ext cx="2423160" cy="749808"/>
          </a:xfrm>
          <a:prstGeom prst="rect">
            <a:avLst/>
          </a:prstGeom>
          <a:noFill/>
          <a:ln/>
        </p:spPr>
        <p:txBody>
          <a:bodyPr wrap="square" lIns="0" tIns="0" rIns="0" bIns="0" rtlCol="0" anchor="ctr"/>
          <a:lstStyle/>
          <a:p>
            <a:pPr marL="0" indent="0" algn="r">
              <a:buNone/>
            </a:pPr>
            <a:r>
              <a:rPr lang="en-US" sz="800" kern="0" spc="150" dirty="0">
                <a:solidFill>
                  <a:srgbClr val="C8E6D0"/>
                </a:solidFill>
              </a:rPr>
              <a:t>N E X T  S E M E S T E R  P L A N S</a:t>
            </a:r>
            <a:endParaRPr lang="en-US" sz="800" dirty="0"/>
          </a:p>
        </p:txBody>
      </p:sp>
      <p:sp>
        <p:nvSpPr>
          <p:cNvPr id="5" name="Shape 3"/>
          <p:cNvSpPr/>
          <p:nvPr/>
        </p:nvSpPr>
        <p:spPr>
          <a:xfrm>
            <a:off x="320040" y="914400"/>
            <a:ext cx="2743200" cy="3977640"/>
          </a:xfrm>
          <a:prstGeom prst="rect">
            <a:avLst/>
          </a:prstGeom>
          <a:solidFill>
            <a:srgbClr val="005A43"/>
          </a:solidFill>
          <a:ln/>
          <a:effectLst>
            <a:outerShdw blurRad="101600" dist="38100" dir="8100000" algn="bl" rotWithShape="0">
              <a:srgbClr val="000000">
                <a:alpha val="10000"/>
              </a:srgbClr>
            </a:outerShdw>
          </a:effectLst>
        </p:spPr>
        <p:txBody>
          <a:bodyPr/>
          <a:lstStyle/>
          <a:p>
            <a:endParaRPr lang="en-US"/>
          </a:p>
        </p:txBody>
      </p:sp>
      <p:sp>
        <p:nvSpPr>
          <p:cNvPr id="6" name="Text 4"/>
          <p:cNvSpPr/>
          <p:nvPr/>
        </p:nvSpPr>
        <p:spPr>
          <a:xfrm>
            <a:off x="320040" y="960120"/>
            <a:ext cx="2743200" cy="457200"/>
          </a:xfrm>
          <a:prstGeom prst="rect">
            <a:avLst/>
          </a:prstGeom>
          <a:noFill/>
          <a:ln/>
        </p:spPr>
        <p:txBody>
          <a:bodyPr wrap="square" lIns="0" tIns="0" rIns="0" bIns="0" rtlCol="0" anchor="ctr"/>
          <a:lstStyle/>
          <a:p>
            <a:pPr marL="0" indent="0" algn="ctr">
              <a:buNone/>
            </a:pPr>
            <a:r>
              <a:rPr lang="en-US" sz="1300" b="1" dirty="0">
                <a:solidFill>
                  <a:srgbClr val="C9A84C"/>
                </a:solidFill>
              </a:rPr>
              <a:t>Next 3 Months</a:t>
            </a:r>
            <a:endParaRPr lang="en-US" sz="1300" dirty="0"/>
          </a:p>
        </p:txBody>
      </p:sp>
      <p:sp>
        <p:nvSpPr>
          <p:cNvPr id="7" name="Shape 5"/>
          <p:cNvSpPr/>
          <p:nvPr/>
        </p:nvSpPr>
        <p:spPr>
          <a:xfrm>
            <a:off x="594360" y="1417320"/>
            <a:ext cx="2194560" cy="36576"/>
          </a:xfrm>
          <a:prstGeom prst="rect">
            <a:avLst/>
          </a:prstGeom>
          <a:solidFill>
            <a:srgbClr val="C9A84C"/>
          </a:solidFill>
          <a:ln/>
        </p:spPr>
        <p:txBody>
          <a:bodyPr/>
          <a:lstStyle/>
          <a:p>
            <a:endParaRPr lang="en-US"/>
          </a:p>
        </p:txBody>
      </p:sp>
      <p:sp>
        <p:nvSpPr>
          <p:cNvPr id="8" name="Shape 6"/>
          <p:cNvSpPr/>
          <p:nvPr/>
        </p:nvSpPr>
        <p:spPr>
          <a:xfrm>
            <a:off x="521208" y="1572768"/>
            <a:ext cx="137160" cy="137160"/>
          </a:xfrm>
          <a:prstGeom prst="ellipse">
            <a:avLst/>
          </a:prstGeom>
          <a:solidFill>
            <a:srgbClr val="4CAF7D"/>
          </a:solidFill>
          <a:ln/>
        </p:spPr>
        <p:txBody>
          <a:bodyPr/>
          <a:lstStyle/>
          <a:p>
            <a:endParaRPr lang="en-US"/>
          </a:p>
        </p:txBody>
      </p:sp>
      <p:sp>
        <p:nvSpPr>
          <p:cNvPr id="9" name="Text 7"/>
          <p:cNvSpPr/>
          <p:nvPr/>
        </p:nvSpPr>
        <p:spPr>
          <a:xfrm>
            <a:off x="731520" y="1536192"/>
            <a:ext cx="2240280" cy="822960"/>
          </a:xfrm>
          <a:prstGeom prst="rect">
            <a:avLst/>
          </a:prstGeom>
          <a:noFill/>
          <a:ln/>
        </p:spPr>
        <p:txBody>
          <a:bodyPr wrap="square" lIns="0" tIns="0" rIns="0" bIns="0" rtlCol="0" anchor="t"/>
          <a:lstStyle/>
          <a:p>
            <a:pPr marL="0" indent="0" algn="l">
              <a:lnSpc>
                <a:spcPct val="130000"/>
              </a:lnSpc>
              <a:buNone/>
            </a:pPr>
            <a:r>
              <a:rPr lang="en-US" sz="1150" dirty="0">
                <a:solidFill>
                  <a:srgbClr val="D4EAE1"/>
                </a:solidFill>
              </a:rPr>
              <a:t>Complete DataCamp Associate Data Scientist track</a:t>
            </a:r>
            <a:endParaRPr lang="en-US" sz="1150" dirty="0"/>
          </a:p>
        </p:txBody>
      </p:sp>
      <p:sp>
        <p:nvSpPr>
          <p:cNvPr id="10" name="Shape 8"/>
          <p:cNvSpPr/>
          <p:nvPr/>
        </p:nvSpPr>
        <p:spPr>
          <a:xfrm>
            <a:off x="521208" y="2487168"/>
            <a:ext cx="137160" cy="137160"/>
          </a:xfrm>
          <a:prstGeom prst="ellipse">
            <a:avLst/>
          </a:prstGeom>
          <a:solidFill>
            <a:srgbClr val="4CAF7D"/>
          </a:solidFill>
          <a:ln/>
        </p:spPr>
        <p:txBody>
          <a:bodyPr/>
          <a:lstStyle/>
          <a:p>
            <a:endParaRPr lang="en-US"/>
          </a:p>
        </p:txBody>
      </p:sp>
      <p:sp>
        <p:nvSpPr>
          <p:cNvPr id="11" name="Text 9"/>
          <p:cNvSpPr/>
          <p:nvPr/>
        </p:nvSpPr>
        <p:spPr>
          <a:xfrm>
            <a:off x="731520" y="2450592"/>
            <a:ext cx="2240280" cy="822960"/>
          </a:xfrm>
          <a:prstGeom prst="rect">
            <a:avLst/>
          </a:prstGeom>
          <a:noFill/>
          <a:ln/>
        </p:spPr>
        <p:txBody>
          <a:bodyPr wrap="square" lIns="0" tIns="0" rIns="0" bIns="0" rtlCol="0" anchor="t"/>
          <a:lstStyle/>
          <a:p>
            <a:pPr marL="0" indent="0" algn="l">
              <a:lnSpc>
                <a:spcPct val="130000"/>
              </a:lnSpc>
              <a:buNone/>
            </a:pPr>
            <a:r>
              <a:rPr lang="en-US" sz="1150" dirty="0">
                <a:solidFill>
                  <a:srgbClr val="D4EAE1"/>
                </a:solidFill>
              </a:rPr>
              <a:t>Add ML layer to this project (predictive inventory management)</a:t>
            </a:r>
            <a:endParaRPr lang="en-US" sz="1150" dirty="0"/>
          </a:p>
        </p:txBody>
      </p:sp>
      <p:sp>
        <p:nvSpPr>
          <p:cNvPr id="12" name="Shape 10"/>
          <p:cNvSpPr/>
          <p:nvPr/>
        </p:nvSpPr>
        <p:spPr>
          <a:xfrm>
            <a:off x="521208" y="3401568"/>
            <a:ext cx="137160" cy="137160"/>
          </a:xfrm>
          <a:prstGeom prst="ellipse">
            <a:avLst/>
          </a:prstGeom>
          <a:solidFill>
            <a:srgbClr val="4CAF7D"/>
          </a:solidFill>
          <a:ln/>
        </p:spPr>
        <p:txBody>
          <a:bodyPr/>
          <a:lstStyle/>
          <a:p>
            <a:endParaRPr lang="en-US"/>
          </a:p>
        </p:txBody>
      </p:sp>
      <p:sp>
        <p:nvSpPr>
          <p:cNvPr id="13" name="Text 11"/>
          <p:cNvSpPr/>
          <p:nvPr/>
        </p:nvSpPr>
        <p:spPr>
          <a:xfrm>
            <a:off x="731520" y="3364992"/>
            <a:ext cx="2240280" cy="822960"/>
          </a:xfrm>
          <a:prstGeom prst="rect">
            <a:avLst/>
          </a:prstGeom>
          <a:noFill/>
          <a:ln/>
        </p:spPr>
        <p:txBody>
          <a:bodyPr wrap="square" lIns="0" tIns="0" rIns="0" bIns="0" rtlCol="0" anchor="t"/>
          <a:lstStyle/>
          <a:p>
            <a:pPr marL="0" indent="0" algn="l">
              <a:lnSpc>
                <a:spcPct val="130000"/>
              </a:lnSpc>
              <a:buNone/>
            </a:pPr>
            <a:r>
              <a:rPr lang="en-US" sz="1150" dirty="0">
                <a:solidFill>
                  <a:srgbClr val="D4EAE1"/>
                </a:solidFill>
              </a:rPr>
              <a:t>Deep dive into supervised &amp; unsupervised ML techniques</a:t>
            </a:r>
            <a:endParaRPr lang="en-US" sz="1150" dirty="0"/>
          </a:p>
        </p:txBody>
      </p:sp>
      <p:sp>
        <p:nvSpPr>
          <p:cNvPr id="14" name="Shape 12"/>
          <p:cNvSpPr/>
          <p:nvPr/>
        </p:nvSpPr>
        <p:spPr>
          <a:xfrm>
            <a:off x="3264408" y="914400"/>
            <a:ext cx="2743200" cy="3977640"/>
          </a:xfrm>
          <a:prstGeom prst="rect">
            <a:avLst/>
          </a:prstGeom>
          <a:solidFill>
            <a:srgbClr val="1E5F4A"/>
          </a:solidFill>
          <a:ln/>
          <a:effectLst>
            <a:outerShdw blurRad="101600" dist="38100" dir="8100000" algn="bl" rotWithShape="0">
              <a:srgbClr val="000000">
                <a:alpha val="10000"/>
              </a:srgbClr>
            </a:outerShdw>
          </a:effectLst>
        </p:spPr>
        <p:txBody>
          <a:bodyPr/>
          <a:lstStyle/>
          <a:p>
            <a:endParaRPr lang="en-US"/>
          </a:p>
        </p:txBody>
      </p:sp>
      <p:sp>
        <p:nvSpPr>
          <p:cNvPr id="15" name="Text 13"/>
          <p:cNvSpPr/>
          <p:nvPr/>
        </p:nvSpPr>
        <p:spPr>
          <a:xfrm>
            <a:off x="3264408" y="960120"/>
            <a:ext cx="2743200" cy="457200"/>
          </a:xfrm>
          <a:prstGeom prst="rect">
            <a:avLst/>
          </a:prstGeom>
          <a:noFill/>
          <a:ln/>
        </p:spPr>
        <p:txBody>
          <a:bodyPr wrap="square" lIns="0" tIns="0" rIns="0" bIns="0" rtlCol="0" anchor="ctr"/>
          <a:lstStyle/>
          <a:p>
            <a:pPr marL="0" indent="0" algn="ctr">
              <a:buNone/>
            </a:pPr>
            <a:r>
              <a:rPr lang="en-US" sz="1300" b="1" dirty="0">
                <a:solidFill>
                  <a:srgbClr val="C9A84C"/>
                </a:solidFill>
              </a:rPr>
              <a:t>3 – 6 Months</a:t>
            </a:r>
            <a:endParaRPr lang="en-US" sz="1300" dirty="0"/>
          </a:p>
        </p:txBody>
      </p:sp>
      <p:sp>
        <p:nvSpPr>
          <p:cNvPr id="16" name="Shape 14"/>
          <p:cNvSpPr/>
          <p:nvPr/>
        </p:nvSpPr>
        <p:spPr>
          <a:xfrm>
            <a:off x="3538728" y="1417320"/>
            <a:ext cx="2194560" cy="36576"/>
          </a:xfrm>
          <a:prstGeom prst="rect">
            <a:avLst/>
          </a:prstGeom>
          <a:solidFill>
            <a:srgbClr val="C9A84C"/>
          </a:solidFill>
          <a:ln/>
        </p:spPr>
        <p:txBody>
          <a:bodyPr/>
          <a:lstStyle/>
          <a:p>
            <a:endParaRPr lang="en-US"/>
          </a:p>
        </p:txBody>
      </p:sp>
      <p:sp>
        <p:nvSpPr>
          <p:cNvPr id="17" name="Shape 15"/>
          <p:cNvSpPr/>
          <p:nvPr/>
        </p:nvSpPr>
        <p:spPr>
          <a:xfrm>
            <a:off x="3465576" y="1572768"/>
            <a:ext cx="137160" cy="137160"/>
          </a:xfrm>
          <a:prstGeom prst="ellipse">
            <a:avLst/>
          </a:prstGeom>
          <a:solidFill>
            <a:srgbClr val="4CAF7D"/>
          </a:solidFill>
          <a:ln/>
        </p:spPr>
        <p:txBody>
          <a:bodyPr/>
          <a:lstStyle/>
          <a:p>
            <a:endParaRPr lang="en-US"/>
          </a:p>
        </p:txBody>
      </p:sp>
      <p:sp>
        <p:nvSpPr>
          <p:cNvPr id="18" name="Text 16"/>
          <p:cNvSpPr/>
          <p:nvPr/>
        </p:nvSpPr>
        <p:spPr>
          <a:xfrm>
            <a:off x="3675888" y="1536192"/>
            <a:ext cx="2240280" cy="822960"/>
          </a:xfrm>
          <a:prstGeom prst="rect">
            <a:avLst/>
          </a:prstGeom>
          <a:noFill/>
          <a:ln/>
        </p:spPr>
        <p:txBody>
          <a:bodyPr wrap="square" lIns="0" tIns="0" rIns="0" bIns="0" rtlCol="0" anchor="t"/>
          <a:lstStyle/>
          <a:p>
            <a:pPr marL="0" indent="0" algn="l">
              <a:lnSpc>
                <a:spcPct val="130000"/>
              </a:lnSpc>
              <a:buNone/>
            </a:pPr>
            <a:r>
              <a:rPr lang="en-US" sz="1150" dirty="0">
                <a:solidFill>
                  <a:srgbClr val="D4EAE1"/>
                </a:solidFill>
              </a:rPr>
              <a:t>Build 2–3 portfolio projects combining ML + data engineering</a:t>
            </a:r>
            <a:endParaRPr lang="en-US" sz="1150" dirty="0"/>
          </a:p>
        </p:txBody>
      </p:sp>
      <p:sp>
        <p:nvSpPr>
          <p:cNvPr id="19" name="Shape 17"/>
          <p:cNvSpPr/>
          <p:nvPr/>
        </p:nvSpPr>
        <p:spPr>
          <a:xfrm>
            <a:off x="3465576" y="2487168"/>
            <a:ext cx="137160" cy="137160"/>
          </a:xfrm>
          <a:prstGeom prst="ellipse">
            <a:avLst/>
          </a:prstGeom>
          <a:solidFill>
            <a:srgbClr val="4CAF7D"/>
          </a:solidFill>
          <a:ln/>
        </p:spPr>
        <p:txBody>
          <a:bodyPr/>
          <a:lstStyle/>
          <a:p>
            <a:endParaRPr lang="en-US"/>
          </a:p>
        </p:txBody>
      </p:sp>
      <p:sp>
        <p:nvSpPr>
          <p:cNvPr id="20" name="Text 18"/>
          <p:cNvSpPr/>
          <p:nvPr/>
        </p:nvSpPr>
        <p:spPr>
          <a:xfrm>
            <a:off x="3675888" y="2450592"/>
            <a:ext cx="2240280" cy="822960"/>
          </a:xfrm>
          <a:prstGeom prst="rect">
            <a:avLst/>
          </a:prstGeom>
          <a:noFill/>
          <a:ln/>
        </p:spPr>
        <p:txBody>
          <a:bodyPr wrap="square" lIns="0" tIns="0" rIns="0" bIns="0" rtlCol="0" anchor="t"/>
          <a:lstStyle/>
          <a:p>
            <a:pPr marL="0" indent="0" algn="l">
              <a:lnSpc>
                <a:spcPct val="130000"/>
              </a:lnSpc>
              <a:buNone/>
            </a:pPr>
            <a:r>
              <a:rPr lang="en-US" sz="1150" dirty="0">
                <a:solidFill>
                  <a:srgbClr val="D4EAE1"/>
                </a:solidFill>
              </a:rPr>
              <a:t>Launch personal portfolio website with documented repos</a:t>
            </a:r>
            <a:endParaRPr lang="en-US" sz="1150" dirty="0"/>
          </a:p>
        </p:txBody>
      </p:sp>
      <p:sp>
        <p:nvSpPr>
          <p:cNvPr id="21" name="Shape 19"/>
          <p:cNvSpPr/>
          <p:nvPr/>
        </p:nvSpPr>
        <p:spPr>
          <a:xfrm>
            <a:off x="3465576" y="3401568"/>
            <a:ext cx="137160" cy="137160"/>
          </a:xfrm>
          <a:prstGeom prst="ellipse">
            <a:avLst/>
          </a:prstGeom>
          <a:solidFill>
            <a:srgbClr val="4CAF7D"/>
          </a:solidFill>
          <a:ln/>
        </p:spPr>
        <p:txBody>
          <a:bodyPr/>
          <a:lstStyle/>
          <a:p>
            <a:endParaRPr lang="en-US"/>
          </a:p>
        </p:txBody>
      </p:sp>
      <p:sp>
        <p:nvSpPr>
          <p:cNvPr id="22" name="Text 20"/>
          <p:cNvSpPr/>
          <p:nvPr/>
        </p:nvSpPr>
        <p:spPr>
          <a:xfrm>
            <a:off x="3675888" y="3364992"/>
            <a:ext cx="2240280" cy="822960"/>
          </a:xfrm>
          <a:prstGeom prst="rect">
            <a:avLst/>
          </a:prstGeom>
          <a:noFill/>
          <a:ln/>
        </p:spPr>
        <p:txBody>
          <a:bodyPr wrap="square" lIns="0" tIns="0" rIns="0" bIns="0" rtlCol="0" anchor="t"/>
          <a:lstStyle/>
          <a:p>
            <a:pPr marL="0" indent="0" algn="l">
              <a:lnSpc>
                <a:spcPct val="130000"/>
              </a:lnSpc>
              <a:buNone/>
            </a:pPr>
            <a:r>
              <a:rPr lang="en-US" sz="1150" dirty="0">
                <a:solidFill>
                  <a:srgbClr val="D4EAE1"/>
                </a:solidFill>
              </a:rPr>
              <a:t>Pursue DataCamp Professional Data Scientist credential</a:t>
            </a:r>
            <a:endParaRPr lang="en-US" sz="1150" dirty="0"/>
          </a:p>
        </p:txBody>
      </p:sp>
      <p:sp>
        <p:nvSpPr>
          <p:cNvPr id="23" name="Shape 21"/>
          <p:cNvSpPr/>
          <p:nvPr/>
        </p:nvSpPr>
        <p:spPr>
          <a:xfrm>
            <a:off x="6208776" y="914400"/>
            <a:ext cx="2743200" cy="3977640"/>
          </a:xfrm>
          <a:prstGeom prst="rect">
            <a:avLst/>
          </a:prstGeom>
          <a:solidFill>
            <a:srgbClr val="1A2E26"/>
          </a:solidFill>
          <a:ln/>
          <a:effectLst>
            <a:outerShdw blurRad="101600" dist="38100" dir="8100000" algn="bl" rotWithShape="0">
              <a:srgbClr val="000000">
                <a:alpha val="10000"/>
              </a:srgbClr>
            </a:outerShdw>
          </a:effectLst>
        </p:spPr>
        <p:txBody>
          <a:bodyPr/>
          <a:lstStyle/>
          <a:p>
            <a:endParaRPr lang="en-US"/>
          </a:p>
        </p:txBody>
      </p:sp>
      <p:sp>
        <p:nvSpPr>
          <p:cNvPr id="24" name="Text 22"/>
          <p:cNvSpPr/>
          <p:nvPr/>
        </p:nvSpPr>
        <p:spPr>
          <a:xfrm>
            <a:off x="6208776" y="960120"/>
            <a:ext cx="2743200" cy="457200"/>
          </a:xfrm>
          <a:prstGeom prst="rect">
            <a:avLst/>
          </a:prstGeom>
          <a:noFill/>
          <a:ln/>
        </p:spPr>
        <p:txBody>
          <a:bodyPr wrap="square" lIns="0" tIns="0" rIns="0" bIns="0" rtlCol="0" anchor="ctr"/>
          <a:lstStyle/>
          <a:p>
            <a:pPr marL="0" indent="0" algn="ctr">
              <a:buNone/>
            </a:pPr>
            <a:r>
              <a:rPr lang="en-US" sz="1300" b="1" dirty="0">
                <a:solidFill>
                  <a:srgbClr val="C9A84C"/>
                </a:solidFill>
              </a:rPr>
              <a:t>Career Target</a:t>
            </a:r>
            <a:endParaRPr lang="en-US" sz="1300" dirty="0"/>
          </a:p>
        </p:txBody>
      </p:sp>
      <p:sp>
        <p:nvSpPr>
          <p:cNvPr id="25" name="Shape 23"/>
          <p:cNvSpPr/>
          <p:nvPr/>
        </p:nvSpPr>
        <p:spPr>
          <a:xfrm>
            <a:off x="6483096" y="1417320"/>
            <a:ext cx="2194560" cy="36576"/>
          </a:xfrm>
          <a:prstGeom prst="rect">
            <a:avLst/>
          </a:prstGeom>
          <a:solidFill>
            <a:srgbClr val="C9A84C"/>
          </a:solidFill>
          <a:ln/>
        </p:spPr>
        <p:txBody>
          <a:bodyPr/>
          <a:lstStyle/>
          <a:p>
            <a:endParaRPr lang="en-US"/>
          </a:p>
        </p:txBody>
      </p:sp>
      <p:sp>
        <p:nvSpPr>
          <p:cNvPr id="26" name="Shape 24"/>
          <p:cNvSpPr/>
          <p:nvPr/>
        </p:nvSpPr>
        <p:spPr>
          <a:xfrm>
            <a:off x="6409944" y="1572768"/>
            <a:ext cx="137160" cy="137160"/>
          </a:xfrm>
          <a:prstGeom prst="ellipse">
            <a:avLst/>
          </a:prstGeom>
          <a:solidFill>
            <a:srgbClr val="4CAF7D"/>
          </a:solidFill>
          <a:ln/>
        </p:spPr>
        <p:txBody>
          <a:bodyPr/>
          <a:lstStyle/>
          <a:p>
            <a:endParaRPr lang="en-US"/>
          </a:p>
        </p:txBody>
      </p:sp>
      <p:sp>
        <p:nvSpPr>
          <p:cNvPr id="27" name="Text 25"/>
          <p:cNvSpPr/>
          <p:nvPr/>
        </p:nvSpPr>
        <p:spPr>
          <a:xfrm>
            <a:off x="6620256" y="1536192"/>
            <a:ext cx="2240280" cy="822960"/>
          </a:xfrm>
          <a:prstGeom prst="rect">
            <a:avLst/>
          </a:prstGeom>
          <a:noFill/>
          <a:ln/>
        </p:spPr>
        <p:txBody>
          <a:bodyPr wrap="square" lIns="0" tIns="0" rIns="0" bIns="0" rtlCol="0" anchor="t"/>
          <a:lstStyle/>
          <a:p>
            <a:pPr marL="0" indent="0" algn="l">
              <a:lnSpc>
                <a:spcPct val="130000"/>
              </a:lnSpc>
              <a:buNone/>
            </a:pPr>
            <a:r>
              <a:rPr lang="en-US" sz="1150" dirty="0">
                <a:solidFill>
                  <a:srgbClr val="D4EAE1"/>
                </a:solidFill>
              </a:rPr>
              <a:t>Roles: Data Analyst / Junior Data Scientist</a:t>
            </a:r>
            <a:endParaRPr lang="en-US" sz="1150" dirty="0"/>
          </a:p>
        </p:txBody>
      </p:sp>
      <p:sp>
        <p:nvSpPr>
          <p:cNvPr id="28" name="Shape 26"/>
          <p:cNvSpPr/>
          <p:nvPr/>
        </p:nvSpPr>
        <p:spPr>
          <a:xfrm>
            <a:off x="6409944" y="2487168"/>
            <a:ext cx="137160" cy="137160"/>
          </a:xfrm>
          <a:prstGeom prst="ellipse">
            <a:avLst/>
          </a:prstGeom>
          <a:solidFill>
            <a:srgbClr val="4CAF7D"/>
          </a:solidFill>
          <a:ln/>
        </p:spPr>
        <p:txBody>
          <a:bodyPr/>
          <a:lstStyle/>
          <a:p>
            <a:endParaRPr lang="en-US"/>
          </a:p>
        </p:txBody>
      </p:sp>
      <p:sp>
        <p:nvSpPr>
          <p:cNvPr id="29" name="Text 27"/>
          <p:cNvSpPr/>
          <p:nvPr/>
        </p:nvSpPr>
        <p:spPr>
          <a:xfrm>
            <a:off x="6620256" y="2450592"/>
            <a:ext cx="2240280" cy="822960"/>
          </a:xfrm>
          <a:prstGeom prst="rect">
            <a:avLst/>
          </a:prstGeom>
          <a:noFill/>
          <a:ln/>
        </p:spPr>
        <p:txBody>
          <a:bodyPr wrap="square" lIns="0" tIns="0" rIns="0" bIns="0" rtlCol="0" anchor="t"/>
          <a:lstStyle/>
          <a:p>
            <a:pPr marL="0" indent="0" algn="l">
              <a:lnSpc>
                <a:spcPct val="130000"/>
              </a:lnSpc>
              <a:buNone/>
            </a:pPr>
            <a:r>
              <a:rPr lang="en-US" sz="1150" dirty="0">
                <a:solidFill>
                  <a:srgbClr val="D4EAE1"/>
                </a:solidFill>
              </a:rPr>
              <a:t>Target: consulting firms, tech, and financial institutions</a:t>
            </a:r>
            <a:endParaRPr lang="en-US" sz="1150" dirty="0"/>
          </a:p>
        </p:txBody>
      </p:sp>
      <p:sp>
        <p:nvSpPr>
          <p:cNvPr id="30" name="Shape 28"/>
          <p:cNvSpPr/>
          <p:nvPr/>
        </p:nvSpPr>
        <p:spPr>
          <a:xfrm>
            <a:off x="6409944" y="3401568"/>
            <a:ext cx="137160" cy="137160"/>
          </a:xfrm>
          <a:prstGeom prst="ellipse">
            <a:avLst/>
          </a:prstGeom>
          <a:solidFill>
            <a:srgbClr val="4CAF7D"/>
          </a:solidFill>
          <a:ln/>
        </p:spPr>
        <p:txBody>
          <a:bodyPr/>
          <a:lstStyle/>
          <a:p>
            <a:endParaRPr lang="en-US"/>
          </a:p>
        </p:txBody>
      </p:sp>
      <p:sp>
        <p:nvSpPr>
          <p:cNvPr id="31" name="Text 29"/>
          <p:cNvSpPr/>
          <p:nvPr/>
        </p:nvSpPr>
        <p:spPr>
          <a:xfrm>
            <a:off x="6620256" y="3364992"/>
            <a:ext cx="2240280" cy="822960"/>
          </a:xfrm>
          <a:prstGeom prst="rect">
            <a:avLst/>
          </a:prstGeom>
          <a:noFill/>
          <a:ln/>
        </p:spPr>
        <p:txBody>
          <a:bodyPr wrap="square" lIns="0" tIns="0" rIns="0" bIns="0" rtlCol="0" anchor="t"/>
          <a:lstStyle/>
          <a:p>
            <a:pPr marL="0" indent="0" algn="l">
              <a:lnSpc>
                <a:spcPct val="130000"/>
              </a:lnSpc>
              <a:buNone/>
            </a:pPr>
            <a:r>
              <a:rPr lang="en-US" sz="1150" dirty="0">
                <a:solidFill>
                  <a:srgbClr val="D4EAE1"/>
                </a:solidFill>
              </a:rPr>
              <a:t>Full time applications actively underway</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E26"/>
        </a:solidFill>
        <a:effectLst/>
      </p:bgPr>
    </p:bg>
    <p:spTree>
      <p:nvGrpSpPr>
        <p:cNvPr id="1" name=""/>
        <p:cNvGrpSpPr/>
        <p:nvPr/>
      </p:nvGrpSpPr>
      <p:grpSpPr>
        <a:xfrm>
          <a:off x="0" y="0"/>
          <a:ext cx="0" cy="0"/>
          <a:chOff x="0" y="0"/>
          <a:chExt cx="0" cy="0"/>
        </a:xfrm>
      </p:grpSpPr>
      <p:sp>
        <p:nvSpPr>
          <p:cNvPr id="2" name="Shape 0"/>
          <p:cNvSpPr/>
          <p:nvPr/>
        </p:nvSpPr>
        <p:spPr>
          <a:xfrm>
            <a:off x="6400800" y="-914400"/>
            <a:ext cx="4114800" cy="4114800"/>
          </a:xfrm>
          <a:prstGeom prst="ellipse">
            <a:avLst/>
          </a:prstGeom>
          <a:solidFill>
            <a:srgbClr val="0D7A5F">
              <a:alpha val="40000"/>
            </a:srgbClr>
          </a:solidFill>
          <a:ln w="12700">
            <a:solidFill>
              <a:srgbClr val="0D7A5F">
                <a:alpha val="40000"/>
              </a:srgbClr>
            </a:solidFill>
            <a:prstDash val="solid"/>
          </a:ln>
        </p:spPr>
        <p:txBody>
          <a:bodyPr/>
          <a:lstStyle/>
          <a:p>
            <a:endParaRPr lang="en-US"/>
          </a:p>
        </p:txBody>
      </p:sp>
      <p:sp>
        <p:nvSpPr>
          <p:cNvPr id="3" name="Shape 1"/>
          <p:cNvSpPr/>
          <p:nvPr/>
        </p:nvSpPr>
        <p:spPr>
          <a:xfrm>
            <a:off x="7315200" y="2011680"/>
            <a:ext cx="2743200" cy="2743200"/>
          </a:xfrm>
          <a:prstGeom prst="ellipse">
            <a:avLst/>
          </a:prstGeom>
          <a:solidFill>
            <a:srgbClr val="0D7A5F">
              <a:alpha val="50000"/>
            </a:srgbClr>
          </a:solidFill>
          <a:ln w="12700">
            <a:solidFill>
              <a:srgbClr val="0D7A5F">
                <a:alpha val="50000"/>
              </a:srgbClr>
            </a:solidFill>
            <a:prstDash val="solid"/>
          </a:ln>
        </p:spPr>
        <p:txBody>
          <a:bodyPr/>
          <a:lstStyle/>
          <a:p>
            <a:endParaRPr lang="en-US"/>
          </a:p>
        </p:txBody>
      </p:sp>
      <p:sp>
        <p:nvSpPr>
          <p:cNvPr id="4" name="Shape 2"/>
          <p:cNvSpPr/>
          <p:nvPr/>
        </p:nvSpPr>
        <p:spPr>
          <a:xfrm>
            <a:off x="-457200" y="3200400"/>
            <a:ext cx="2560320" cy="2560320"/>
          </a:xfrm>
          <a:prstGeom prst="ellipse">
            <a:avLst/>
          </a:prstGeom>
          <a:solidFill>
            <a:srgbClr val="0D7A5F">
              <a:alpha val="45000"/>
            </a:srgbClr>
          </a:solidFill>
          <a:ln w="12700">
            <a:solidFill>
              <a:srgbClr val="0D7A5F">
                <a:alpha val="45000"/>
              </a:srgbClr>
            </a:solidFill>
            <a:prstDash val="solid"/>
          </a:ln>
        </p:spPr>
        <p:txBody>
          <a:bodyPr/>
          <a:lstStyle/>
          <a:p>
            <a:endParaRPr lang="en-US"/>
          </a:p>
        </p:txBody>
      </p:sp>
      <p:sp>
        <p:nvSpPr>
          <p:cNvPr id="5" name="Text 3"/>
          <p:cNvSpPr/>
          <p:nvPr/>
        </p:nvSpPr>
        <p:spPr>
          <a:xfrm>
            <a:off x="1371600" y="902970"/>
            <a:ext cx="6400800" cy="1188720"/>
          </a:xfrm>
          <a:prstGeom prst="rect">
            <a:avLst/>
          </a:prstGeom>
          <a:noFill/>
          <a:ln/>
        </p:spPr>
        <p:txBody>
          <a:bodyPr wrap="square" lIns="0" tIns="0" rIns="0" bIns="0" rtlCol="0" anchor="ctr"/>
          <a:lstStyle/>
          <a:p>
            <a:pPr marL="0" indent="0" algn="ctr">
              <a:buNone/>
            </a:pPr>
            <a:r>
              <a:rPr lang="en-US" sz="5200" b="1" dirty="0">
                <a:solidFill>
                  <a:srgbClr val="FFFFFF"/>
                </a:solidFill>
              </a:rPr>
              <a:t>Thank You</a:t>
            </a:r>
            <a:endParaRPr lang="en-US" sz="5200" dirty="0"/>
          </a:p>
        </p:txBody>
      </p:sp>
      <p:sp>
        <p:nvSpPr>
          <p:cNvPr id="6" name="Shape 4"/>
          <p:cNvSpPr/>
          <p:nvPr/>
        </p:nvSpPr>
        <p:spPr>
          <a:xfrm>
            <a:off x="2229356" y="2201418"/>
            <a:ext cx="4572000" cy="54864"/>
          </a:xfrm>
          <a:prstGeom prst="rect">
            <a:avLst/>
          </a:prstGeom>
          <a:solidFill>
            <a:srgbClr val="C9A84C"/>
          </a:solidFill>
          <a:ln/>
        </p:spPr>
        <p:txBody>
          <a:bodyPr/>
          <a:lstStyle/>
          <a:p>
            <a:endParaRPr lang="en-US"/>
          </a:p>
        </p:txBody>
      </p:sp>
      <p:sp>
        <p:nvSpPr>
          <p:cNvPr id="7" name="Text 5"/>
          <p:cNvSpPr/>
          <p:nvPr/>
        </p:nvSpPr>
        <p:spPr>
          <a:xfrm>
            <a:off x="914400" y="2500884"/>
            <a:ext cx="7315200" cy="457200"/>
          </a:xfrm>
          <a:prstGeom prst="rect">
            <a:avLst/>
          </a:prstGeom>
          <a:noFill/>
          <a:ln/>
        </p:spPr>
        <p:txBody>
          <a:bodyPr wrap="square" lIns="0" tIns="0" rIns="0" bIns="0" rtlCol="0" anchor="ctr"/>
          <a:lstStyle/>
          <a:p>
            <a:pPr marL="0" indent="0" algn="ctr">
              <a:buNone/>
            </a:pPr>
            <a:r>
              <a:rPr lang="en-US" sz="1300" i="1" dirty="0">
                <a:solidFill>
                  <a:srgbClr val="C8D5D0"/>
                </a:solidFill>
              </a:rPr>
              <a:t>I'm happy to answer any questions about the project, the data, or the methodology.</a:t>
            </a:r>
            <a:endParaRPr lang="en-US" sz="1300" dirty="0"/>
          </a:p>
        </p:txBody>
      </p:sp>
      <p:sp>
        <p:nvSpPr>
          <p:cNvPr id="10" name="Text 8"/>
          <p:cNvSpPr/>
          <p:nvPr/>
        </p:nvSpPr>
        <p:spPr>
          <a:xfrm>
            <a:off x="1371600" y="3493008"/>
            <a:ext cx="6400800" cy="320040"/>
          </a:xfrm>
          <a:prstGeom prst="rect">
            <a:avLst/>
          </a:prstGeom>
          <a:noFill/>
          <a:ln/>
        </p:spPr>
        <p:txBody>
          <a:bodyPr wrap="square" lIns="0" tIns="0" rIns="0" bIns="0" rtlCol="0" anchor="ctr"/>
          <a:lstStyle/>
          <a:p>
            <a:pPr marL="0" indent="0" algn="ctr">
              <a:buNone/>
            </a:pPr>
            <a:r>
              <a:rPr lang="en-US" sz="1400" b="1" dirty="0">
                <a:solidFill>
                  <a:srgbClr val="FFFFFF"/>
                </a:solidFill>
              </a:rPr>
              <a:t>Viranchi Ravindra More</a:t>
            </a:r>
            <a:endParaRPr lang="en-US" sz="1400" dirty="0"/>
          </a:p>
        </p:txBody>
      </p:sp>
      <p:sp>
        <p:nvSpPr>
          <p:cNvPr id="11" name="Text 9"/>
          <p:cNvSpPr/>
          <p:nvPr/>
        </p:nvSpPr>
        <p:spPr>
          <a:xfrm>
            <a:off x="1371600" y="3822192"/>
            <a:ext cx="6400800" cy="274320"/>
          </a:xfrm>
          <a:prstGeom prst="rect">
            <a:avLst/>
          </a:prstGeom>
          <a:noFill/>
          <a:ln/>
        </p:spPr>
        <p:txBody>
          <a:bodyPr wrap="square" lIns="0" tIns="0" rIns="0" bIns="0" rtlCol="0" anchor="ctr"/>
          <a:lstStyle/>
          <a:p>
            <a:pPr marL="0" indent="0" algn="ctr">
              <a:buNone/>
            </a:pPr>
            <a:r>
              <a:rPr lang="en-US" sz="1200" dirty="0">
                <a:solidFill>
                  <a:srgbClr val="C8D5D0"/>
                </a:solidFill>
              </a:rPr>
              <a:t>Master's in Information Systems  |  Binghamton University</a:t>
            </a:r>
            <a:endParaRPr lang="en-US" sz="1200" dirty="0"/>
          </a:p>
        </p:txBody>
      </p:sp>
      <p:sp>
        <p:nvSpPr>
          <p:cNvPr id="12" name="Text 10"/>
          <p:cNvSpPr/>
          <p:nvPr/>
        </p:nvSpPr>
        <p:spPr>
          <a:xfrm>
            <a:off x="1371600" y="4114800"/>
            <a:ext cx="6400800" cy="256032"/>
          </a:xfrm>
          <a:prstGeom prst="rect">
            <a:avLst/>
          </a:prstGeom>
          <a:noFill/>
          <a:ln/>
        </p:spPr>
        <p:txBody>
          <a:bodyPr wrap="square" lIns="0" tIns="0" rIns="0" bIns="0" rtlCol="0" anchor="ctr"/>
          <a:lstStyle/>
          <a:p>
            <a:pPr marL="0" indent="0" algn="ctr">
              <a:buNone/>
            </a:pPr>
            <a:r>
              <a:rPr lang="en-US" sz="1100" dirty="0">
                <a:solidFill>
                  <a:srgbClr val="4CAF7D"/>
                </a:solidFill>
              </a:rPr>
              <a:t>github.com/viru9192/Vendor-Performance-Analysis</a:t>
            </a:r>
            <a:endParaRPr lang="en-US" sz="1100" dirty="0"/>
          </a:p>
        </p:txBody>
      </p:sp>
      <p:sp>
        <p:nvSpPr>
          <p:cNvPr id="13" name="Text 11"/>
          <p:cNvSpPr/>
          <p:nvPr/>
        </p:nvSpPr>
        <p:spPr>
          <a:xfrm>
            <a:off x="914400" y="4480560"/>
            <a:ext cx="7315200" cy="256032"/>
          </a:xfrm>
          <a:prstGeom prst="rect">
            <a:avLst/>
          </a:prstGeom>
          <a:noFill/>
          <a:ln/>
        </p:spPr>
        <p:txBody>
          <a:bodyPr wrap="square" lIns="0" tIns="0" rIns="0" bIns="0" rtlCol="0" anchor="ctr"/>
          <a:lstStyle/>
          <a:p>
            <a:pPr marL="0" indent="0" algn="ctr">
              <a:buNone/>
            </a:pPr>
            <a:r>
              <a:rPr lang="en-US" sz="1000" i="1" dirty="0">
                <a:solidFill>
                  <a:srgbClr val="9DBFB5"/>
                </a:solidFill>
              </a:rPr>
              <a:t>Credential: Deloitte Data Analytics Job Simulation (Forage)  |  ID: zYdNZK576XoNHmgAt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2690</Words>
  <Application>Microsoft Macintosh PowerPoint</Application>
  <PresentationFormat>On-screen Show (16:9)</PresentationFormat>
  <Paragraphs>240</Paragraphs>
  <Slides>14</Slides>
  <Notes>14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Vendor Performance Analysis – Final Review</dc:title>
  <dc:subject>PptxGenJS Presentation</dc:subject>
  <dc:creator>Viranchi More</dc:creator>
  <cp:lastModifiedBy>Viranchi Ravindra More</cp:lastModifiedBy>
  <cp:revision>14</cp:revision>
  <dcterms:created xsi:type="dcterms:W3CDTF">2026-04-29T23:45:07Z</dcterms:created>
  <dcterms:modified xsi:type="dcterms:W3CDTF">2026-04-30T03:13:14Z</dcterms:modified>
</cp:coreProperties>
</file>